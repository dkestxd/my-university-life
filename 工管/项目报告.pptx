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6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8288000" cy="10287000"/>
  <p:notesSz cx="9144000" cy="6858000"/>
  <p:embeddedFontLst>
    <p:embeddedFont>
      <p:font typeface="HYXuanSong 75J" panose="02010600030101010101" charset="-122"/>
      <p:regular r:id="rId22"/>
    </p:embeddedFont>
    <p:embeddedFont>
      <p:font typeface="等线" panose="02010600030101010101" pitchFamily="2" charset="-122"/>
      <p:regular r:id="rId23"/>
      <p:bold r:id="rId24"/>
    </p:embeddedFont>
    <p:embeddedFont>
      <p:font typeface="Times New Roman Medium" panose="02010600030101010101" charset="0"/>
      <p:regular r:id="rId25"/>
    </p:embeddedFont>
    <p:embeddedFont>
      <p:font typeface="Times New Roman Ultra-Bold" panose="02010600030101010101" charset="0"/>
      <p:bold r:id="rId26"/>
    </p:embeddedFont>
    <p:embeddedFont>
      <p:font typeface="楷体" panose="02010609060101010101" pitchFamily="49" charset="-122"/>
      <p:regular r:id="rId27"/>
    </p:embeddedFont>
  </p:embeddedFontLst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5" userDrawn="1">
          <p15:clr>
            <a:srgbClr val="A4A3A4"/>
          </p15:clr>
        </p15:guide>
        <p15:guide id="2" pos="28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F8F0EA"/>
    <a:srgbClr val="808080"/>
    <a:srgbClr val="6C6C6C"/>
    <a:srgbClr val="7C7C7C"/>
    <a:srgbClr val="CE9A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658" y="29"/>
      </p:cViewPr>
      <p:guideLst>
        <p:guide orient="horz" pos="2215"/>
        <p:guide pos="28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6">
                    <a:tint val="58000"/>
                  </a:schemeClr>
                </a:fgClr>
                <a:bgClr>
                  <a:schemeClr val="accent6">
                    <a:tint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F19C-4888-A59E-B3D249621A22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6">
                    <a:tint val="86000"/>
                  </a:schemeClr>
                </a:fgClr>
                <a:bgClr>
                  <a:schemeClr val="accent6">
                    <a:tint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F19C-4888-A59E-B3D249621A22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6">
                    <a:shade val="86000"/>
                  </a:schemeClr>
                </a:fgClr>
                <a:bgClr>
                  <a:schemeClr val="accent6">
                    <a:shade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F19C-4888-A59E-B3D249621A22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6">
                    <a:shade val="58000"/>
                  </a:schemeClr>
                </a:fgClr>
                <a:bgClr>
                  <a:schemeClr val="accent6">
                    <a:shade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F19C-4888-A59E-B3D249621A2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19C-4888-A59E-B3D249621A22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3f8c035-1eb9-4193-bbb9-b258b6dc3f04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pattFill prst="ltUpDiag">
                <a:fgClr>
                  <a:schemeClr val="accent6">
                    <a:tint val="58000"/>
                  </a:schemeClr>
                </a:fgClr>
                <a:bgClr>
                  <a:schemeClr val="accent6">
                    <a:tint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1-E9BC-470E-B9C2-982BC7C99C25}"/>
              </c:ext>
            </c:extLst>
          </c:dPt>
          <c:dPt>
            <c:idx val="1"/>
            <c:bubble3D val="0"/>
            <c:spPr>
              <a:pattFill prst="ltUpDiag">
                <a:fgClr>
                  <a:schemeClr val="accent6">
                    <a:tint val="86000"/>
                  </a:schemeClr>
                </a:fgClr>
                <a:bgClr>
                  <a:schemeClr val="accent6">
                    <a:tint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tint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3-E9BC-470E-B9C2-982BC7C99C25}"/>
              </c:ext>
            </c:extLst>
          </c:dPt>
          <c:dPt>
            <c:idx val="2"/>
            <c:bubble3D val="0"/>
            <c:spPr>
              <a:pattFill prst="ltUpDiag">
                <a:fgClr>
                  <a:schemeClr val="accent6">
                    <a:shade val="86000"/>
                  </a:schemeClr>
                </a:fgClr>
                <a:bgClr>
                  <a:schemeClr val="accent6">
                    <a:shade val="86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86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5-E9BC-470E-B9C2-982BC7C99C25}"/>
              </c:ext>
            </c:extLst>
          </c:dPt>
          <c:dPt>
            <c:idx val="3"/>
            <c:bubble3D val="0"/>
            <c:spPr>
              <a:pattFill prst="ltUpDiag">
                <a:fgClr>
                  <a:schemeClr val="accent6">
                    <a:shade val="58000"/>
                  </a:schemeClr>
                </a:fgClr>
                <a:bgClr>
                  <a:schemeClr val="accent6">
                    <a:shade val="58000"/>
                    <a:lumMod val="20000"/>
                    <a:lumOff val="80000"/>
                  </a:schemeClr>
                </a:bgClr>
              </a:pattFill>
              <a:ln w="19050">
                <a:solidFill>
                  <a:schemeClr val="lt1"/>
                </a:solidFill>
              </a:ln>
              <a:effectLst>
                <a:innerShdw blurRad="114300">
                  <a:schemeClr val="accent6">
                    <a:shade val="58000"/>
                  </a:schemeClr>
                </a:innerShdw>
              </a:effectLst>
            </c:spPr>
            <c:extLst>
              <c:ext xmlns:c16="http://schemas.microsoft.com/office/drawing/2014/chart" uri="{C3380CC4-5D6E-409C-BE32-E72D297353CC}">
                <c16:uniqueId val="{00000007-E9BC-470E-B9C2-982BC7C99C25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tx1">
                      <a:lumMod val="35000"/>
                      <a:lumOff val="65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9BC-470E-B9C2-982BC7C99C2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9955d96c-306a-484b-a451-e69de784486e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6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95-4F2E-9AC3-B76AD49AB61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495-4F2E-9AC3-B76AD49AB6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495-4F2E-9AC3-B76AD49AB6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62789568"/>
        <c:axId val="767589120"/>
      </c:barChart>
      <c:catAx>
        <c:axId val="7627895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67589120"/>
        <c:crosses val="autoZero"/>
        <c:auto val="1"/>
        <c:lblAlgn val="ctr"/>
        <c:lblOffset val="100"/>
        <c:noMultiLvlLbl val="0"/>
      </c:catAx>
      <c:valAx>
        <c:axId val="7675891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6278956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66e3bf8a-0af8-4aee-a5b4-e77e80892524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b="1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>
      <cs:styleClr val="auto"/>
    </cs:effectRef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phClr">
            <a:lumMod val="20000"/>
            <a:lumOff val="80000"/>
          </a:schemeClr>
        </a:bgClr>
      </a:pattFill>
      <a:ln w="19050">
        <a:solidFill>
          <a:schemeClr val="lt1"/>
        </a:solidFill>
      </a:ln>
      <a:effectLst>
        <a:innerShdw blurRad="114300">
          <a:schemeClr val="phClr"/>
        </a:inn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50000"/>
        <a:lumOff val="50000"/>
      </a:schemeClr>
    </cs:fontRef>
    <cs:defRPr sz="2200" b="1" kern="1200" cap="all" spc="1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eg"/><Relationship Id="rId7" Type="http://schemas.openxmlformats.org/officeDocument/2006/relationships/image" Target="../media/image8.sv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18" Type="http://schemas.microsoft.com/office/2007/relationships/hdphoto" Target="../media/hdphoto1.wdp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21.svg"/><Relationship Id="rId17" Type="http://schemas.openxmlformats.org/officeDocument/2006/relationships/image" Target="../media/image4.png"/><Relationship Id="rId2" Type="http://schemas.openxmlformats.org/officeDocument/2006/relationships/image" Target="../media/image11.png"/><Relationship Id="rId16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0.png"/><Relationship Id="rId5" Type="http://schemas.openxmlformats.org/officeDocument/2006/relationships/image" Target="../media/image16.svg"/><Relationship Id="rId15" Type="http://schemas.openxmlformats.org/officeDocument/2006/relationships/chart" Target="../charts/chart1.xml"/><Relationship Id="rId10" Type="http://schemas.openxmlformats.org/officeDocument/2006/relationships/image" Target="../media/image19.sv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microsoft.com/office/2007/relationships/hdphoto" Target="../media/hdphoto1.wdp"/><Relationship Id="rId4" Type="http://schemas.openxmlformats.org/officeDocument/2006/relationships/image" Target="../media/image14.sv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26.pn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27.pn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6.svg"/><Relationship Id="rId10" Type="http://schemas.microsoft.com/office/2007/relationships/hdphoto" Target="../media/hdphoto1.wdp"/><Relationship Id="rId4" Type="http://schemas.openxmlformats.org/officeDocument/2006/relationships/image" Target="../media/image15.png"/><Relationship Id="rId9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14.svg"/><Relationship Id="rId7" Type="http://schemas.openxmlformats.org/officeDocument/2006/relationships/image" Target="../media/image32.png"/><Relationship Id="rId12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sv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jpeg"/><Relationship Id="rId9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.png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12" Type="http://schemas.openxmlformats.org/officeDocument/2006/relationships/image" Target="../media/image4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42.svg"/><Relationship Id="rId5" Type="http://schemas.openxmlformats.org/officeDocument/2006/relationships/image" Target="../media/image38.svg"/><Relationship Id="rId10" Type="http://schemas.openxmlformats.org/officeDocument/2006/relationships/image" Target="../media/image41.png"/><Relationship Id="rId4" Type="http://schemas.openxmlformats.org/officeDocument/2006/relationships/image" Target="../media/image37.png"/><Relationship Id="rId9" Type="http://schemas.openxmlformats.org/officeDocument/2006/relationships/image" Target="../media/image40.svg"/><Relationship Id="rId1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3.xml"/><Relationship Id="rId3" Type="http://schemas.openxmlformats.org/officeDocument/2006/relationships/image" Target="../media/image12.svg"/><Relationship Id="rId7" Type="http://schemas.openxmlformats.org/officeDocument/2006/relationships/image" Target="../media/image14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8.svg"/><Relationship Id="rId10" Type="http://schemas.microsoft.com/office/2007/relationships/hdphoto" Target="../media/hdphoto1.wdp"/><Relationship Id="rId4" Type="http://schemas.openxmlformats.org/officeDocument/2006/relationships/image" Target="../media/image37.png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13" Type="http://schemas.openxmlformats.org/officeDocument/2006/relationships/image" Target="../media/image4.png"/><Relationship Id="rId3" Type="http://schemas.openxmlformats.org/officeDocument/2006/relationships/image" Target="../media/image47.png"/><Relationship Id="rId7" Type="http://schemas.openxmlformats.org/officeDocument/2006/relationships/image" Target="../media/image37.png"/><Relationship Id="rId12" Type="http://schemas.openxmlformats.org/officeDocument/2006/relationships/image" Target="../media/image50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11" Type="http://schemas.openxmlformats.org/officeDocument/2006/relationships/image" Target="../media/image49.png"/><Relationship Id="rId5" Type="http://schemas.openxmlformats.org/officeDocument/2006/relationships/image" Target="../media/image11.png"/><Relationship Id="rId10" Type="http://schemas.openxmlformats.org/officeDocument/2006/relationships/image" Target="../media/image14.svg"/><Relationship Id="rId4" Type="http://schemas.openxmlformats.org/officeDocument/2006/relationships/image" Target="../media/image48.svg"/><Relationship Id="rId9" Type="http://schemas.openxmlformats.org/officeDocument/2006/relationships/image" Target="../media/image13.png"/><Relationship Id="rId1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svg"/><Relationship Id="rId5" Type="http://schemas.openxmlformats.org/officeDocument/2006/relationships/image" Target="../media/image52.png"/><Relationship Id="rId10" Type="http://schemas.microsoft.com/office/2007/relationships/hdphoto" Target="../media/hdphoto1.wdp"/><Relationship Id="rId4" Type="http://schemas.openxmlformats.org/officeDocument/2006/relationships/image" Target="../media/image12.svg"/><Relationship Id="rId9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microsoft.com/office/2007/relationships/hdphoto" Target="../media/hdphoto1.wdp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微信图片_20240223163422(1)"/>
          <p:cNvPicPr>
            <a:picLocks noChangeAspect="1"/>
          </p:cNvPicPr>
          <p:nvPr/>
        </p:nvPicPr>
        <p:blipFill>
          <a:blip r:embed="rId2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5506188" cy="69700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80708" y="6198226"/>
            <a:ext cx="1153886" cy="68578"/>
            <a:chOff x="0" y="0"/>
            <a:chExt cx="1538514" cy="91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666812" y="2876242"/>
            <a:ext cx="6789735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请在此</a:t>
            </a:r>
            <a:endParaRPr lang="en-MY" altLang="zh-CN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输入您的内容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5457981" y="-10000"/>
            <a:ext cx="4414112" cy="4664990"/>
          </a:xfrm>
          <a:custGeom>
            <a:avLst/>
            <a:gdLst/>
            <a:ahLst/>
            <a:cxnLst/>
            <a:rect l="l" t="t" r="r" b="b"/>
            <a:pathLst>
              <a:path w="4414112" h="4664990">
                <a:moveTo>
                  <a:pt x="4414111" y="0"/>
                </a:moveTo>
                <a:lnTo>
                  <a:pt x="0" y="0"/>
                </a:lnTo>
                <a:lnTo>
                  <a:pt x="0" y="4664990"/>
                </a:lnTo>
                <a:lnTo>
                  <a:pt x="4414111" y="4664990"/>
                </a:lnTo>
                <a:lnTo>
                  <a:pt x="441411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95008" y="5315797"/>
            <a:ext cx="10473809" cy="613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副标题</a:t>
            </a:r>
            <a:endParaRPr lang="en-US" sz="4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108" y="6571604"/>
            <a:ext cx="3870102" cy="409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汇报人：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33108" y="7105006"/>
            <a:ext cx="280569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汇报时间：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微信图片_20240223163422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3057178" y="2383020"/>
            <a:ext cx="14063032" cy="6623269"/>
            <a:chOff x="0" y="0"/>
            <a:chExt cx="18750710" cy="93643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750662" cy="9364345"/>
            </a:xfrm>
            <a:custGeom>
              <a:avLst/>
              <a:gdLst/>
              <a:ahLst/>
              <a:cxnLst/>
              <a:rect l="l" t="t" r="r" b="b"/>
              <a:pathLst>
                <a:path w="18750662" h="9364345">
                  <a:moveTo>
                    <a:pt x="0" y="0"/>
                  </a:moveTo>
                  <a:lnTo>
                    <a:pt x="18750662" y="0"/>
                  </a:lnTo>
                  <a:lnTo>
                    <a:pt x="18750662" y="9364345"/>
                  </a:lnTo>
                  <a:lnTo>
                    <a:pt x="0" y="936434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0" y="6129375"/>
            <a:ext cx="5647263" cy="4157625"/>
          </a:xfrm>
          <a:custGeom>
            <a:avLst/>
            <a:gdLst/>
            <a:ahLst/>
            <a:cxnLst/>
            <a:rect l="l" t="t" r="r" b="b"/>
            <a:pathLst>
              <a:path w="5647263" h="4157625">
                <a:moveTo>
                  <a:pt x="0" y="0"/>
                </a:moveTo>
                <a:lnTo>
                  <a:pt x="5647263" y="0"/>
                </a:lnTo>
                <a:lnTo>
                  <a:pt x="5647263" y="4157625"/>
                </a:lnTo>
                <a:lnTo>
                  <a:pt x="0" y="4157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76038" y="7717314"/>
            <a:ext cx="718722" cy="1354016"/>
          </a:xfrm>
          <a:custGeom>
            <a:avLst/>
            <a:gdLst/>
            <a:ahLst/>
            <a:cxnLst/>
            <a:rect l="l" t="t" r="r" b="b"/>
            <a:pathLst>
              <a:path w="718722" h="1354016">
                <a:moveTo>
                  <a:pt x="0" y="0"/>
                </a:moveTo>
                <a:lnTo>
                  <a:pt x="718722" y="0"/>
                </a:lnTo>
                <a:lnTo>
                  <a:pt x="718722" y="1354016"/>
                </a:lnTo>
                <a:lnTo>
                  <a:pt x="0" y="1354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rot="5383002">
            <a:off x="2843615" y="5535976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rot="5383002">
            <a:off x="6333208" y="5516696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 rot="5383002">
            <a:off x="9822800" y="5513942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rot="5383002">
            <a:off x="13075531" y="5478137"/>
            <a:ext cx="1926484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751822" y="2002055"/>
            <a:ext cx="4755832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目录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3566309" y="6683505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3731224" y="4092304"/>
            <a:ext cx="20498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ONE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06937" y="7232100"/>
            <a:ext cx="2851680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672148" y="3083646"/>
            <a:ext cx="1029472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01.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55901" y="6713800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220817" y="4073025"/>
            <a:ext cx="20498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TWO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96530" y="7262396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161741" y="3064367"/>
            <a:ext cx="118576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02.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8544" y="6694522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710408" y="4070271"/>
            <a:ext cx="2487500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dirty="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THREE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19173" y="7243117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651333" y="3061613"/>
            <a:ext cx="1180954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03.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831275" y="6658718"/>
            <a:ext cx="3526203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zh-CN" altLang="en-US" sz="36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36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963138" y="4034466"/>
            <a:ext cx="2724358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BFBFB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PART FOUR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3871904" y="7207313"/>
            <a:ext cx="2851680" cy="696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</a:t>
            </a:r>
            <a:endParaRPr lang="en-MY" altLang="zh-CN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904064" y="3025807"/>
            <a:ext cx="1255495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dirty="0">
                <a:solidFill>
                  <a:srgbClr val="CE9A6B"/>
                </a:solidFill>
                <a:latin typeface="Times New Roman Medium" panose="02030502070405020303"/>
              </a:rPr>
              <a:t>04.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696296"/>
          </a:xfrm>
          <a:custGeom>
            <a:avLst/>
            <a:gdLst/>
            <a:ahLst/>
            <a:cxnLst/>
            <a:rect l="l" t="t" r="r" b="b"/>
            <a:pathLst>
              <a:path w="18288000" h="10696296">
                <a:moveTo>
                  <a:pt x="0" y="0"/>
                </a:moveTo>
                <a:lnTo>
                  <a:pt x="18288000" y="0"/>
                </a:lnTo>
                <a:lnTo>
                  <a:pt x="18288000" y="10696296"/>
                </a:lnTo>
                <a:lnTo>
                  <a:pt x="0" y="10696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991" b="-6991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302606" cy="68938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01433"/>
            <a:ext cx="2545596" cy="163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01.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7140" y="4373880"/>
            <a:ext cx="6627495" cy="110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MY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项目背景与目的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6400" y="773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205230" y="1864995"/>
            <a:ext cx="16410305" cy="7620635"/>
            <a:chOff x="0" y="0"/>
            <a:chExt cx="9090024" cy="2692400"/>
          </a:xfrm>
        </p:grpSpPr>
        <p:sp>
          <p:nvSpPr>
            <p:cNvPr id="7" name="Freeform 7"/>
            <p:cNvSpPr/>
            <p:nvPr/>
          </p:nvSpPr>
          <p:spPr>
            <a:xfrm>
              <a:off x="12700" y="12700"/>
              <a:ext cx="9064625" cy="2667000"/>
            </a:xfrm>
            <a:custGeom>
              <a:avLst/>
              <a:gdLst/>
              <a:ahLst/>
              <a:cxnLst/>
              <a:rect l="l" t="t" r="r" b="b"/>
              <a:pathLst>
                <a:path w="9064625" h="2667000">
                  <a:moveTo>
                    <a:pt x="0" y="0"/>
                  </a:moveTo>
                  <a:lnTo>
                    <a:pt x="9064625" y="0"/>
                  </a:lnTo>
                  <a:lnTo>
                    <a:pt x="9064625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9090025" cy="2692400"/>
            </a:xfrm>
            <a:custGeom>
              <a:avLst/>
              <a:gdLst/>
              <a:ahLst/>
              <a:cxnLst/>
              <a:rect l="l" t="t" r="r" b="b"/>
              <a:pathLst>
                <a:path w="9090025" h="2692400">
                  <a:moveTo>
                    <a:pt x="12700" y="0"/>
                  </a:moveTo>
                  <a:lnTo>
                    <a:pt x="9077325" y="0"/>
                  </a:lnTo>
                  <a:cubicBezTo>
                    <a:pt x="9084310" y="0"/>
                    <a:pt x="9090025" y="5715"/>
                    <a:pt x="9090025" y="12700"/>
                  </a:cubicBezTo>
                  <a:lnTo>
                    <a:pt x="9090025" y="2679700"/>
                  </a:lnTo>
                  <a:cubicBezTo>
                    <a:pt x="9090025" y="2686685"/>
                    <a:pt x="9084310" y="2692400"/>
                    <a:pt x="9077325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9077325" y="2667000"/>
                  </a:lnTo>
                  <a:lnTo>
                    <a:pt x="9077325" y="2679700"/>
                  </a:lnTo>
                  <a:lnTo>
                    <a:pt x="9064625" y="2679700"/>
                  </a:lnTo>
                  <a:lnTo>
                    <a:pt x="9064625" y="12700"/>
                  </a:lnTo>
                  <a:lnTo>
                    <a:pt x="9077325" y="12700"/>
                  </a:lnTo>
                  <a:lnTo>
                    <a:pt x="90773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676400" y="2781300"/>
            <a:ext cx="7614920" cy="6125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当前，全球制造业正经历以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400" b="1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智能制造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核心的第四次工业革命，智能控制系统作为实现智能制造的关键使能技术，深度融合了自动化、计算机科学、人工智能与机器人工程等学科，其发展水平直接决定了工业机器人、柔性生产线、智慧能源等领域的智能化程度与竞争力。根据《</a:t>
            </a:r>
            <a:r>
              <a:rPr lang="en-US" altLang="zh-CN" sz="2400" b="1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“</a:t>
            </a:r>
            <a:r>
              <a:rPr lang="zh-CN" altLang="en-US" sz="2400" b="1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十四五</a:t>
            </a:r>
            <a:r>
              <a:rPr lang="en-US" altLang="zh-CN" sz="2400" b="1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”</a:t>
            </a:r>
            <a:r>
              <a:rPr lang="zh-CN" altLang="en-US" sz="2400" b="1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智能制造发展规划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》目标，到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2025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年，我国规模以上制造业企业将全面普及数字化，关键工序数控化率预期提升至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70%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，这对智能控制技术的创新与应用提出了前所未有的迫切需求。</a:t>
            </a:r>
          </a:p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然而，在产业需求与人才培养之间仍存在显著鸿沟：高校教育偏重理论，学生对工业界最新的控制算法（如深度学习控制、自适应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PID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优化）和系统集成案例了解有限；同时，企业面临控制系统稳定性、可靠性及多技术融合的实际挑战，亟需前沿学术研究的反哺。因此，搭建一个连接学术界、产业界与未来工程师（学生）的高水平交流平台，对于推动技术创新、弥合产学差距、培育高素质复合型人才具有至关重要的现实意义。</a:t>
            </a:r>
          </a:p>
        </p:txBody>
      </p:sp>
      <p:sp>
        <p:nvSpPr>
          <p:cNvPr id="14" name="Freeform 14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18410" y="381111"/>
            <a:ext cx="4399572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项目背景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76500" y="2245203"/>
            <a:ext cx="2188116" cy="46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项目背景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 rot="5395037">
            <a:off x="7559274" y="5899547"/>
            <a:ext cx="6598451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4957660" y="2639979"/>
            <a:ext cx="5122246" cy="2000250"/>
            <a:chOff x="0" y="0"/>
            <a:chExt cx="6829662" cy="2667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E9A6B"/>
            </a:solid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58387" y="3310545"/>
            <a:ext cx="813167" cy="813167"/>
            <a:chOff x="0" y="0"/>
            <a:chExt cx="1084222" cy="108422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4948136" y="4907343"/>
            <a:ext cx="5141296" cy="2019300"/>
            <a:chOff x="0" y="0"/>
            <a:chExt cx="6855062" cy="2692400"/>
          </a:xfrm>
        </p:grpSpPr>
        <p:sp>
          <p:nvSpPr>
            <p:cNvPr id="12" name="Freeform 12"/>
            <p:cNvSpPr/>
            <p:nvPr/>
          </p:nvSpPr>
          <p:spPr>
            <a:xfrm>
              <a:off x="12700" y="1270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6855079" cy="2692400"/>
            </a:xfrm>
            <a:custGeom>
              <a:avLst/>
              <a:gdLst/>
              <a:ahLst/>
              <a:cxnLst/>
              <a:rect l="l" t="t" r="r" b="b"/>
              <a:pathLst>
                <a:path w="6855079" h="2692400">
                  <a:moveTo>
                    <a:pt x="12700" y="0"/>
                  </a:moveTo>
                  <a:lnTo>
                    <a:pt x="6842379" y="0"/>
                  </a:lnTo>
                  <a:cubicBezTo>
                    <a:pt x="6849364" y="0"/>
                    <a:pt x="6855079" y="5715"/>
                    <a:pt x="6855079" y="12700"/>
                  </a:cubicBezTo>
                  <a:lnTo>
                    <a:pt x="6855079" y="2679700"/>
                  </a:lnTo>
                  <a:cubicBezTo>
                    <a:pt x="6855079" y="2686685"/>
                    <a:pt x="6849364" y="2692400"/>
                    <a:pt x="6842379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6842379" y="2667000"/>
                  </a:lnTo>
                  <a:lnTo>
                    <a:pt x="6842379" y="2679700"/>
                  </a:lnTo>
                  <a:lnTo>
                    <a:pt x="6829679" y="2679700"/>
                  </a:lnTo>
                  <a:lnTo>
                    <a:pt x="6829679" y="12700"/>
                  </a:lnTo>
                  <a:lnTo>
                    <a:pt x="6842379" y="12700"/>
                  </a:lnTo>
                  <a:lnTo>
                    <a:pt x="6842379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58387" y="5587434"/>
            <a:ext cx="813167" cy="813167"/>
            <a:chOff x="0" y="0"/>
            <a:chExt cx="1084222" cy="108422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16" name="Freeform 16"/>
          <p:cNvSpPr/>
          <p:nvPr/>
        </p:nvSpPr>
        <p:spPr>
          <a:xfrm>
            <a:off x="11658600" y="2605088"/>
            <a:ext cx="5369719" cy="4462090"/>
          </a:xfrm>
          <a:custGeom>
            <a:avLst/>
            <a:gdLst/>
            <a:ahLst/>
            <a:cxnLst/>
            <a:rect l="l" t="t" r="r" b="b"/>
            <a:pathLst>
              <a:path w="5369719" h="4462090">
                <a:moveTo>
                  <a:pt x="0" y="0"/>
                </a:moveTo>
                <a:lnTo>
                  <a:pt x="5369720" y="0"/>
                </a:lnTo>
                <a:lnTo>
                  <a:pt x="5369720" y="4462090"/>
                </a:lnTo>
                <a:lnTo>
                  <a:pt x="0" y="446209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535" r="-5535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957926" y="7206692"/>
            <a:ext cx="5122246" cy="2000250"/>
            <a:chOff x="0" y="0"/>
            <a:chExt cx="6829662" cy="26670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829679" cy="2667000"/>
            </a:xfrm>
            <a:custGeom>
              <a:avLst/>
              <a:gdLst/>
              <a:ahLst/>
              <a:cxnLst/>
              <a:rect l="l" t="t" r="r" b="b"/>
              <a:pathLst>
                <a:path w="6829679" h="2667000">
                  <a:moveTo>
                    <a:pt x="0" y="0"/>
                  </a:moveTo>
                  <a:lnTo>
                    <a:pt x="6829679" y="0"/>
                  </a:lnTo>
                  <a:lnTo>
                    <a:pt x="6829679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5458653" y="7877258"/>
            <a:ext cx="813167" cy="813167"/>
            <a:chOff x="0" y="0"/>
            <a:chExt cx="1084222" cy="108422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84199" cy="1084199"/>
            </a:xfrm>
            <a:custGeom>
              <a:avLst/>
              <a:gdLst/>
              <a:ahLst/>
              <a:cxnLst/>
              <a:rect l="l" t="t" r="r" b="b"/>
              <a:pathLst>
                <a:path w="1084199" h="1084199">
                  <a:moveTo>
                    <a:pt x="0" y="542163"/>
                  </a:moveTo>
                  <a:cubicBezTo>
                    <a:pt x="0" y="242697"/>
                    <a:pt x="242697" y="0"/>
                    <a:pt x="542163" y="0"/>
                  </a:cubicBezTo>
                  <a:cubicBezTo>
                    <a:pt x="841629" y="0"/>
                    <a:pt x="1084199" y="242697"/>
                    <a:pt x="1084199" y="542163"/>
                  </a:cubicBezTo>
                  <a:cubicBezTo>
                    <a:pt x="1084199" y="841629"/>
                    <a:pt x="841502" y="1084199"/>
                    <a:pt x="542163" y="1084199"/>
                  </a:cubicBezTo>
                  <a:cubicBezTo>
                    <a:pt x="242824" y="1084199"/>
                    <a:pt x="0" y="841502"/>
                    <a:pt x="0" y="54216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5646854" y="3495383"/>
            <a:ext cx="436233" cy="443490"/>
          </a:xfrm>
          <a:custGeom>
            <a:avLst/>
            <a:gdLst/>
            <a:ahLst/>
            <a:cxnLst/>
            <a:rect l="l" t="t" r="r" b="b"/>
            <a:pathLst>
              <a:path w="436233" h="443490">
                <a:moveTo>
                  <a:pt x="0" y="0"/>
                </a:moveTo>
                <a:lnTo>
                  <a:pt x="436233" y="0"/>
                </a:lnTo>
                <a:lnTo>
                  <a:pt x="436233" y="443490"/>
                </a:lnTo>
                <a:lnTo>
                  <a:pt x="0" y="44349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5646848" y="5750676"/>
            <a:ext cx="436245" cy="486683"/>
          </a:xfrm>
          <a:custGeom>
            <a:avLst/>
            <a:gdLst/>
            <a:ahLst/>
            <a:cxnLst/>
            <a:rect l="l" t="t" r="r" b="b"/>
            <a:pathLst>
              <a:path w="436245" h="486683">
                <a:moveTo>
                  <a:pt x="0" y="0"/>
                </a:moveTo>
                <a:lnTo>
                  <a:pt x="436245" y="0"/>
                </a:lnTo>
                <a:lnTo>
                  <a:pt x="436245" y="486683"/>
                </a:lnTo>
                <a:lnTo>
                  <a:pt x="0" y="4866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5647114" y="8049529"/>
            <a:ext cx="436245" cy="468623"/>
          </a:xfrm>
          <a:custGeom>
            <a:avLst/>
            <a:gdLst/>
            <a:ahLst/>
            <a:cxnLst/>
            <a:rect l="l" t="t" r="r" b="b"/>
            <a:pathLst>
              <a:path w="436245" h="468623">
                <a:moveTo>
                  <a:pt x="0" y="0"/>
                </a:moveTo>
                <a:lnTo>
                  <a:pt x="436245" y="0"/>
                </a:lnTo>
                <a:lnTo>
                  <a:pt x="436245" y="468622"/>
                </a:lnTo>
                <a:lnTo>
                  <a:pt x="0" y="46862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858625" y="8001195"/>
            <a:ext cx="518684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此处添加文字内容，文字是您的思想提炼</a:t>
            </a:r>
            <a:endParaRPr lang="en-MY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注意文字大小和段落分布</a:t>
            </a:r>
            <a:r>
              <a:rPr 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357986" y="7464945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计划四</a:t>
            </a:r>
            <a:endParaRPr lang="en-US" sz="30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691628" y="3520920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691629" y="2984670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计划一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91628" y="5797809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7C7C7C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7C7C7C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7C7C7C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文字是您的思想提炼，</a:t>
            </a:r>
            <a:endParaRPr lang="en-MY" altLang="zh-CN" sz="1800" dirty="0">
              <a:solidFill>
                <a:srgbClr val="7C7C7C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691629" y="5261559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6691893" y="8087633"/>
            <a:ext cx="304177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chemeClr val="bg1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MY" altLang="zh-CN" sz="1800" dirty="0">
              <a:solidFill>
                <a:schemeClr val="bg1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691894" y="75513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计划三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318410" y="381111"/>
            <a:ext cx="4399572" cy="738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项目目标</a:t>
            </a:r>
          </a:p>
        </p:txBody>
      </p:sp>
      <p:graphicFrame>
        <p:nvGraphicFramePr>
          <p:cNvPr id="39" name="Chart 38"/>
          <p:cNvGraphicFramePr/>
          <p:nvPr/>
        </p:nvGraphicFramePr>
        <p:xfrm>
          <a:off x="-363989" y="1857287"/>
          <a:ext cx="5916604" cy="4200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40" name="Chart 39"/>
          <p:cNvGraphicFramePr/>
          <p:nvPr/>
        </p:nvGraphicFramePr>
        <p:xfrm>
          <a:off x="-838200" y="5602182"/>
          <a:ext cx="6761181" cy="4341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pic>
        <p:nvPicPr>
          <p:cNvPr id="27" name="Picture 26"/>
          <p:cNvPicPr>
            <a:picLocks noChangeAspect="1"/>
          </p:cNvPicPr>
          <p:nvPr/>
        </p:nvPicPr>
        <p:blipFill>
          <a:blip r:embed="rId17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000"/>
            <a:ext cx="18288000" cy="10288533"/>
          </a:xfrm>
          <a:custGeom>
            <a:avLst/>
            <a:gdLst/>
            <a:ahLst/>
            <a:cxnLst/>
            <a:rect l="l" t="t" r="r" b="b"/>
            <a:pathLst>
              <a:path w="18288000" h="10288533">
                <a:moveTo>
                  <a:pt x="0" y="0"/>
                </a:moveTo>
                <a:lnTo>
                  <a:pt x="18288000" y="0"/>
                </a:lnTo>
                <a:lnTo>
                  <a:pt x="18288000" y="10288533"/>
                </a:lnTo>
                <a:lnTo>
                  <a:pt x="0" y="1028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0" b="-9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125188" cy="71224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31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02.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60626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7800" y="7713083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06558" y="2030788"/>
            <a:ext cx="3435583" cy="803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00"/>
              </a:lnSpc>
            </a:pPr>
            <a:r>
              <a:rPr lang="zh-CN" altLang="en-US" sz="5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5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7690782" y="3036957"/>
            <a:ext cx="1282056" cy="76196"/>
            <a:chOff x="0" y="0"/>
            <a:chExt cx="1538514" cy="9143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7610837" y="3428830"/>
            <a:ext cx="9627233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7649200" y="5114843"/>
            <a:ext cx="4457684" cy="4984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86645" y="5847804"/>
            <a:ext cx="3943399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801616" y="5163222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739061" y="5896183"/>
            <a:ext cx="3991778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49200" y="7267730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586647" y="8000691"/>
            <a:ext cx="4064347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801616" y="7316109"/>
            <a:ext cx="4457684" cy="498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zh-CN" altLang="en-US" sz="3335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335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739061" y="8049069"/>
            <a:ext cx="4161106" cy="69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2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2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-1" y="1418095"/>
            <a:ext cx="6319820" cy="8859417"/>
          </a:xfrm>
          <a:custGeom>
            <a:avLst/>
            <a:gdLst/>
            <a:ahLst/>
            <a:cxnLst/>
            <a:rect l="l" t="t" r="r" b="b"/>
            <a:pathLst>
              <a:path w="6319820" h="8859417">
                <a:moveTo>
                  <a:pt x="0" y="0"/>
                </a:moveTo>
                <a:lnTo>
                  <a:pt x="6319820" y="0"/>
                </a:lnTo>
                <a:lnTo>
                  <a:pt x="6319820" y="8859417"/>
                </a:lnTo>
                <a:lnTo>
                  <a:pt x="0" y="88594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5138" r="-55138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3318410" y="381111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2DB4C-2899-3F46-AA3F-BDAF053B0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F8996E2-2FC6-E019-491E-305CEE6EF8B0}"/>
              </a:ext>
            </a:extLst>
          </p:cNvPr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F0A7DC5-A5C2-0EEE-67BC-F1427664D9DB}"/>
              </a:ext>
            </a:extLst>
          </p:cNvPr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8D54870-19B0-C896-002D-ABE3A8EAC0F0}"/>
              </a:ext>
            </a:extLst>
          </p:cNvPr>
          <p:cNvGrpSpPr/>
          <p:nvPr/>
        </p:nvGrpSpPr>
        <p:grpSpPr>
          <a:xfrm>
            <a:off x="1205230" y="1864995"/>
            <a:ext cx="16410305" cy="7620635"/>
            <a:chOff x="0" y="0"/>
            <a:chExt cx="9090024" cy="26924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95CA5E-CBE7-B84D-A9CB-A63CE459294F}"/>
                </a:ext>
              </a:extLst>
            </p:cNvPr>
            <p:cNvSpPr/>
            <p:nvPr/>
          </p:nvSpPr>
          <p:spPr>
            <a:xfrm>
              <a:off x="12700" y="12700"/>
              <a:ext cx="9064625" cy="2667000"/>
            </a:xfrm>
            <a:custGeom>
              <a:avLst/>
              <a:gdLst/>
              <a:ahLst/>
              <a:cxnLst/>
              <a:rect l="l" t="t" r="r" b="b"/>
              <a:pathLst>
                <a:path w="9064625" h="2667000">
                  <a:moveTo>
                    <a:pt x="0" y="0"/>
                  </a:moveTo>
                  <a:lnTo>
                    <a:pt x="9064625" y="0"/>
                  </a:lnTo>
                  <a:lnTo>
                    <a:pt x="9064625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AE205B4-4BE1-E8CC-01DC-B62F2A203F9A}"/>
                </a:ext>
              </a:extLst>
            </p:cNvPr>
            <p:cNvSpPr/>
            <p:nvPr/>
          </p:nvSpPr>
          <p:spPr>
            <a:xfrm>
              <a:off x="0" y="0"/>
              <a:ext cx="9090025" cy="2692400"/>
            </a:xfrm>
            <a:custGeom>
              <a:avLst/>
              <a:gdLst/>
              <a:ahLst/>
              <a:cxnLst/>
              <a:rect l="l" t="t" r="r" b="b"/>
              <a:pathLst>
                <a:path w="9090025" h="2692400">
                  <a:moveTo>
                    <a:pt x="12700" y="0"/>
                  </a:moveTo>
                  <a:lnTo>
                    <a:pt x="9077325" y="0"/>
                  </a:lnTo>
                  <a:cubicBezTo>
                    <a:pt x="9084310" y="0"/>
                    <a:pt x="9090025" y="5715"/>
                    <a:pt x="9090025" y="12700"/>
                  </a:cubicBezTo>
                  <a:lnTo>
                    <a:pt x="9090025" y="2679700"/>
                  </a:lnTo>
                  <a:cubicBezTo>
                    <a:pt x="9090025" y="2686685"/>
                    <a:pt x="9084310" y="2692400"/>
                    <a:pt x="9077325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9077325" y="2667000"/>
                  </a:lnTo>
                  <a:lnTo>
                    <a:pt x="9077325" y="2679700"/>
                  </a:lnTo>
                  <a:lnTo>
                    <a:pt x="9064625" y="2679700"/>
                  </a:lnTo>
                  <a:lnTo>
                    <a:pt x="9064625" y="12700"/>
                  </a:lnTo>
                  <a:lnTo>
                    <a:pt x="9077325" y="12700"/>
                  </a:lnTo>
                  <a:lnTo>
                    <a:pt x="90773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77DE318-99FB-6937-F9EA-3A1795F19FF9}"/>
              </a:ext>
            </a:extLst>
          </p:cNvPr>
          <p:cNvSpPr txBox="1"/>
          <p:nvPr/>
        </p:nvSpPr>
        <p:spPr>
          <a:xfrm>
            <a:off x="2419464" y="4059485"/>
            <a:ext cx="5943600" cy="35907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甘特图可以直观地展示出每个任务的开始时间，持续时间以及任务之间的前置关系。将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WBS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任务表的第三次依次排开，由前置条件求出各自的开始时间，假设整个项目的开始时间是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2024/10/1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，定义“今天”为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2024/11/1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，以今天为断点求出各个任务的已完成天数和未完成天数，可绘制出右图所示的甘特图，同时在每个任务上标注出此任务的负责人。其中橙色为已完成，灰色为未完成。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D8F72225-7262-8ADE-D636-ADE0A4E815F7}"/>
              </a:ext>
            </a:extLst>
          </p:cNvPr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56005A51-7A88-F03C-D9C2-8E8DC4E5E5EE}"/>
              </a:ext>
            </a:extLst>
          </p:cNvPr>
          <p:cNvSpPr txBox="1"/>
          <p:nvPr/>
        </p:nvSpPr>
        <p:spPr>
          <a:xfrm>
            <a:off x="13318410" y="381111"/>
            <a:ext cx="4399572" cy="72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项目进度计划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863E7E0F-2100-B0E7-9431-11AC070E1CCD}"/>
              </a:ext>
            </a:extLst>
          </p:cNvPr>
          <p:cNvSpPr txBox="1"/>
          <p:nvPr/>
        </p:nvSpPr>
        <p:spPr>
          <a:xfrm>
            <a:off x="1676500" y="2245203"/>
            <a:ext cx="30479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项目进度计划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0D90FC9-4941-D55B-2EAE-4461E39B959C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E5C2489-4497-5EA0-4851-F05AE140B02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4370" y="1103360"/>
            <a:ext cx="8194516" cy="93550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05606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09B563-34F8-2DA8-F4C8-065E6A2FD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E0BF992-3514-048C-D7AA-3D97C4B923D6}"/>
              </a:ext>
            </a:extLst>
          </p:cNvPr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4A990B3-13F6-D4B3-2900-4506421156AD}"/>
              </a:ext>
            </a:extLst>
          </p:cNvPr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A7756BD-C060-3133-9CF8-E9D46A5B8A6A}"/>
              </a:ext>
            </a:extLst>
          </p:cNvPr>
          <p:cNvGrpSpPr/>
          <p:nvPr/>
        </p:nvGrpSpPr>
        <p:grpSpPr>
          <a:xfrm>
            <a:off x="1205230" y="1864995"/>
            <a:ext cx="16410305" cy="7620635"/>
            <a:chOff x="0" y="0"/>
            <a:chExt cx="9090024" cy="26924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FE4C57-02D2-1C12-1E8F-E92E91282819}"/>
                </a:ext>
              </a:extLst>
            </p:cNvPr>
            <p:cNvSpPr/>
            <p:nvPr/>
          </p:nvSpPr>
          <p:spPr>
            <a:xfrm>
              <a:off x="12700" y="12700"/>
              <a:ext cx="9064625" cy="2667000"/>
            </a:xfrm>
            <a:custGeom>
              <a:avLst/>
              <a:gdLst/>
              <a:ahLst/>
              <a:cxnLst/>
              <a:rect l="l" t="t" r="r" b="b"/>
              <a:pathLst>
                <a:path w="9064625" h="2667000">
                  <a:moveTo>
                    <a:pt x="0" y="0"/>
                  </a:moveTo>
                  <a:lnTo>
                    <a:pt x="9064625" y="0"/>
                  </a:lnTo>
                  <a:lnTo>
                    <a:pt x="9064625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7849B3-227B-C5F3-5621-0705918F3EAB}"/>
                </a:ext>
              </a:extLst>
            </p:cNvPr>
            <p:cNvSpPr/>
            <p:nvPr/>
          </p:nvSpPr>
          <p:spPr>
            <a:xfrm>
              <a:off x="0" y="0"/>
              <a:ext cx="9090025" cy="2692400"/>
            </a:xfrm>
            <a:custGeom>
              <a:avLst/>
              <a:gdLst/>
              <a:ahLst/>
              <a:cxnLst/>
              <a:rect l="l" t="t" r="r" b="b"/>
              <a:pathLst>
                <a:path w="9090025" h="2692400">
                  <a:moveTo>
                    <a:pt x="12700" y="0"/>
                  </a:moveTo>
                  <a:lnTo>
                    <a:pt x="9077325" y="0"/>
                  </a:lnTo>
                  <a:cubicBezTo>
                    <a:pt x="9084310" y="0"/>
                    <a:pt x="9090025" y="5715"/>
                    <a:pt x="9090025" y="12700"/>
                  </a:cubicBezTo>
                  <a:lnTo>
                    <a:pt x="9090025" y="2679700"/>
                  </a:lnTo>
                  <a:cubicBezTo>
                    <a:pt x="9090025" y="2686685"/>
                    <a:pt x="9084310" y="2692400"/>
                    <a:pt x="9077325" y="2692400"/>
                  </a:cubicBezTo>
                  <a:lnTo>
                    <a:pt x="12700" y="2692400"/>
                  </a:lnTo>
                  <a:cubicBezTo>
                    <a:pt x="5715" y="2692400"/>
                    <a:pt x="0" y="2686685"/>
                    <a:pt x="0" y="267970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2679700"/>
                  </a:lnTo>
                  <a:lnTo>
                    <a:pt x="12700" y="2679700"/>
                  </a:lnTo>
                  <a:lnTo>
                    <a:pt x="12700" y="2667000"/>
                  </a:lnTo>
                  <a:lnTo>
                    <a:pt x="9077325" y="2667000"/>
                  </a:lnTo>
                  <a:lnTo>
                    <a:pt x="9077325" y="2679700"/>
                  </a:lnTo>
                  <a:lnTo>
                    <a:pt x="9064625" y="2679700"/>
                  </a:lnTo>
                  <a:lnTo>
                    <a:pt x="9064625" y="12700"/>
                  </a:lnTo>
                  <a:lnTo>
                    <a:pt x="9077325" y="12700"/>
                  </a:lnTo>
                  <a:lnTo>
                    <a:pt x="9077325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4D3361F-2817-7C79-4466-5D87E19F1CE2}"/>
              </a:ext>
            </a:extLst>
          </p:cNvPr>
          <p:cNvSpPr txBox="1"/>
          <p:nvPr/>
        </p:nvSpPr>
        <p:spPr>
          <a:xfrm>
            <a:off x="2003209" y="2802730"/>
            <a:ext cx="7034055" cy="68223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关键路径指的是从开始到结束持续时间最长的活动链，中间无延误时间，它决定了项目的总工期，其延误将导致整个项目延误。</a:t>
            </a:r>
            <a:endParaRPr lang="en-US" altLang="zh-CN" sz="2400" dirty="0">
              <a:solidFill>
                <a:srgbClr val="40404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最长链为：主题与议题设计→宣传材料策划与设计→宣传渠道确定→宣传材料投放→报名管理→现场注册与接待→开幕式主持→主题演讲管理→分论坛协调→技术展示区管理→学生交流活动协调→闭幕式主持→论坛纪要编写→活动总结报告</a:t>
            </a:r>
          </a:p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总持续时间有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45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天，且无时间缓存。在甘特图中用红色表示。</a:t>
            </a:r>
            <a:endParaRPr lang="en-US" altLang="zh-CN" sz="2400" dirty="0">
              <a:solidFill>
                <a:srgbClr val="40404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里程碑事件是项目中不可再细分的关键成果节点，标志着某一阶段工作的完成，通常对应多个工作包的收尾或核心环节的启动。按照</a:t>
            </a:r>
            <a:r>
              <a:rPr lang="en-US" altLang="zh-CN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WBS</a:t>
            </a: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第二层若干工作表来分配阶段，可以在每个阶段的收尾任务标记为里程碑事件，以标记此阶段的结束。</a:t>
            </a:r>
            <a:endParaRPr lang="en-US" altLang="zh-CN" sz="2400" dirty="0">
              <a:solidFill>
                <a:srgbClr val="40404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457200" algn="l">
              <a:lnSpc>
                <a:spcPts val="2810"/>
              </a:lnSpc>
            </a:pPr>
            <a:r>
              <a:rPr lang="zh-CN" altLang="en-US" sz="2400" dirty="0">
                <a:solidFill>
                  <a:srgbClr val="40404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进度节点是指项目生命周期中的关键时间点或里程碑。这些节点通常代表着重要的项目阶段完成、关键决策点或重大交付成果。和里程碑事件大致一样。</a:t>
            </a:r>
          </a:p>
          <a:p>
            <a:pPr indent="457200" algn="l">
              <a:lnSpc>
                <a:spcPts val="2810"/>
              </a:lnSpc>
            </a:pPr>
            <a:endParaRPr lang="zh-CN" altLang="en-US" sz="2400" dirty="0">
              <a:solidFill>
                <a:srgbClr val="40404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622FEE1-27A2-B9C9-F1DC-8B99F864C86B}"/>
              </a:ext>
            </a:extLst>
          </p:cNvPr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9B69FA3-AFD7-3D8A-4702-87F27C775682}"/>
              </a:ext>
            </a:extLst>
          </p:cNvPr>
          <p:cNvSpPr txBox="1"/>
          <p:nvPr/>
        </p:nvSpPr>
        <p:spPr>
          <a:xfrm>
            <a:off x="13318410" y="381111"/>
            <a:ext cx="4399572" cy="72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项目进度计划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947D137-9D00-21A0-1687-5E12B847A32D}"/>
              </a:ext>
            </a:extLst>
          </p:cNvPr>
          <p:cNvSpPr txBox="1"/>
          <p:nvPr/>
        </p:nvSpPr>
        <p:spPr>
          <a:xfrm>
            <a:off x="1676500" y="2245203"/>
            <a:ext cx="304790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CE9A6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项目进度计划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EB176E7-4D3C-FD1C-F4B3-4A8F08A4D4E5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EDE2CFC-ECA7-7D9C-D1D5-74B139EB599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512" y="1103360"/>
            <a:ext cx="8307112" cy="964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4575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319828" y="4666804"/>
            <a:ext cx="3596025" cy="4100515"/>
            <a:chOff x="0" y="0"/>
            <a:chExt cx="4794700" cy="546735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5216702" y="5083965"/>
            <a:ext cx="3615075" cy="4119565"/>
            <a:chOff x="0" y="0"/>
            <a:chExt cx="4820100" cy="5492754"/>
          </a:xfrm>
        </p:grpSpPr>
        <p:sp>
          <p:nvSpPr>
            <p:cNvPr id="8" name="Freeform 8"/>
            <p:cNvSpPr/>
            <p:nvPr/>
          </p:nvSpPr>
          <p:spPr>
            <a:xfrm>
              <a:off x="12700" y="1270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4820158" cy="5492750"/>
            </a:xfrm>
            <a:custGeom>
              <a:avLst/>
              <a:gdLst/>
              <a:ahLst/>
              <a:cxnLst/>
              <a:rect l="l" t="t" r="r" b="b"/>
              <a:pathLst>
                <a:path w="4820158" h="5492750">
                  <a:moveTo>
                    <a:pt x="12700" y="0"/>
                  </a:moveTo>
                  <a:lnTo>
                    <a:pt x="4807458" y="0"/>
                  </a:lnTo>
                  <a:cubicBezTo>
                    <a:pt x="4814443" y="0"/>
                    <a:pt x="4820158" y="5715"/>
                    <a:pt x="4820158" y="12700"/>
                  </a:cubicBezTo>
                  <a:lnTo>
                    <a:pt x="4820158" y="5480050"/>
                  </a:lnTo>
                  <a:cubicBezTo>
                    <a:pt x="4820158" y="5487035"/>
                    <a:pt x="4814443" y="5492750"/>
                    <a:pt x="4807458" y="5492750"/>
                  </a:cubicBezTo>
                  <a:lnTo>
                    <a:pt x="12700" y="5492750"/>
                  </a:lnTo>
                  <a:cubicBezTo>
                    <a:pt x="5715" y="5492750"/>
                    <a:pt x="0" y="5487035"/>
                    <a:pt x="0" y="54800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80050"/>
                  </a:lnTo>
                  <a:lnTo>
                    <a:pt x="12700" y="5480050"/>
                  </a:lnTo>
                  <a:lnTo>
                    <a:pt x="12700" y="5467350"/>
                  </a:lnTo>
                  <a:lnTo>
                    <a:pt x="4807458" y="5467350"/>
                  </a:lnTo>
                  <a:lnTo>
                    <a:pt x="4807458" y="5480050"/>
                  </a:lnTo>
                  <a:lnTo>
                    <a:pt x="4794758" y="5480050"/>
                  </a:lnTo>
                  <a:lnTo>
                    <a:pt x="4794758" y="12700"/>
                  </a:lnTo>
                  <a:lnTo>
                    <a:pt x="4807458" y="12700"/>
                  </a:lnTo>
                  <a:lnTo>
                    <a:pt x="480745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213249" y="4636294"/>
            <a:ext cx="3596025" cy="4100515"/>
            <a:chOff x="0" y="0"/>
            <a:chExt cx="4794700" cy="546735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3132224" y="5053455"/>
            <a:ext cx="3615075" cy="4119565"/>
            <a:chOff x="0" y="0"/>
            <a:chExt cx="4820100" cy="5492754"/>
          </a:xfrm>
        </p:grpSpPr>
        <p:sp>
          <p:nvSpPr>
            <p:cNvPr id="13" name="Freeform 13"/>
            <p:cNvSpPr/>
            <p:nvPr/>
          </p:nvSpPr>
          <p:spPr>
            <a:xfrm>
              <a:off x="12700" y="12700"/>
              <a:ext cx="4794758" cy="5467350"/>
            </a:xfrm>
            <a:custGeom>
              <a:avLst/>
              <a:gdLst/>
              <a:ahLst/>
              <a:cxnLst/>
              <a:rect l="l" t="t" r="r" b="b"/>
              <a:pathLst>
                <a:path w="4794758" h="5467350">
                  <a:moveTo>
                    <a:pt x="0" y="0"/>
                  </a:moveTo>
                  <a:lnTo>
                    <a:pt x="4794758" y="0"/>
                  </a:lnTo>
                  <a:lnTo>
                    <a:pt x="4794758" y="5467350"/>
                  </a:lnTo>
                  <a:lnTo>
                    <a:pt x="0" y="546735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4820158" cy="5492750"/>
            </a:xfrm>
            <a:custGeom>
              <a:avLst/>
              <a:gdLst/>
              <a:ahLst/>
              <a:cxnLst/>
              <a:rect l="l" t="t" r="r" b="b"/>
              <a:pathLst>
                <a:path w="4820158" h="5492750">
                  <a:moveTo>
                    <a:pt x="12700" y="0"/>
                  </a:moveTo>
                  <a:lnTo>
                    <a:pt x="4807458" y="0"/>
                  </a:lnTo>
                  <a:cubicBezTo>
                    <a:pt x="4814443" y="0"/>
                    <a:pt x="4820158" y="5715"/>
                    <a:pt x="4820158" y="12700"/>
                  </a:cubicBezTo>
                  <a:lnTo>
                    <a:pt x="4820158" y="5480050"/>
                  </a:lnTo>
                  <a:cubicBezTo>
                    <a:pt x="4820158" y="5487035"/>
                    <a:pt x="4814443" y="5492750"/>
                    <a:pt x="4807458" y="5492750"/>
                  </a:cubicBezTo>
                  <a:lnTo>
                    <a:pt x="12700" y="5492750"/>
                  </a:lnTo>
                  <a:cubicBezTo>
                    <a:pt x="5715" y="5492750"/>
                    <a:pt x="0" y="5487035"/>
                    <a:pt x="0" y="5480050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5480050"/>
                  </a:lnTo>
                  <a:lnTo>
                    <a:pt x="12700" y="5480050"/>
                  </a:lnTo>
                  <a:lnTo>
                    <a:pt x="12700" y="5467350"/>
                  </a:lnTo>
                  <a:lnTo>
                    <a:pt x="4807458" y="5467350"/>
                  </a:lnTo>
                  <a:lnTo>
                    <a:pt x="4807458" y="5480050"/>
                  </a:lnTo>
                  <a:lnTo>
                    <a:pt x="4794758" y="5480050"/>
                  </a:lnTo>
                  <a:lnTo>
                    <a:pt x="4794758" y="12700"/>
                  </a:lnTo>
                  <a:lnTo>
                    <a:pt x="4807458" y="12700"/>
                  </a:lnTo>
                  <a:lnTo>
                    <a:pt x="480745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2388282" y="5036037"/>
            <a:ext cx="1299778" cy="1299778"/>
          </a:xfrm>
          <a:custGeom>
            <a:avLst/>
            <a:gdLst/>
            <a:ahLst/>
            <a:cxnLst/>
            <a:rect l="l" t="t" r="r" b="b"/>
            <a:pathLst>
              <a:path w="1299778" h="1299778">
                <a:moveTo>
                  <a:pt x="0" y="0"/>
                </a:moveTo>
                <a:lnTo>
                  <a:pt x="1299778" y="0"/>
                </a:lnTo>
                <a:lnTo>
                  <a:pt x="1299778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4999" r="-2500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4214952" y="5358200"/>
            <a:ext cx="1299778" cy="1299779"/>
          </a:xfrm>
          <a:custGeom>
            <a:avLst/>
            <a:gdLst/>
            <a:ahLst/>
            <a:cxnLst/>
            <a:rect l="l" t="t" r="r" b="b"/>
            <a:pathLst>
              <a:path w="1299778" h="1299779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351442" y="5417285"/>
            <a:ext cx="1299778" cy="1299779"/>
          </a:xfrm>
          <a:custGeom>
            <a:avLst/>
            <a:gdLst/>
            <a:ahLst/>
            <a:cxnLst/>
            <a:rect l="l" t="t" r="r" b="b"/>
            <a:pathLst>
              <a:path w="1299778" h="1299779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361373" y="4962218"/>
            <a:ext cx="1299778" cy="1299778"/>
          </a:xfrm>
          <a:custGeom>
            <a:avLst/>
            <a:gdLst/>
            <a:ahLst/>
            <a:cxnLst/>
            <a:rect l="l" t="t" r="r" b="b"/>
            <a:pathLst>
              <a:path w="1299778" h="1299778">
                <a:moveTo>
                  <a:pt x="0" y="0"/>
                </a:moveTo>
                <a:lnTo>
                  <a:pt x="1299779" y="0"/>
                </a:lnTo>
                <a:lnTo>
                  <a:pt x="1299779" y="1299778"/>
                </a:lnTo>
                <a:lnTo>
                  <a:pt x="0" y="12997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5000" r="-25000"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131127" y="2526246"/>
            <a:ext cx="2025747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工作计划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658997" y="3147369"/>
            <a:ext cx="15387419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037698" y="662904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工作一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828678" y="7329185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944096" y="718808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735077" y="7888224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3833475" y="714998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工作四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3624456" y="7850124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970996" y="6629043"/>
            <a:ext cx="204830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工作三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761978" y="7329185"/>
            <a:ext cx="2630880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此处添加文字内容，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文字是您的思想提炼</a:t>
            </a:r>
            <a:endParaRPr lang="en-US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16963" y="5014655"/>
            <a:ext cx="7351029" cy="3848214"/>
          </a:xfrm>
          <a:custGeom>
            <a:avLst/>
            <a:gdLst/>
            <a:ahLst/>
            <a:cxnLst/>
            <a:rect l="l" t="t" r="r" b="b"/>
            <a:pathLst>
              <a:path w="7351029" h="3848214">
                <a:moveTo>
                  <a:pt x="0" y="0"/>
                </a:moveTo>
                <a:lnTo>
                  <a:pt x="7351030" y="0"/>
                </a:lnTo>
                <a:lnTo>
                  <a:pt x="7351030" y="3848214"/>
                </a:lnTo>
                <a:lnTo>
                  <a:pt x="0" y="3848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674" b="-13674"/>
            </a:stretch>
          </a:blipFill>
        </p:spPr>
      </p:sp>
      <p:sp>
        <p:nvSpPr>
          <p:cNvPr id="5" name="AutoShape 5"/>
          <p:cNvSpPr/>
          <p:nvPr/>
        </p:nvSpPr>
        <p:spPr>
          <a:xfrm rot="4278">
            <a:off x="9596435" y="4042737"/>
            <a:ext cx="7653343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4278">
            <a:off x="9596435" y="6428749"/>
            <a:ext cx="7653343" cy="0"/>
          </a:xfrm>
          <a:prstGeom prst="line">
            <a:avLst/>
          </a:prstGeom>
          <a:ln w="9525" cap="rnd">
            <a:solidFill>
              <a:srgbClr val="E2CCA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15973471" y="2896745"/>
            <a:ext cx="901942" cy="1014843"/>
          </a:xfrm>
          <a:custGeom>
            <a:avLst/>
            <a:gdLst/>
            <a:ahLst/>
            <a:cxnLst/>
            <a:rect l="l" t="t" r="r" b="b"/>
            <a:pathLst>
              <a:path w="901942" h="1014843">
                <a:moveTo>
                  <a:pt x="0" y="0"/>
                </a:moveTo>
                <a:lnTo>
                  <a:pt x="901942" y="0"/>
                </a:lnTo>
                <a:lnTo>
                  <a:pt x="901942" y="1014843"/>
                </a:lnTo>
                <a:lnTo>
                  <a:pt x="0" y="10148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925800" y="5375319"/>
            <a:ext cx="1039894" cy="844914"/>
          </a:xfrm>
          <a:custGeom>
            <a:avLst/>
            <a:gdLst/>
            <a:ahLst/>
            <a:cxnLst/>
            <a:rect l="l" t="t" r="r" b="b"/>
            <a:pathLst>
              <a:path w="1039894" h="844914">
                <a:moveTo>
                  <a:pt x="0" y="0"/>
                </a:moveTo>
                <a:lnTo>
                  <a:pt x="1039894" y="0"/>
                </a:lnTo>
                <a:lnTo>
                  <a:pt x="1039894" y="844914"/>
                </a:lnTo>
                <a:lnTo>
                  <a:pt x="0" y="844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887700" y="7328245"/>
            <a:ext cx="1025813" cy="937337"/>
          </a:xfrm>
          <a:custGeom>
            <a:avLst/>
            <a:gdLst/>
            <a:ahLst/>
            <a:cxnLst/>
            <a:rect l="l" t="t" r="r" b="b"/>
            <a:pathLst>
              <a:path w="1025813" h="937337">
                <a:moveTo>
                  <a:pt x="0" y="0"/>
                </a:moveTo>
                <a:lnTo>
                  <a:pt x="1025813" y="0"/>
                </a:lnTo>
                <a:lnTo>
                  <a:pt x="1025813" y="937337"/>
                </a:lnTo>
                <a:lnTo>
                  <a:pt x="0" y="9373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116963" y="3914246"/>
            <a:ext cx="7168149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此处输入你的正文，文字是您思想的提炼，为了最终演示的良好效果，正文尽量简明扼要，内容可酌情增减文字，字字珠玑。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552122" y="2647642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CE9A6B"/>
                </a:solidFill>
                <a:latin typeface="Times New Roman Ultra-Bold" panose="02030902070405020303"/>
              </a:rPr>
              <a:t>Part 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90222" y="4552421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dirty="0">
                <a:solidFill>
                  <a:srgbClr val="CE9A6B"/>
                </a:solidFill>
                <a:latin typeface="Times New Roman Ultra-Bold" panose="02030902070405020303"/>
              </a:rPr>
              <a:t>Part 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590222" y="6792040"/>
            <a:ext cx="3049174" cy="647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CE9A6B"/>
                </a:solidFill>
                <a:latin typeface="Times New Roman Ultra-Bold" panose="02030902070405020303"/>
              </a:rPr>
              <a:t>Part 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16946" y="5308441"/>
            <a:ext cx="6066512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593133" y="7437777"/>
            <a:ext cx="5872134" cy="359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597896" y="3336563"/>
            <a:ext cx="6099643" cy="359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65"/>
              </a:lnSpc>
            </a:pPr>
            <a:r>
              <a:rPr lang="zh-CN" altLang="en-US" sz="20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正文尽量简明扼要，内容可酌情增减文字，字字珠玑。</a:t>
            </a:r>
            <a:endParaRPr lang="en-US" sz="19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134426" y="1804191"/>
            <a:ext cx="11858763" cy="738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大标题</a:t>
            </a:r>
            <a:endParaRPr lang="en-US" sz="4800" dirty="0">
              <a:solidFill>
                <a:srgbClr val="333F50"/>
              </a:solidFill>
              <a:ea typeface="思源宋体-超粗体" panose="020209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34427" y="2750067"/>
            <a:ext cx="3106647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zh-CN" altLang="en-US" sz="32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请输入副标题</a:t>
            </a:r>
            <a:endParaRPr lang="en-US" sz="32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1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0000"/>
            <a:ext cx="18288000" cy="10288533"/>
          </a:xfrm>
          <a:custGeom>
            <a:avLst/>
            <a:gdLst/>
            <a:ahLst/>
            <a:cxnLst/>
            <a:rect l="l" t="t" r="r" b="b"/>
            <a:pathLst>
              <a:path w="18288000" h="10288533">
                <a:moveTo>
                  <a:pt x="0" y="0"/>
                </a:moveTo>
                <a:lnTo>
                  <a:pt x="18288000" y="0"/>
                </a:lnTo>
                <a:lnTo>
                  <a:pt x="18288000" y="10288533"/>
                </a:lnTo>
                <a:lnTo>
                  <a:pt x="0" y="1028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0" b="-925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791212" y="2135854"/>
            <a:ext cx="15048988" cy="68176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Times New Roman Ultra-Bold" panose="02030902070405020303"/>
              </a:rPr>
              <a:t>03.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51101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1600" y="76581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846" y="9797"/>
            <a:ext cx="18278154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MY"/>
            </a:p>
          </p:txBody>
        </p:sp>
      </p:grpSp>
      <p:sp>
        <p:nvSpPr>
          <p:cNvPr id="8" name="AutoShape 8"/>
          <p:cNvSpPr/>
          <p:nvPr/>
        </p:nvSpPr>
        <p:spPr>
          <a:xfrm rot="116208">
            <a:off x="3458605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" name="AutoShape 9"/>
          <p:cNvSpPr/>
          <p:nvPr/>
        </p:nvSpPr>
        <p:spPr>
          <a:xfrm rot="116208">
            <a:off x="6862093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" name="AutoShape 10"/>
          <p:cNvSpPr/>
          <p:nvPr/>
        </p:nvSpPr>
        <p:spPr>
          <a:xfrm rot="116208">
            <a:off x="10265581" y="5596618"/>
            <a:ext cx="563658" cy="0"/>
          </a:xfrm>
          <a:prstGeom prst="line">
            <a:avLst/>
          </a:prstGeom>
          <a:ln w="9525" cap="rnd">
            <a:solidFill>
              <a:srgbClr val="CE9A6B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1" name="Group 11"/>
          <p:cNvGrpSpPr/>
          <p:nvPr/>
        </p:nvGrpSpPr>
        <p:grpSpPr>
          <a:xfrm>
            <a:off x="1172131" y="2795033"/>
            <a:ext cx="1153886" cy="68578"/>
            <a:chOff x="0" y="0"/>
            <a:chExt cx="1538514" cy="914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040026" y="7341591"/>
            <a:ext cx="1954634" cy="1050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96327" y="1880880"/>
            <a:ext cx="3670767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096328" y="3184608"/>
            <a:ext cx="12661583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096327" y="6670475"/>
            <a:ext cx="1869758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269002" y="7341591"/>
            <a:ext cx="1954634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669426" y="7341591"/>
            <a:ext cx="1954634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069852" y="7341591"/>
            <a:ext cx="1954633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此处输入正文，正文尽量简明扼要，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2810"/>
              </a:lnSpc>
            </a:pPr>
            <a:r>
              <a:rPr lang="zh-CN" altLang="en-US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此处输入正文。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325303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7725728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126152" y="6670475"/>
            <a:ext cx="1869758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821631" y="5118168"/>
            <a:ext cx="2504395" cy="1066800"/>
            <a:chOff x="1038555" y="5072744"/>
            <a:chExt cx="2504395" cy="1066800"/>
          </a:xfrm>
        </p:grpSpPr>
        <p:sp>
          <p:nvSpPr>
            <p:cNvPr id="4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34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4124052" y="5118168"/>
            <a:ext cx="2504395" cy="1066800"/>
            <a:chOff x="1038555" y="5072744"/>
            <a:chExt cx="2504395" cy="1066800"/>
          </a:xfrm>
        </p:grpSpPr>
        <p:sp>
          <p:nvSpPr>
            <p:cNvPr id="39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0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7672931" y="5118168"/>
            <a:ext cx="2504395" cy="1066800"/>
            <a:chOff x="1038555" y="5072744"/>
            <a:chExt cx="2504395" cy="1066800"/>
          </a:xfrm>
        </p:grpSpPr>
        <p:sp>
          <p:nvSpPr>
            <p:cNvPr id="42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3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0983005" y="5118168"/>
            <a:ext cx="2504395" cy="1066800"/>
            <a:chOff x="1038555" y="5072744"/>
            <a:chExt cx="2504395" cy="1066800"/>
          </a:xfrm>
        </p:grpSpPr>
        <p:sp>
          <p:nvSpPr>
            <p:cNvPr id="45" name="Freeform 4"/>
            <p:cNvSpPr/>
            <p:nvPr/>
          </p:nvSpPr>
          <p:spPr>
            <a:xfrm>
              <a:off x="1038555" y="5072744"/>
              <a:ext cx="2504395" cy="1066800"/>
            </a:xfrm>
            <a:custGeom>
              <a:avLst/>
              <a:gdLst/>
              <a:ahLst/>
              <a:cxnLst/>
              <a:rect l="l" t="t" r="r" b="b"/>
              <a:pathLst>
                <a:path w="2504395" h="1066800">
                  <a:moveTo>
                    <a:pt x="0" y="0"/>
                  </a:moveTo>
                  <a:lnTo>
                    <a:pt x="2504395" y="0"/>
                  </a:lnTo>
                  <a:lnTo>
                    <a:pt x="2504395" y="1066800"/>
                  </a:lnTo>
                  <a:lnTo>
                    <a:pt x="0" y="106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  <p:sp>
          <p:nvSpPr>
            <p:cNvPr id="46" name="Freeform 9"/>
            <p:cNvSpPr/>
            <p:nvPr/>
          </p:nvSpPr>
          <p:spPr>
            <a:xfrm>
              <a:off x="1952140" y="5214921"/>
              <a:ext cx="677223" cy="782445"/>
            </a:xfrm>
            <a:custGeom>
              <a:avLst/>
              <a:gdLst/>
              <a:ahLst/>
              <a:cxnLst/>
              <a:rect l="l" t="t" r="r" b="b"/>
              <a:pathLst>
                <a:path w="1025813" h="937337">
                  <a:moveTo>
                    <a:pt x="0" y="0"/>
                  </a:moveTo>
                  <a:lnTo>
                    <a:pt x="1025813" y="0"/>
                  </a:lnTo>
                  <a:lnTo>
                    <a:pt x="1025813" y="937337"/>
                  </a:lnTo>
                  <a:lnTo>
                    <a:pt x="0" y="937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MY" dirty="0"/>
            </a:p>
          </p:txBody>
        </p:sp>
      </p:grpSp>
      <p:sp>
        <p:nvSpPr>
          <p:cNvPr id="7" name="矩形 6"/>
          <p:cNvSpPr/>
          <p:nvPr/>
        </p:nvSpPr>
        <p:spPr>
          <a:xfrm>
            <a:off x="13792200" y="1427480"/>
            <a:ext cx="4498340" cy="8859520"/>
          </a:xfrm>
          <a:prstGeom prst="rect">
            <a:avLst/>
          </a:prstGeom>
          <a:blipFill rotWithShape="1">
            <a:blip r:embed="rId1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4484915"/>
            <a:ext cx="18288000" cy="5802084"/>
            <a:chOff x="0" y="0"/>
            <a:chExt cx="24384000" cy="77361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7736078"/>
            </a:xfrm>
            <a:custGeom>
              <a:avLst/>
              <a:gdLst/>
              <a:ahLst/>
              <a:cxnLst/>
              <a:rect l="l" t="t" r="r" b="b"/>
              <a:pathLst>
                <a:path w="24384000" h="7736078">
                  <a:moveTo>
                    <a:pt x="0" y="0"/>
                  </a:moveTo>
                  <a:lnTo>
                    <a:pt x="24384000" y="0"/>
                  </a:lnTo>
                  <a:lnTo>
                    <a:pt x="24384000" y="7736078"/>
                  </a:lnTo>
                  <a:lnTo>
                    <a:pt x="0" y="7736078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CE9A6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grpSp>
        <p:nvGrpSpPr>
          <p:cNvPr id="4" name="Group 4"/>
          <p:cNvGrpSpPr/>
          <p:nvPr/>
        </p:nvGrpSpPr>
        <p:grpSpPr>
          <a:xfrm>
            <a:off x="1709400" y="2873829"/>
            <a:ext cx="3722914" cy="3722914"/>
            <a:chOff x="0" y="0"/>
            <a:chExt cx="4963886" cy="496388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7195800" y="2873829"/>
            <a:ext cx="3722914" cy="3722914"/>
            <a:chOff x="0" y="0"/>
            <a:chExt cx="4963886" cy="496388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682200" y="2873829"/>
            <a:ext cx="3722914" cy="3722914"/>
            <a:chOff x="0" y="0"/>
            <a:chExt cx="4963886" cy="496388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63922" cy="4963922"/>
            </a:xfrm>
            <a:custGeom>
              <a:avLst/>
              <a:gdLst/>
              <a:ahLst/>
              <a:cxnLst/>
              <a:rect l="l" t="t" r="r" b="b"/>
              <a:pathLst>
                <a:path w="4963922" h="4963922">
                  <a:moveTo>
                    <a:pt x="0" y="2481961"/>
                  </a:moveTo>
                  <a:cubicBezTo>
                    <a:pt x="0" y="1111250"/>
                    <a:pt x="1111250" y="0"/>
                    <a:pt x="2481961" y="0"/>
                  </a:cubicBezTo>
                  <a:cubicBezTo>
                    <a:pt x="3852672" y="0"/>
                    <a:pt x="4963922" y="1111250"/>
                    <a:pt x="4963922" y="2481961"/>
                  </a:cubicBezTo>
                  <a:cubicBezTo>
                    <a:pt x="4963922" y="3852672"/>
                    <a:pt x="3852672" y="4963922"/>
                    <a:pt x="2481961" y="4963922"/>
                  </a:cubicBezTo>
                  <a:cubicBezTo>
                    <a:pt x="1111250" y="4963922"/>
                    <a:pt x="0" y="3852672"/>
                    <a:pt x="0" y="2481961"/>
                  </a:cubicBezTo>
                  <a:close/>
                </a:path>
              </a:pathLst>
            </a:custGeom>
            <a:solidFill>
              <a:srgbClr val="CE9A6B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941733" y="2873829"/>
            <a:ext cx="3691967" cy="3691952"/>
            <a:chOff x="0" y="0"/>
            <a:chExt cx="6350000" cy="634997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5648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762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0512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626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2537639" y="7062359"/>
            <a:ext cx="401203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3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349095" y="7711704"/>
            <a:ext cx="4562610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以便观者可以清楚理解您所传达的信息。</a:t>
            </a:r>
            <a:endParaRPr lang="en-US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427548" y="2889310"/>
            <a:ext cx="3691967" cy="3691952"/>
            <a:chOff x="0" y="0"/>
            <a:chExt cx="6350000" cy="63499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2910215" y="2904792"/>
            <a:ext cx="3691967" cy="3691952"/>
            <a:chOff x="0" y="0"/>
            <a:chExt cx="6350000" cy="63499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4999" r="-24999"/>
              </a:stretch>
            </a:blipFill>
          </p:spPr>
        </p:sp>
      </p:grpSp>
      <p:pic>
        <p:nvPicPr>
          <p:cNvPr id="28" name="Picture 27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9998746" y="2475009"/>
            <a:ext cx="7719236" cy="1739386"/>
            <a:chOff x="0" y="0"/>
            <a:chExt cx="5997024" cy="1351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97067" cy="1351280"/>
            </a:xfrm>
            <a:custGeom>
              <a:avLst/>
              <a:gdLst/>
              <a:ahLst/>
              <a:cxnLst/>
              <a:rect l="l" t="t" r="r" b="b"/>
              <a:pathLst>
                <a:path w="5997067" h="1351280">
                  <a:moveTo>
                    <a:pt x="0" y="0"/>
                  </a:moveTo>
                  <a:lnTo>
                    <a:pt x="5997067" y="0"/>
                  </a:lnTo>
                  <a:lnTo>
                    <a:pt x="5997067" y="1351280"/>
                  </a:lnTo>
                  <a:lnTo>
                    <a:pt x="0" y="1351280"/>
                  </a:lnTo>
                  <a:close/>
                </a:path>
              </a:pathLst>
            </a:custGeom>
            <a:solidFill>
              <a:srgbClr val="CE9A6B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0197254" y="2620802"/>
            <a:ext cx="255633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zh-CN" altLang="en-US" sz="4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4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197254" y="3384779"/>
            <a:ext cx="665837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8F0EA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F8F0EA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674380" y="5072665"/>
            <a:ext cx="30792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分析一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433798" y="5651981"/>
            <a:ext cx="7084472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74380" y="6944439"/>
            <a:ext cx="307920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分析二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442609" y="7525464"/>
            <a:ext cx="7084472" cy="689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marL="285750" indent="-285750" algn="l">
              <a:lnSpc>
                <a:spcPts val="2810"/>
              </a:lnSpc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为了最终演示的良好效果，正文尽量简明扼要。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Freeform 13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graphicFrame>
        <p:nvGraphicFramePr>
          <p:cNvPr id="20" name="Chart 19"/>
          <p:cNvGraphicFramePr/>
          <p:nvPr/>
        </p:nvGraphicFramePr>
        <p:xfrm>
          <a:off x="380460" y="1768002"/>
          <a:ext cx="9283608" cy="78712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pic>
        <p:nvPicPr>
          <p:cNvPr id="18" name="Picture 17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微信图片_20240223172736"/>
          <p:cNvPicPr>
            <a:picLocks noChangeAspect="1"/>
          </p:cNvPicPr>
          <p:nvPr/>
        </p:nvPicPr>
        <p:blipFill>
          <a:blip r:embed="rId2"/>
          <a:srcRect t="6563" b="5198"/>
          <a:stretch>
            <a:fillRect/>
          </a:stretch>
        </p:blipFill>
        <p:spPr>
          <a:xfrm>
            <a:off x="-635" y="-635"/>
            <a:ext cx="18288635" cy="1025080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4815116" cy="6255464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2570888" y="5777722"/>
            <a:ext cx="1153885" cy="68578"/>
            <a:chOff x="0" y="0"/>
            <a:chExt cx="1538514" cy="914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2451975" y="2758583"/>
            <a:ext cx="2545596" cy="16492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0"/>
              </a:lnSpc>
            </a:pPr>
            <a:r>
              <a:rPr lang="en-US" sz="10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04.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16854" y="4373712"/>
            <a:ext cx="3787437" cy="110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标题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477166" y="6151101"/>
            <a:ext cx="6068712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200" y="7039304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310744" y="3273884"/>
            <a:ext cx="5725884" cy="5984416"/>
            <a:chOff x="0" y="0"/>
            <a:chExt cx="7634512" cy="797922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34477" cy="7979283"/>
            </a:xfrm>
            <a:custGeom>
              <a:avLst/>
              <a:gdLst/>
              <a:ahLst/>
              <a:cxnLst/>
              <a:rect l="l" t="t" r="r" b="b"/>
              <a:pathLst>
                <a:path w="7634477" h="7979283">
                  <a:moveTo>
                    <a:pt x="0" y="643382"/>
                  </a:moveTo>
                  <a:cubicBezTo>
                    <a:pt x="0" y="288036"/>
                    <a:pt x="288036" y="0"/>
                    <a:pt x="643382" y="0"/>
                  </a:cubicBezTo>
                  <a:lnTo>
                    <a:pt x="6991096" y="0"/>
                  </a:lnTo>
                  <a:cubicBezTo>
                    <a:pt x="7346442" y="0"/>
                    <a:pt x="7634477" y="288036"/>
                    <a:pt x="7634477" y="643382"/>
                  </a:cubicBezTo>
                  <a:lnTo>
                    <a:pt x="7634477" y="7335901"/>
                  </a:lnTo>
                  <a:cubicBezTo>
                    <a:pt x="7634477" y="7691247"/>
                    <a:pt x="7346442" y="7979283"/>
                    <a:pt x="6991096" y="7979283"/>
                  </a:cubicBezTo>
                  <a:lnTo>
                    <a:pt x="643382" y="7979283"/>
                  </a:lnTo>
                  <a:cubicBezTo>
                    <a:pt x="288036" y="7979283"/>
                    <a:pt x="0" y="7691120"/>
                    <a:pt x="0" y="7335901"/>
                  </a:cubicBezTo>
                  <a:close/>
                </a:path>
              </a:pathLst>
            </a:custGeom>
            <a:solidFill>
              <a:srgbClr val="E2CCAF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458684" y="3865392"/>
            <a:ext cx="3550025" cy="4410471"/>
          </a:xfrm>
          <a:custGeom>
            <a:avLst/>
            <a:gdLst/>
            <a:ahLst/>
            <a:cxnLst/>
            <a:rect l="l" t="t" r="r" b="b"/>
            <a:pathLst>
              <a:path w="3550025" h="4410471">
                <a:moveTo>
                  <a:pt x="0" y="0"/>
                </a:moveTo>
                <a:lnTo>
                  <a:pt x="3550024" y="0"/>
                </a:lnTo>
                <a:lnTo>
                  <a:pt x="3550024" y="4410471"/>
                </a:lnTo>
                <a:lnTo>
                  <a:pt x="0" y="441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25" r="-32825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374536" y="3865392"/>
            <a:ext cx="3550024" cy="4410471"/>
          </a:xfrm>
          <a:custGeom>
            <a:avLst/>
            <a:gdLst/>
            <a:ahLst/>
            <a:cxnLst/>
            <a:rect l="l" t="t" r="r" b="b"/>
            <a:pathLst>
              <a:path w="3550024" h="4410471">
                <a:moveTo>
                  <a:pt x="0" y="0"/>
                </a:moveTo>
                <a:lnTo>
                  <a:pt x="3550024" y="0"/>
                </a:lnTo>
                <a:lnTo>
                  <a:pt x="3550024" y="4410471"/>
                </a:lnTo>
                <a:lnTo>
                  <a:pt x="0" y="441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825" r="-32825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423664" y="3816964"/>
            <a:ext cx="3550024" cy="4502058"/>
          </a:xfrm>
          <a:custGeom>
            <a:avLst/>
            <a:gdLst/>
            <a:ahLst/>
            <a:cxnLst/>
            <a:rect l="l" t="t" r="r" b="b"/>
            <a:pathLst>
              <a:path w="3550024" h="4502058">
                <a:moveTo>
                  <a:pt x="0" y="0"/>
                </a:moveTo>
                <a:lnTo>
                  <a:pt x="3550025" y="0"/>
                </a:lnTo>
                <a:lnTo>
                  <a:pt x="3550025" y="4502058"/>
                </a:lnTo>
                <a:lnTo>
                  <a:pt x="0" y="4502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545" r="-34545"/>
            </a:stretch>
          </a:blipFill>
        </p:spPr>
      </p:sp>
      <p:sp>
        <p:nvSpPr>
          <p:cNvPr id="7" name="AutoShape 7"/>
          <p:cNvSpPr/>
          <p:nvPr/>
        </p:nvSpPr>
        <p:spPr>
          <a:xfrm rot="10038">
            <a:off x="5483317" y="5089750"/>
            <a:ext cx="326204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10038">
            <a:off x="5483317" y="7843836"/>
            <a:ext cx="326204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Freeform 9"/>
          <p:cNvSpPr/>
          <p:nvPr/>
        </p:nvSpPr>
        <p:spPr>
          <a:xfrm>
            <a:off x="4227668" y="2806006"/>
            <a:ext cx="720090" cy="720090"/>
          </a:xfrm>
          <a:custGeom>
            <a:avLst/>
            <a:gdLst/>
            <a:ahLst/>
            <a:cxnLst/>
            <a:rect l="l" t="t" r="r" b="b"/>
            <a:pathLst>
              <a:path w="720090" h="720090">
                <a:moveTo>
                  <a:pt x="0" y="0"/>
                </a:moveTo>
                <a:lnTo>
                  <a:pt x="720090" y="0"/>
                </a:lnTo>
                <a:lnTo>
                  <a:pt x="720090" y="720090"/>
                </a:lnTo>
                <a:lnTo>
                  <a:pt x="0" y="7200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04144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586064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580922" y="8393317"/>
            <a:ext cx="1514313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zh-CN" altLang="en-US" sz="2700" dirty="0">
                <a:solidFill>
                  <a:srgbClr val="CE9A6B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  <a:endParaRPr lang="en-US" sz="2700" dirty="0">
              <a:solidFill>
                <a:srgbClr val="CE9A6B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084876" y="8850517"/>
            <a:ext cx="1952849" cy="33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366796" y="8860042"/>
            <a:ext cx="1952849" cy="332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361655" y="8869567"/>
            <a:ext cx="1952849" cy="33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10"/>
              </a:lnSpc>
            </a:pPr>
            <a:r>
              <a:rPr lang="zh-CN" altLang="en-US" sz="1800" dirty="0">
                <a:solidFill>
                  <a:srgbClr val="80808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此处输入文字内容</a:t>
            </a:r>
            <a:endParaRPr lang="en-US" sz="1800" dirty="0">
              <a:solidFill>
                <a:srgbClr val="80808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506955" y="8144694"/>
            <a:ext cx="3106647" cy="551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介绍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481633" y="5295150"/>
            <a:ext cx="3508062" cy="2128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此处输入你的正文，文字是您思想的提炼，为了最终演示的良好效果，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endParaRPr lang="en-MY" altLang="zh-CN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 algn="l">
              <a:lnSpc>
                <a:spcPts val="2810"/>
              </a:lnSpc>
            </a:pPr>
            <a:r>
              <a:rPr lang="zh-CN" altLang="en-US" sz="18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70396" y="1988783"/>
            <a:ext cx="5735166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r>
              <a:rPr lang="zh-CN" altLang="en-US" sz="4800" dirty="0">
                <a:solidFill>
                  <a:srgbClr val="2C2E38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此处添加大标题</a:t>
            </a:r>
            <a:endParaRPr lang="en-US" sz="4800" dirty="0">
              <a:solidFill>
                <a:srgbClr val="2C2E38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24" name="Freeform 24"/>
          <p:cNvSpPr/>
          <p:nvPr/>
        </p:nvSpPr>
        <p:spPr>
          <a:xfrm>
            <a:off x="5506955" y="3893932"/>
            <a:ext cx="901942" cy="1014843"/>
          </a:xfrm>
          <a:custGeom>
            <a:avLst/>
            <a:gdLst/>
            <a:ahLst/>
            <a:cxnLst/>
            <a:rect l="l" t="t" r="r" b="b"/>
            <a:pathLst>
              <a:path w="901942" h="1014843">
                <a:moveTo>
                  <a:pt x="0" y="0"/>
                </a:moveTo>
                <a:lnTo>
                  <a:pt x="901942" y="0"/>
                </a:lnTo>
                <a:lnTo>
                  <a:pt x="901942" y="1014843"/>
                </a:lnTo>
                <a:lnTo>
                  <a:pt x="0" y="101484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3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6429375"/>
            <a:ext cx="18288000" cy="3857625"/>
            <a:chOff x="0" y="0"/>
            <a:chExt cx="24384000" cy="514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5143500"/>
            </a:xfrm>
            <a:custGeom>
              <a:avLst/>
              <a:gdLst/>
              <a:ahLst/>
              <a:cxnLst/>
              <a:rect l="l" t="t" r="r" b="b"/>
              <a:pathLst>
                <a:path w="24384000" h="5143500">
                  <a:moveTo>
                    <a:pt x="0" y="0"/>
                  </a:moveTo>
                  <a:lnTo>
                    <a:pt x="24384000" y="0"/>
                  </a:lnTo>
                  <a:lnTo>
                    <a:pt x="24384000" y="5143500"/>
                  </a:lnTo>
                  <a:lnTo>
                    <a:pt x="0" y="5143500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0"/>
                  </a:srgbClr>
                </a:gs>
                <a:gs pos="100000">
                  <a:srgbClr val="CE9A6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</p:grpSp>
      <p:sp>
        <p:nvSpPr>
          <p:cNvPr id="4" name="TextBox 4"/>
          <p:cNvSpPr txBox="1"/>
          <p:nvPr/>
        </p:nvSpPr>
        <p:spPr>
          <a:xfrm>
            <a:off x="1198724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198723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工作一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198723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595492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595492" y="7888283"/>
            <a:ext cx="218811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工作三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595492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97108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397108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工作二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97108" y="7385136"/>
            <a:ext cx="773470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93875" y="8424533"/>
            <a:ext cx="3295401" cy="1050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793875" y="7888283"/>
            <a:ext cx="218811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工作四</a:t>
            </a:r>
            <a:endParaRPr lang="en-US" sz="30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793875" y="7385136"/>
            <a:ext cx="773471" cy="363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0"/>
              </a:lnSpc>
            </a:pPr>
            <a:r>
              <a:rPr lang="en-US" sz="240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04</a:t>
            </a:r>
          </a:p>
        </p:txBody>
      </p:sp>
      <p:sp>
        <p:nvSpPr>
          <p:cNvPr id="16" name="AutoShape 16"/>
          <p:cNvSpPr/>
          <p:nvPr/>
        </p:nvSpPr>
        <p:spPr>
          <a:xfrm rot="5381973">
            <a:off x="4078003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AutoShape 17"/>
          <p:cNvSpPr/>
          <p:nvPr/>
        </p:nvSpPr>
        <p:spPr>
          <a:xfrm rot="5381973">
            <a:off x="8235742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rot="5381973">
            <a:off x="12495259" y="8290524"/>
            <a:ext cx="1816516" cy="0"/>
          </a:xfrm>
          <a:prstGeom prst="line">
            <a:avLst/>
          </a:prstGeom>
          <a:ln w="9525" cap="rnd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1198724" y="329946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800">
                <a:solidFill>
                  <a:srgbClr val="FFFFFF"/>
                </a:solidFill>
                <a:ea typeface="思源宋体-超粗体 Heavy"/>
              </a:rPr>
              <a:t>工作难点分析</a:t>
            </a:r>
          </a:p>
        </p:txBody>
      </p:sp>
      <p:sp>
        <p:nvSpPr>
          <p:cNvPr id="20" name="Freeform 20"/>
          <p:cNvSpPr/>
          <p:nvPr/>
        </p:nvSpPr>
        <p:spPr>
          <a:xfrm>
            <a:off x="0" y="1427583"/>
            <a:ext cx="18288000" cy="5035130"/>
          </a:xfrm>
          <a:custGeom>
            <a:avLst/>
            <a:gdLst/>
            <a:ahLst/>
            <a:cxnLst/>
            <a:rect l="l" t="t" r="r" b="b"/>
            <a:pathLst>
              <a:path w="18288000" h="5035130">
                <a:moveTo>
                  <a:pt x="0" y="0"/>
                </a:moveTo>
                <a:lnTo>
                  <a:pt x="18288000" y="0"/>
                </a:lnTo>
                <a:lnTo>
                  <a:pt x="18288000" y="5035129"/>
                </a:lnTo>
                <a:lnTo>
                  <a:pt x="0" y="50351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1069" b="-71069"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611762"/>
            <a:ext cx="18288000" cy="226848"/>
          </a:xfrm>
          <a:custGeom>
            <a:avLst/>
            <a:gdLst/>
            <a:ahLst/>
            <a:cxnLst/>
            <a:rect l="l" t="t" r="r" b="b"/>
            <a:pathLst>
              <a:path w="18288000" h="226848">
                <a:moveTo>
                  <a:pt x="0" y="0"/>
                </a:moveTo>
                <a:lnTo>
                  <a:pt x="18288000" y="0"/>
                </a:lnTo>
                <a:lnTo>
                  <a:pt x="18288000" y="226848"/>
                </a:lnTo>
                <a:lnTo>
                  <a:pt x="0" y="2268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637261" b="-2637261"/>
            </a:stretch>
          </a:blipFill>
        </p:spPr>
      </p:sp>
      <p:sp>
        <p:nvSpPr>
          <p:cNvPr id="3" name="AutoShape 3"/>
          <p:cNvSpPr/>
          <p:nvPr/>
        </p:nvSpPr>
        <p:spPr>
          <a:xfrm rot="5388243">
            <a:off x="-294840" y="4367704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rot="5388243">
            <a:off x="4319753" y="4367702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 rot="5388243">
            <a:off x="8968473" y="4274048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 rot="-5411756">
            <a:off x="6480659" y="7186898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rot="-5411756">
            <a:off x="11095251" y="7186897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 rot="-5411756">
            <a:off x="15743972" y="7093243"/>
            <a:ext cx="2785194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692388" y="4000500"/>
            <a:ext cx="3311361" cy="1047427"/>
            <a:chOff x="0" y="0"/>
            <a:chExt cx="4415148" cy="13965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415155" cy="1396619"/>
            </a:xfrm>
            <a:custGeom>
              <a:avLst/>
              <a:gdLst/>
              <a:ahLst/>
              <a:cxnLst/>
              <a:rect l="l" t="t" r="r" b="b"/>
              <a:pathLst>
                <a:path w="4415155" h="1396619">
                  <a:moveTo>
                    <a:pt x="0" y="0"/>
                  </a:moveTo>
                  <a:lnTo>
                    <a:pt x="4415155" y="0"/>
                  </a:lnTo>
                  <a:lnTo>
                    <a:pt x="4415155" y="1396619"/>
                  </a:lnTo>
                  <a:lnTo>
                    <a:pt x="0" y="1396619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3258228" y="6624558"/>
            <a:ext cx="3311361" cy="1047428"/>
            <a:chOff x="0" y="0"/>
            <a:chExt cx="4415148" cy="13965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15155" cy="1396619"/>
            </a:xfrm>
            <a:custGeom>
              <a:avLst/>
              <a:gdLst/>
              <a:ahLst/>
              <a:cxnLst/>
              <a:rect l="l" t="t" r="r" b="b"/>
              <a:pathLst>
                <a:path w="4415155" h="1396619">
                  <a:moveTo>
                    <a:pt x="0" y="0"/>
                  </a:moveTo>
                  <a:lnTo>
                    <a:pt x="4415155" y="0"/>
                  </a:lnTo>
                  <a:lnTo>
                    <a:pt x="4415155" y="1396619"/>
                  </a:lnTo>
                  <a:lnTo>
                    <a:pt x="0" y="1396619"/>
                  </a:lnTo>
                  <a:close/>
                </a:path>
              </a:pathLst>
            </a:custGeom>
            <a:solidFill>
              <a:srgbClr val="E2CCA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363377" y="5555536"/>
            <a:ext cx="283074" cy="283074"/>
            <a:chOff x="0" y="0"/>
            <a:chExt cx="377432" cy="377432"/>
          </a:xfrm>
        </p:grpSpPr>
        <p:sp>
          <p:nvSpPr>
            <p:cNvPr id="14" name="Freeform 14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7012097" y="5583188"/>
            <a:ext cx="283074" cy="283074"/>
            <a:chOff x="0" y="0"/>
            <a:chExt cx="377432" cy="377432"/>
          </a:xfrm>
        </p:grpSpPr>
        <p:sp>
          <p:nvSpPr>
            <p:cNvPr id="17" name="Freeform 17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0211060" y="5563880"/>
            <a:ext cx="283074" cy="283074"/>
            <a:chOff x="0" y="0"/>
            <a:chExt cx="377432" cy="377432"/>
          </a:xfrm>
        </p:grpSpPr>
        <p:sp>
          <p:nvSpPr>
            <p:cNvPr id="20" name="Freeform 20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7731552" y="5563880"/>
            <a:ext cx="283074" cy="283074"/>
            <a:chOff x="0" y="0"/>
            <a:chExt cx="377432" cy="377432"/>
          </a:xfrm>
        </p:grpSpPr>
        <p:sp>
          <p:nvSpPr>
            <p:cNvPr id="23" name="Freeform 23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5" name="Group 25"/>
          <p:cNvGrpSpPr/>
          <p:nvPr/>
        </p:nvGrpSpPr>
        <p:grpSpPr>
          <a:xfrm>
            <a:off x="5579235" y="5566810"/>
            <a:ext cx="283074" cy="283074"/>
            <a:chOff x="0" y="0"/>
            <a:chExt cx="377432" cy="377432"/>
          </a:xfrm>
        </p:grpSpPr>
        <p:sp>
          <p:nvSpPr>
            <p:cNvPr id="26" name="Freeform 26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46818" y="5543127"/>
            <a:ext cx="283074" cy="283074"/>
            <a:chOff x="0" y="0"/>
            <a:chExt cx="377432" cy="377432"/>
          </a:xfrm>
        </p:grpSpPr>
        <p:sp>
          <p:nvSpPr>
            <p:cNvPr id="29" name="Freeform 29"/>
            <p:cNvSpPr/>
            <p:nvPr/>
          </p:nvSpPr>
          <p:spPr>
            <a:xfrm>
              <a:off x="38100" y="38100"/>
              <a:ext cx="301244" cy="301244"/>
            </a:xfrm>
            <a:custGeom>
              <a:avLst/>
              <a:gdLst/>
              <a:ahLst/>
              <a:cxnLst/>
              <a:rect l="l" t="t" r="r" b="b"/>
              <a:pathLst>
                <a:path w="301244" h="301244">
                  <a:moveTo>
                    <a:pt x="0" y="150622"/>
                  </a:moveTo>
                  <a:cubicBezTo>
                    <a:pt x="0" y="67437"/>
                    <a:pt x="67437" y="0"/>
                    <a:pt x="150622" y="0"/>
                  </a:cubicBezTo>
                  <a:cubicBezTo>
                    <a:pt x="233807" y="0"/>
                    <a:pt x="301244" y="67437"/>
                    <a:pt x="301244" y="150622"/>
                  </a:cubicBezTo>
                  <a:cubicBezTo>
                    <a:pt x="301244" y="233807"/>
                    <a:pt x="233807" y="301244"/>
                    <a:pt x="150622" y="301244"/>
                  </a:cubicBezTo>
                  <a:cubicBezTo>
                    <a:pt x="67437" y="301244"/>
                    <a:pt x="0" y="233807"/>
                    <a:pt x="0" y="15062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377444" cy="377444"/>
            </a:xfrm>
            <a:custGeom>
              <a:avLst/>
              <a:gdLst/>
              <a:ahLst/>
              <a:cxnLst/>
              <a:rect l="l" t="t" r="r" b="b"/>
              <a:pathLst>
                <a:path w="377444" h="377444">
                  <a:moveTo>
                    <a:pt x="0" y="188722"/>
                  </a:moveTo>
                  <a:cubicBezTo>
                    <a:pt x="0" y="84455"/>
                    <a:pt x="84455" y="0"/>
                    <a:pt x="188722" y="0"/>
                  </a:cubicBezTo>
                  <a:lnTo>
                    <a:pt x="188722" y="38100"/>
                  </a:lnTo>
                  <a:lnTo>
                    <a:pt x="188722" y="0"/>
                  </a:lnTo>
                  <a:cubicBezTo>
                    <a:pt x="292989" y="0"/>
                    <a:pt x="377444" y="84455"/>
                    <a:pt x="377444" y="188722"/>
                  </a:cubicBezTo>
                  <a:lnTo>
                    <a:pt x="339344" y="188722"/>
                  </a:lnTo>
                  <a:lnTo>
                    <a:pt x="377444" y="188722"/>
                  </a:lnTo>
                  <a:cubicBezTo>
                    <a:pt x="377444" y="292989"/>
                    <a:pt x="292989" y="377444"/>
                    <a:pt x="188722" y="377444"/>
                  </a:cubicBezTo>
                  <a:lnTo>
                    <a:pt x="188722" y="339344"/>
                  </a:lnTo>
                  <a:lnTo>
                    <a:pt x="188722" y="377444"/>
                  </a:lnTo>
                  <a:cubicBezTo>
                    <a:pt x="84455" y="377444"/>
                    <a:pt x="0" y="292989"/>
                    <a:pt x="0" y="188722"/>
                  </a:cubicBezTo>
                  <a:lnTo>
                    <a:pt x="38100" y="188722"/>
                  </a:lnTo>
                  <a:lnTo>
                    <a:pt x="76200" y="188722"/>
                  </a:lnTo>
                  <a:lnTo>
                    <a:pt x="38100" y="188722"/>
                  </a:lnTo>
                  <a:lnTo>
                    <a:pt x="0" y="188722"/>
                  </a:lnTo>
                  <a:moveTo>
                    <a:pt x="76200" y="188722"/>
                  </a:moveTo>
                  <a:cubicBezTo>
                    <a:pt x="76200" y="209804"/>
                    <a:pt x="59182" y="226822"/>
                    <a:pt x="38100" y="226822"/>
                  </a:cubicBezTo>
                  <a:cubicBezTo>
                    <a:pt x="17018" y="226822"/>
                    <a:pt x="0" y="209804"/>
                    <a:pt x="0" y="188722"/>
                  </a:cubicBezTo>
                  <a:cubicBezTo>
                    <a:pt x="0" y="167640"/>
                    <a:pt x="17018" y="150622"/>
                    <a:pt x="38100" y="150622"/>
                  </a:cubicBezTo>
                  <a:cubicBezTo>
                    <a:pt x="59182" y="150622"/>
                    <a:pt x="76200" y="167640"/>
                    <a:pt x="76200" y="188722"/>
                  </a:cubicBezTo>
                  <a:cubicBezTo>
                    <a:pt x="76200" y="250825"/>
                    <a:pt x="126619" y="301244"/>
                    <a:pt x="188722" y="301244"/>
                  </a:cubicBezTo>
                  <a:cubicBezTo>
                    <a:pt x="250825" y="301244"/>
                    <a:pt x="301244" y="250825"/>
                    <a:pt x="301244" y="188722"/>
                  </a:cubicBezTo>
                  <a:cubicBezTo>
                    <a:pt x="301244" y="126619"/>
                    <a:pt x="250825" y="76200"/>
                    <a:pt x="188722" y="76200"/>
                  </a:cubicBezTo>
                  <a:lnTo>
                    <a:pt x="188722" y="38100"/>
                  </a:lnTo>
                  <a:lnTo>
                    <a:pt x="188722" y="76200"/>
                  </a:lnTo>
                  <a:cubicBezTo>
                    <a:pt x="126619" y="76200"/>
                    <a:pt x="76200" y="126619"/>
                    <a:pt x="76200" y="188722"/>
                  </a:cubicBezTo>
                  <a:close/>
                </a:path>
              </a:pathLst>
            </a:custGeom>
            <a:solidFill>
              <a:srgbClr val="0B5DB0"/>
            </a:solidFill>
          </p:spPr>
        </p:sp>
      </p:grpSp>
      <p:sp>
        <p:nvSpPr>
          <p:cNvPr id="31" name="TextBox 31"/>
          <p:cNvSpPr txBox="1"/>
          <p:nvPr/>
        </p:nvSpPr>
        <p:spPr>
          <a:xfrm>
            <a:off x="1221338" y="329946"/>
            <a:ext cx="4399572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60"/>
              </a:lnSpc>
            </a:pPr>
            <a:r>
              <a:rPr lang="en-US" sz="4800">
                <a:solidFill>
                  <a:srgbClr val="FFFFFF"/>
                </a:solidFill>
                <a:ea typeface="思源宋体-超粗体 Heavy"/>
              </a:rPr>
              <a:t>工作难点分析</a:t>
            </a:r>
          </a:p>
        </p:txBody>
      </p:sp>
      <p:sp>
        <p:nvSpPr>
          <p:cNvPr id="32" name="Freeform 32"/>
          <p:cNvSpPr/>
          <p:nvPr/>
        </p:nvSpPr>
        <p:spPr>
          <a:xfrm>
            <a:off x="13984845" y="1"/>
            <a:ext cx="4303156" cy="3652306"/>
          </a:xfrm>
          <a:custGeom>
            <a:avLst/>
            <a:gdLst/>
            <a:ahLst/>
            <a:cxnLst/>
            <a:rect l="l" t="t" r="r" b="b"/>
            <a:pathLst>
              <a:path w="4303156" h="3652306">
                <a:moveTo>
                  <a:pt x="0" y="0"/>
                </a:moveTo>
                <a:lnTo>
                  <a:pt x="4303157" y="0"/>
                </a:lnTo>
                <a:lnTo>
                  <a:pt x="4303157" y="3652307"/>
                </a:lnTo>
                <a:lnTo>
                  <a:pt x="0" y="365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0" y="7885683"/>
            <a:ext cx="2172897" cy="2401317"/>
          </a:xfrm>
          <a:custGeom>
            <a:avLst/>
            <a:gdLst/>
            <a:ahLst/>
            <a:cxnLst/>
            <a:rect l="l" t="t" r="r" b="b"/>
            <a:pathLst>
              <a:path w="2172897" h="2401317">
                <a:moveTo>
                  <a:pt x="0" y="0"/>
                </a:moveTo>
                <a:lnTo>
                  <a:pt x="2172897" y="0"/>
                </a:lnTo>
                <a:lnTo>
                  <a:pt x="2172897" y="2401317"/>
                </a:lnTo>
                <a:lnTo>
                  <a:pt x="0" y="24013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0" y="3"/>
            <a:ext cx="18288000" cy="1427580"/>
          </a:xfrm>
          <a:custGeom>
            <a:avLst/>
            <a:gdLst/>
            <a:ahLst/>
            <a:cxnLst/>
            <a:rect l="l" t="t" r="r" b="b"/>
            <a:pathLst>
              <a:path w="18288000" h="1427580">
                <a:moveTo>
                  <a:pt x="0" y="0"/>
                </a:moveTo>
                <a:lnTo>
                  <a:pt x="18288000" y="0"/>
                </a:lnTo>
                <a:lnTo>
                  <a:pt x="18288000" y="1427580"/>
                </a:lnTo>
                <a:lnTo>
                  <a:pt x="0" y="142758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150562" y="6943869"/>
            <a:ext cx="522003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150562" y="6395679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重点一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1384176" y="4346647"/>
            <a:ext cx="5220031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正文尽量简明扼要，内容可酌情增减文字，字字珠玑，以便观者可以清楚理解您所传达的信息。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384176" y="3798458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重点四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742767" y="4162793"/>
            <a:ext cx="3205171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2024/02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320400" y="6785823"/>
            <a:ext cx="3205171" cy="69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2024/03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02360" y="4319505"/>
            <a:ext cx="3302325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6402358" y="3771315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重点二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570646" y="6943869"/>
            <a:ext cx="3302325" cy="691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10"/>
              </a:lnSpc>
            </a:pPr>
            <a:r>
              <a:rPr lang="zh-CN" altLang="en-US" sz="1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正文尽量简明扼要，内容可酌情增减文字。</a:t>
            </a:r>
            <a:endParaRPr lang="en-MY" altLang="zh-CN" sz="1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8570644" y="6395679"/>
            <a:ext cx="2761747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zh-CN" altLang="en-US" sz="3000" dirty="0">
                <a:solidFill>
                  <a:srgbClr val="595959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重点三</a:t>
            </a:r>
            <a:endParaRPr lang="en-US" sz="3000" dirty="0">
              <a:solidFill>
                <a:srgbClr val="595959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3318410" y="381111"/>
            <a:ext cx="4399572" cy="72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60"/>
              </a:lnSpc>
            </a:pPr>
            <a:r>
              <a:rPr lang="zh-CN" altLang="en-US" sz="4800" dirty="0">
                <a:solidFill>
                  <a:srgbClr val="404040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请输入标题</a:t>
            </a:r>
            <a:endParaRPr lang="en-US" sz="4800" dirty="0">
              <a:solidFill>
                <a:srgbClr val="404040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9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微信图片_20240223163422(1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/>
          <a:srcRect l="8980" r="8537"/>
          <a:stretch>
            <a:fillRect/>
          </a:stretch>
        </p:blipFill>
        <p:spPr>
          <a:xfrm>
            <a:off x="0" y="0"/>
            <a:ext cx="18288000" cy="10287635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791212" y="2135854"/>
            <a:ext cx="15353788" cy="6817646"/>
            <a:chOff x="0" y="0"/>
            <a:chExt cx="19753488" cy="83406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753453" cy="8340598"/>
            </a:xfrm>
            <a:custGeom>
              <a:avLst/>
              <a:gdLst/>
              <a:ahLst/>
              <a:cxnLst/>
              <a:rect l="l" t="t" r="r" b="b"/>
              <a:pathLst>
                <a:path w="19753453" h="8340598">
                  <a:moveTo>
                    <a:pt x="0" y="0"/>
                  </a:moveTo>
                  <a:lnTo>
                    <a:pt x="19753453" y="0"/>
                  </a:lnTo>
                  <a:lnTo>
                    <a:pt x="19753453" y="8340598"/>
                  </a:lnTo>
                  <a:lnTo>
                    <a:pt x="0" y="8340598"/>
                  </a:ln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2680708" y="6198226"/>
            <a:ext cx="1153886" cy="68578"/>
            <a:chOff x="0" y="0"/>
            <a:chExt cx="1538514" cy="914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8478" cy="91440"/>
            </a:xfrm>
            <a:custGeom>
              <a:avLst/>
              <a:gdLst/>
              <a:ahLst/>
              <a:cxnLst/>
              <a:rect l="l" t="t" r="r" b="b"/>
              <a:pathLst>
                <a:path w="1538478" h="91440">
                  <a:moveTo>
                    <a:pt x="0" y="0"/>
                  </a:moveTo>
                  <a:lnTo>
                    <a:pt x="1538478" y="0"/>
                  </a:lnTo>
                  <a:lnTo>
                    <a:pt x="1538478" y="91440"/>
                  </a:lnTo>
                  <a:lnTo>
                    <a:pt x="0" y="9144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2666812" y="2876242"/>
            <a:ext cx="6789735" cy="220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感谢聆听</a:t>
            </a:r>
            <a:endParaRPr lang="en-MY" altLang="zh-CN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  <a:p>
            <a:pPr>
              <a:lnSpc>
                <a:spcPts val="8640"/>
              </a:lnSpc>
            </a:pPr>
            <a:r>
              <a:rPr lang="zh-CN" altLang="en-US" sz="72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请批评指正！</a:t>
            </a:r>
            <a:endParaRPr lang="en-US" sz="72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9" name="Freeform 9"/>
          <p:cNvSpPr/>
          <p:nvPr/>
        </p:nvSpPr>
        <p:spPr>
          <a:xfrm flipH="1">
            <a:off x="15457981" y="-10000"/>
            <a:ext cx="4414112" cy="4664990"/>
          </a:xfrm>
          <a:custGeom>
            <a:avLst/>
            <a:gdLst/>
            <a:ahLst/>
            <a:cxnLst/>
            <a:rect l="l" t="t" r="r" b="b"/>
            <a:pathLst>
              <a:path w="4414112" h="4664990">
                <a:moveTo>
                  <a:pt x="4414111" y="0"/>
                </a:moveTo>
                <a:lnTo>
                  <a:pt x="0" y="0"/>
                </a:lnTo>
                <a:lnTo>
                  <a:pt x="0" y="4664990"/>
                </a:lnTo>
                <a:lnTo>
                  <a:pt x="4414111" y="4664990"/>
                </a:lnTo>
                <a:lnTo>
                  <a:pt x="441411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795008" y="5315797"/>
            <a:ext cx="6814181" cy="602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lang="zh-CN" altLang="en-US" sz="40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副标题</a:t>
            </a:r>
            <a:endParaRPr lang="en-US" sz="40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33108" y="6571604"/>
            <a:ext cx="2517859" cy="409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汇报人：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833108" y="7105006"/>
            <a:ext cx="3491492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zh-CN" altLang="en-US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汇报时间：</a:t>
            </a:r>
            <a:r>
              <a:rPr lang="en-MY" altLang="zh-CN" sz="2700" dirty="0">
                <a:solidFill>
                  <a:srgbClr val="FFFFFF"/>
                </a:solidFill>
                <a:latin typeface="HYXuanSong 75J" panose="00020600040101010101" pitchFamily="18" charset="-122"/>
                <a:ea typeface="HYXuanSong 75J" panose="00020600040101010101" pitchFamily="18" charset="-122"/>
              </a:rPr>
              <a:t>XXX</a:t>
            </a:r>
            <a:endParaRPr lang="en-US" sz="2700" dirty="0">
              <a:solidFill>
                <a:srgbClr val="FFFFFF"/>
              </a:solidFill>
              <a:latin typeface="HYXuanSong 75J" panose="00020600040101010101" pitchFamily="18" charset="-122"/>
              <a:ea typeface="HYXuanSong 75J" panose="00020600040101010101" pitchFamily="18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6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20000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706" y="114300"/>
            <a:ext cx="4465329" cy="15209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VhYTc2Zjk2M2IwNjcxNjk1NjA5NTJmZTU1Y2RjNW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1662</Words>
  <Application>Microsoft Office PowerPoint</Application>
  <PresentationFormat>自定义</PresentationFormat>
  <Paragraphs>187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等线</vt:lpstr>
      <vt:lpstr>楷体</vt:lpstr>
      <vt:lpstr>Arial</vt:lpstr>
      <vt:lpstr>HYXuanSong 75J</vt:lpstr>
      <vt:lpstr>思源宋体-超粗体 Heavy</vt:lpstr>
      <vt:lpstr>Times New Roman Medium</vt:lpstr>
      <vt:lpstr>Calibri</vt:lpstr>
      <vt:lpstr>Times New Roman Ultra-Bold</vt:lpstr>
      <vt:lpstr>思源宋体-超粗体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ZHEJIANG UNIVERSITY</dc:title>
  <dc:creator>Yit San Chung</dc:creator>
  <cp:lastModifiedBy>929891779@qq.com</cp:lastModifiedBy>
  <cp:revision>41</cp:revision>
  <dcterms:created xsi:type="dcterms:W3CDTF">2006-08-16T00:00:00Z</dcterms:created>
  <dcterms:modified xsi:type="dcterms:W3CDTF">2025-10-26T02:07:08Z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63A5D370AAAF4D5494D8761FD374493A_13</vt:lpwstr>
  </property>
  <property fmtid="{D5CDD505-2E9C-101B-9397-08002B2CF9AE}" pid="3" name="KSOProductBuildVer">
    <vt:lpwstr>2052-12.1.0.21541</vt:lpwstr>
  </property>
</Properties>
</file>