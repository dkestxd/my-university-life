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6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0.xml" ContentType="application/vnd.openxmlformats-officedocument.presentationml.tags+xml"/>
  <Override PartName="/ppt/notesSlides/notesSlide1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3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0.xml" ContentType="application/vnd.openxmlformats-officedocument.presentationml.tags+xml"/>
  <Override PartName="/ppt/notesSlides/notesSlide1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8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9.xml" ContentType="application/vnd.openxmlformats-officedocument.presentationml.notesSlide+xml"/>
  <Override PartName="/ppt/tags/tag78.xml" ContentType="application/vnd.openxmlformats-officedocument.presentationml.tags+xml"/>
  <Override PartName="/ppt/notesSlides/notesSlide20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3.xml" ContentType="application/vnd.openxmlformats-officedocument.presentationml.notesSlide+xml"/>
  <Override PartName="/ppt/tags/tag95.xml" ContentType="application/vnd.openxmlformats-officedocument.presentationml.tags+xml"/>
  <Override PartName="/ppt/notesSlides/notesSlide24.xml" ContentType="application/vnd.openxmlformats-officedocument.presentationml.notesSlide+xml"/>
  <Override PartName="/ppt/tags/tag96.xml" ContentType="application/vnd.openxmlformats-officedocument.presentationml.tags+xml"/>
  <Override PartName="/ppt/notesSlides/notesSlide25.xml" ContentType="application/vnd.openxmlformats-officedocument.presentationml.notesSlide+xml"/>
  <Override PartName="/ppt/tags/tag97.xml" ContentType="application/vnd.openxmlformats-officedocument.presentationml.tags+xml"/>
  <Override PartName="/ppt/notesSlides/notesSlide26.xml" ContentType="application/vnd.openxmlformats-officedocument.presentationml.notesSlide+xml"/>
  <Override PartName="/ppt/tags/tag98.xml" ContentType="application/vnd.openxmlformats-officedocument.presentationml.tags+xml"/>
  <Override PartName="/ppt/notesSlides/notesSlide27.xml" ContentType="application/vnd.openxmlformats-officedocument.presentationml.notesSlide+xml"/>
  <Override PartName="/ppt/tags/tag99.xml" ContentType="application/vnd.openxmlformats-officedocument.presentationml.tags+xml"/>
  <Override PartName="/ppt/notesSlides/notesSlide28.xml" ContentType="application/vnd.openxmlformats-officedocument.presentationml.notesSlide+xml"/>
  <Override PartName="/ppt/tags/tag100.xml" ContentType="application/vnd.openxmlformats-officedocument.presentationml.tags+xml"/>
  <Override PartName="/ppt/notesSlides/notesSlide29.xml" ContentType="application/vnd.openxmlformats-officedocument.presentationml.notesSlide+xml"/>
  <Override PartName="/ppt/tags/tag101.xml" ContentType="application/vnd.openxmlformats-officedocument.presentationml.tags+xml"/>
  <Override PartName="/ppt/notesSlides/notesSlide30.xml" ContentType="application/vnd.openxmlformats-officedocument.presentationml.notesSlide+xml"/>
  <Override PartName="/ppt/tags/tag102.xml" ContentType="application/vnd.openxmlformats-officedocument.presentationml.tags+xml"/>
  <Override PartName="/ppt/notesSlides/notesSlide31.xml" ContentType="application/vnd.openxmlformats-officedocument.presentationml.notesSlide+xml"/>
  <Override PartName="/ppt/tags/tag103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7"/>
  </p:notesMasterIdLst>
  <p:handoutMasterIdLst>
    <p:handoutMasterId r:id="rId38"/>
  </p:handoutMasterIdLst>
  <p:sldIdLst>
    <p:sldId id="11089395" r:id="rId3"/>
    <p:sldId id="11089396" r:id="rId4"/>
    <p:sldId id="11089397" r:id="rId5"/>
    <p:sldId id="11089398" r:id="rId6"/>
    <p:sldId id="11089399" r:id="rId7"/>
    <p:sldId id="11089400" r:id="rId8"/>
    <p:sldId id="11089401" r:id="rId9"/>
    <p:sldId id="11089454" r:id="rId10"/>
    <p:sldId id="11089402" r:id="rId11"/>
    <p:sldId id="11089405" r:id="rId12"/>
    <p:sldId id="11089433" r:id="rId13"/>
    <p:sldId id="11089455" r:id="rId14"/>
    <p:sldId id="11089434" r:id="rId15"/>
    <p:sldId id="11089435" r:id="rId16"/>
    <p:sldId id="11089436" r:id="rId17"/>
    <p:sldId id="11089456" r:id="rId18"/>
    <p:sldId id="11089406" r:id="rId19"/>
    <p:sldId id="11089418" r:id="rId20"/>
    <p:sldId id="11089458" r:id="rId21"/>
    <p:sldId id="11089457" r:id="rId22"/>
    <p:sldId id="11089439" r:id="rId23"/>
    <p:sldId id="11089481" r:id="rId24"/>
    <p:sldId id="11089410" r:id="rId25"/>
    <p:sldId id="11089411" r:id="rId26"/>
    <p:sldId id="11089482" r:id="rId27"/>
    <p:sldId id="11089429" r:id="rId28"/>
    <p:sldId id="11089437" r:id="rId29"/>
    <p:sldId id="11089438" r:id="rId30"/>
    <p:sldId id="11089440" r:id="rId31"/>
    <p:sldId id="11089441" r:id="rId32"/>
    <p:sldId id="11089442" r:id="rId33"/>
    <p:sldId id="11089443" r:id="rId34"/>
    <p:sldId id="11089444" r:id="rId35"/>
    <p:sldId id="11089413" r:id="rId36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5ACBF0"/>
          </p15:clr>
        </p15:guide>
        <p15:guide id="2" pos="3894" userDrawn="1">
          <p15:clr>
            <a:srgbClr val="5ACBF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CB"/>
    <a:srgbClr val="FFE699"/>
    <a:srgbClr val="023E87"/>
    <a:srgbClr val="A6C39D"/>
    <a:srgbClr val="C7D9C1"/>
    <a:srgbClr val="F9F5F2"/>
    <a:srgbClr val="FAF6F3"/>
    <a:srgbClr val="02CBC2"/>
    <a:srgbClr val="83BDC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62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968" y="176"/>
      </p:cViewPr>
      <p:guideLst>
        <p:guide orient="horz" pos="2202"/>
        <p:guide pos="389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8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4C79A-2EFE-4DF7-BD2A-C53B195246E6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69F6A-64FA-4D66-B466-FB4DEF389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CD7375B-645A-4B83-93EC-8A3A766EDBB5}" type="datetimeFigureOut">
              <a:rPr lang="zh-CN" altLang="en-US" smtClean="0"/>
              <a:t>2025/4/8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EBF8934-6CED-46F5-B7D3-6CA10363127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机器人在与球分离时与再接住球时，</a:t>
            </a:r>
            <a:r>
              <a:rPr lang="zh-CN" altLang="en-US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球必须至少距离地面700mm，并且收球意味着重新使球处于被机器控制的状态</a:t>
            </a:r>
            <a:r>
              <a:rPr lang="zh-CN" altLang="en-US"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，机器人在从防守区进入进攻区，必须现在防守区内运球一次；而且在投篮前必须至少运球一次，或者说传球成功后该机器人成功控球后不改变位置直接投篮。</a:t>
            </a:r>
          </a:p>
          <a:p>
            <a:endParaRPr lang="zh-CN" altLang="en-US"/>
          </a:p>
          <a:p>
            <a:r>
              <a:rPr lang="zh-CN" altLang="en-US">
                <a:latin typeface="Calibri" panose="020F0502020204030204" pitchFamily="34" charset="0"/>
                <a:ea typeface="宋体" pitchFamily="2" charset="-122"/>
                <a:sym typeface="+mn-ea"/>
              </a:rPr>
              <a:t>传球</a:t>
            </a:r>
            <a:r>
              <a:rPr lang="en-US" altLang="zh-CN">
                <a:latin typeface="Calibri" panose="020F0502020204030204" pitchFamily="34" charset="0"/>
                <a:ea typeface="宋体" pitchFamily="2" charset="-122"/>
                <a:sym typeface="+mn-ea"/>
              </a:rPr>
              <a:t>  </a:t>
            </a:r>
            <a:r>
              <a:rPr lang="zh-CN" altLang="en-US">
                <a:latin typeface="Calibri" panose="020F0502020204030204" pitchFamily="34" charset="0"/>
                <a:ea typeface="宋体" pitchFamily="2" charset="-122"/>
                <a:sym typeface="+mn-ea"/>
              </a:rPr>
              <a:t>接球机器人必须在进攻区接球如果严格按照传球规则来的话，比较难操作，单是稳稳接住就很难了。因此，我们可以不做严格的传球，只将球向接球机器人的方向发射出去，然后接球机器人去找，虽然没能得到传球成功所加的分，但是也实现了传球的功能与结果。</a:t>
            </a:r>
          </a:p>
          <a:p>
            <a:endParaRPr lang="zh-CN" altLang="en-US">
              <a:latin typeface="Calibri" panose="020F0502020204030204" pitchFamily="34" charset="0"/>
              <a:ea typeface="宋体" pitchFamily="2" charset="-122"/>
              <a:sym typeface="+mn-ea"/>
            </a:endParaRPr>
          </a:p>
          <a:p>
            <a:r>
              <a:rPr lang="zh-CN" altLang="en-US">
                <a:latin typeface="Calibri" panose="020F0502020204030204" pitchFamily="34" charset="0"/>
                <a:ea typeface="宋体" pitchFamily="2" charset="-122"/>
                <a:sym typeface="+mn-ea"/>
              </a:rPr>
              <a:t>投篮</a:t>
            </a:r>
            <a:r>
              <a:rPr lang="en-US" altLang="zh-CN">
                <a:latin typeface="Calibri" panose="020F0502020204030204" pitchFamily="34" charset="0"/>
                <a:ea typeface="宋体" pitchFamily="2" charset="-122"/>
                <a:sym typeface="+mn-ea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投篮前至少运球一次或者控球后不改变位置便可直接投篮，后者一般是针对传球后接住，有些困难，遂用前者。而且投篮只能在进攻区进行。</a:t>
            </a:r>
            <a:endParaRPr lang="en-US" altLang="zh-CN">
              <a:latin typeface="Calibri" panose="020F0502020204030204" pitchFamily="34" charset="0"/>
              <a:ea typeface="宋体" pitchFamily="2" charset="-122"/>
              <a:cs typeface="宋体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这涉及两个问题，一个是怎么保持机器人朝向恰好正对篮筐；另一个是已知两个点可以做出的抛物线有无数条，怎么确定哪一条可行。</a:t>
            </a:r>
            <a:endParaRPr lang="en-US" altLang="zh-CN">
              <a:latin typeface="Calibri" panose="020F0502020204030204" pitchFamily="34" charset="0"/>
              <a:ea typeface="宋体" pitchFamily="2" charset="-122"/>
              <a:cs typeface="宋体" pitchFamily="2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问题一：将投篮的部分与运动底盘分开用两个轴，</a:t>
            </a:r>
            <a:r>
              <a:rPr lang="en-US" altLang="zh-CN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单独用一个舵机进行转向，但是这样的话，需要多加一个对朝向角度的操作，以便在传球的时候控制方向 </a:t>
            </a:r>
            <a:endParaRPr lang="en-US" altLang="zh-CN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  <a:cs typeface="宋体" pitchFamily="2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  <a:cs typeface="宋体" pitchFamily="2" charset="-122"/>
                <a:sym typeface="+mn-ea"/>
              </a:rPr>
              <a:t>问题二：以篮筐为圆心的同心圆弧上，其投篮最佳的发球角度与速度是相同的，只有投篮朝向不同。通过人工训练实验积攒数据与经验</a:t>
            </a:r>
          </a:p>
          <a:p>
            <a:endParaRPr lang="zh-CN" altLang="en-US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  <a:cs typeface="宋体" pitchFamily="2" charset="-122"/>
              <a:sym typeface="+mn-ea"/>
            </a:endParaRPr>
          </a:p>
          <a:p>
            <a:pPr indent="0" fontAlgn="auto" hangingPunct="0">
              <a:lnSpc>
                <a:spcPts val="168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宋体" pitchFamily="2" charset="-122"/>
                <a:cs typeface="+mn-ea"/>
                <a:sym typeface="+mn-lt"/>
              </a:rPr>
              <a:t>扣篮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宋体" pitchFamily="2" charset="-122"/>
                <a:cs typeface="+mn-ea"/>
                <a:sym typeface="+mn-lt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宋体" pitchFamily="2" charset="-122"/>
                <a:cs typeface="+mn-ea"/>
                <a:sym typeface="+mn-lt"/>
              </a:rPr>
              <a:t>在限制区，独立跳起，在空中放开球，放开球时球没有向上的速度，放开球前机器人不能钩住篮筐，放开球后可以钩住篮筐</a:t>
            </a:r>
            <a:r>
              <a:rPr lang="zh-CN" altLang="en-US" dirty="0">
                <a:latin typeface="Calibri" panose="020F0502020204030204" pitchFamily="34" charset="0"/>
                <a:ea typeface="宋体" pitchFamily="2" charset="-122"/>
                <a:cs typeface="+mn-ea"/>
                <a:sym typeface="+mn-lt"/>
              </a:rPr>
              <a:t>。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宋体" pitchFamily="2" charset="-122"/>
              <a:cs typeface="+mn-ea"/>
              <a:sym typeface="+mn-lt"/>
            </a:endParaRPr>
          </a:p>
          <a:p>
            <a:pPr indent="0" fontAlgn="auto" hangingPunct="0">
              <a:lnSpc>
                <a:spcPts val="168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  <a:cs typeface="+mn-ea"/>
                <a:sym typeface="+mn-lt"/>
              </a:rPr>
              <a:t>时间、速度、精度、机器人结构强度？ </a:t>
            </a:r>
          </a:p>
          <a:p>
            <a:endParaRPr lang="zh-CN" altLang="en-US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  <a:cs typeface="宋体" pitchFamily="2" charset="-122"/>
            </a:endParaRPr>
          </a:p>
          <a:p>
            <a:endParaRPr lang="zh-CN" altLang="en-US">
              <a:latin typeface="Calibri" panose="020F0502020204030204" pitchFamily="34" charset="0"/>
              <a:ea typeface="宋体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只能在防守区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，抢断、盖帽，阻挡和拦截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，守方去捡球。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或者攻方投篮失败，</a:t>
            </a:r>
            <a:r>
              <a:rPr lang="en-US" altLang="zh-CN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守方去抢篮板球守方只能在防守区防守，但是捡球不属于防守动作，因此可以在进攻区内捡球然后运球一次后投篮。</a:t>
            </a:r>
            <a:r>
              <a:rPr lang="zh-CN" altLang="en-US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因此我们防守的大致思路为一个机器人使攻方丢球，另一个机器人捡球。 </a:t>
            </a:r>
            <a:endParaRPr lang="zh-CN" altLang="en-US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抢断在传球时比较容易实现，但是传球次数少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甚至没有；运球次数也少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比较难。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当球放在机器面前时，由机器正面前的可以从中间开合的、约三分之一球形状的容器，从地面铲起球，通过升降台升到一米多的位置自由落体(这里具体多高要根据实际反弹实验来确定)，使球能够反弹至少700mm，放开球后，容器马上移动到700mm处待命，通过计算大概时间，在球第一次弹起在容器上方时，容器合并，实现接球。</a:t>
            </a:r>
            <a:endParaRPr lang="en-US" altLang="zh-CN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zh-CN" altLang="en-US"/>
          </a:p>
          <a:p>
            <a:r>
              <a:rPr lang="zh-CN" altLang="en-US">
                <a:latin typeface="微软雅黑" charset="0"/>
                <a:ea typeface="微软雅黑" charset="0"/>
                <a:sym typeface="+mn-ea"/>
              </a:rPr>
              <a:t>投球较为麻烦。因此只设定三个值，操作者目测将机器人移动到对应位置，调整朝向，按下对应的速度与角度组合，便可投篮。</a:t>
            </a:r>
          </a:p>
          <a:p>
            <a:r>
              <a:rPr lang="zh-CN" altLang="en-US">
                <a:latin typeface="微软雅黑" charset="0"/>
                <a:ea typeface="微软雅黑" charset="0"/>
                <a:sym typeface="+mn-ea"/>
              </a:rPr>
              <a:t>对每个位置，对投篮的最佳抛物线的要求都需要进行大量的实验</a:t>
            </a:r>
            <a:endParaRPr lang="zh-CN" altLang="en-US"/>
          </a:p>
          <a:p>
            <a:endParaRPr lang="zh-CN" altLang="en-US">
              <a:latin typeface="微软雅黑" charset="0"/>
              <a:ea typeface="微软雅黑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，才能使球不向上运动而进筐，但是出球时机一定要把握准，至于出球速度，不会太快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则需要大量现场实验来得到最佳速度</a:t>
            </a:r>
          </a:p>
          <a:p>
            <a:r>
              <a:rPr lang="zh-CN" altLang="en-US"/>
              <a:t>最终</a:t>
            </a:r>
            <a:r>
              <a:rPr lang="en-US" altLang="zh-CN"/>
              <a:t>，</a:t>
            </a:r>
            <a:r>
              <a:rPr lang="zh-CN" altLang="en-US"/>
              <a:t>我们还得出了一个结论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先介绍不同的大模块</a:t>
            </a:r>
            <a:r>
              <a:rPr lang="en-US" altLang="zh-CN"/>
              <a:t> </a:t>
            </a:r>
            <a:r>
              <a:rPr lang="zh-CN" altLang="en-US"/>
              <a:t>讲一下防守的网</a:t>
            </a:r>
            <a:r>
              <a:rPr lang="en-US" altLang="zh-CN"/>
              <a:t> </a:t>
            </a:r>
            <a:r>
              <a:rPr lang="zh-CN" altLang="en-US"/>
              <a:t>升降机稳固性</a:t>
            </a:r>
            <a:r>
              <a:rPr lang="en-US" altLang="zh-CN"/>
              <a:t>，</a:t>
            </a:r>
            <a:r>
              <a:rPr lang="zh-CN" altLang="en-US"/>
              <a:t>并且需要迅速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电池位置</a:t>
            </a:r>
            <a:r>
              <a:rPr lang="en-US" altLang="zh-CN"/>
              <a:t> </a:t>
            </a:r>
            <a:r>
              <a:rPr lang="zh-CN" altLang="en-US"/>
              <a:t>通信天线</a:t>
            </a:r>
            <a:r>
              <a:rPr lang="en-US" altLang="zh-CN"/>
              <a:t> </a:t>
            </a:r>
            <a:r>
              <a:rPr lang="zh-CN" altLang="en-US"/>
              <a:t>红外传感器</a:t>
            </a:r>
            <a:r>
              <a:rPr lang="en-US" altLang="zh-CN"/>
              <a:t> </a:t>
            </a:r>
            <a:r>
              <a:rPr lang="zh-CN" altLang="en-US"/>
              <a:t>激光雷达</a:t>
            </a:r>
            <a:r>
              <a:rPr lang="en-US" altLang="zh-CN"/>
              <a:t> </a:t>
            </a:r>
            <a:r>
              <a:rPr lang="zh-CN" altLang="en-US"/>
              <a:t>暂时没有用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投篮器直连升降台，可由容器直接上升直到投篮器内，投篮器横截面为扇形，扇形一边竖直，安装用于加速的摩擦轮，传球器也可升降移动，用于找球送到投篮器中，球被送入投篮器时紧贴扇形竖直一边，最外圆弧有可以独立控制的引导器，可以控制伸出扇形的长度，用来引导其发射角度。最小发射角度为水平发射，用于平抛传球。</a:t>
            </a:r>
          </a:p>
          <a:p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投篮前，预先设定好摩擦轮的转速与引导器的伸出长度，便可控制投篮速度与角度。而投篮的设置，只设置三组速度与角度。依次以二分线内切圆、外接圆、三分线近似圆弧为参考，涵盖了限制区、二分区与三分区的投篮。</a:t>
            </a:r>
            <a:r>
              <a:rPr lang="zh-CN" altLang="en-US" b="1">
                <a:latin typeface="微软雅黑" charset="0"/>
                <a:ea typeface="微软雅黑" charset="0"/>
                <a:sym typeface="+mn-ea"/>
              </a:rPr>
              <a:t>对每个位置，对投篮的最佳抛物线的要求都需要进行大量的实验</a:t>
            </a:r>
            <a:r>
              <a:rPr lang="zh-CN" altLang="en-US">
                <a:latin typeface="微软雅黑" charset="0"/>
                <a:ea typeface="微软雅黑" charset="0"/>
                <a:sym typeface="+mn-ea"/>
              </a:rPr>
              <a:t>，较为麻烦。因此只设定三个值，操作者目测将机器人移动到对应位置，调整朝向，按下对应的速度与角度组合，便可投篮。</a:t>
            </a:r>
          </a:p>
          <a:p>
            <a:r>
              <a:rPr lang="zh-CN" altLang="en-US">
                <a:latin typeface="微软雅黑" charset="0"/>
                <a:ea typeface="微软雅黑" charset="0"/>
                <a:sym typeface="+mn-ea"/>
              </a:rPr>
              <a:t>发射轮用密度很大的轮子</a:t>
            </a:r>
            <a:endParaRPr lang="zh-CN" altLang="en-US">
              <a:latin typeface="微软雅黑" charset="0"/>
              <a:ea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latin typeface="微软雅黑" charset="0"/>
                <a:ea typeface="微软雅黑" charset="0"/>
                <a:sym typeface="+mn-ea"/>
              </a:rPr>
              <a:t>可以看出模块化后的机器人，对于各项功能都能很好实现。其中运动模块，投篮器与扣篮、运球模块相互配合基本完成机器人的篮球功能；传感器红外测距使两个升降机的使用更加精准。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cs typeface="微软雅黑" panose="020B0503020204020204" pitchFamily="34" charset="-122"/>
                <a:sym typeface="+mn-ea"/>
              </a:rPr>
              <a:t>通过数字通信模块从操作的前端将实时数据传输给cpu进行处理。</a:t>
            </a:r>
            <a:endParaRPr lang="zh-CN" altLang="en-US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共</a:t>
            </a:r>
            <a:r>
              <a:rPr lang="en-US" altLang="zh-CN"/>
              <a:t>25</a:t>
            </a:r>
            <a:r>
              <a:rPr lang="zh-CN" altLang="en-US"/>
              <a:t>个电机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一些参数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写的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投篮涉及的算法与传球大致上一样，只是参数不同，而且需要计算抛物线。这里略去计算抛物线的过程，因为过两点的抛物线有无数条，但是最合适的数据需要经过大量实验才能确定。投篮时固定投篮器</a:t>
            </a:r>
            <a:endParaRPr lang="zh-CN" altLang="en-US"/>
          </a:p>
          <a:p>
            <a:r>
              <a:rPr lang="zh-CN" altLang="en-US">
                <a:sym typeface="+mn-ea"/>
              </a:rPr>
              <a:t>上升到最高。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10"/>
          <p:cNvSpPr/>
          <p:nvPr userDrawn="1"/>
        </p:nvSpPr>
        <p:spPr>
          <a:xfrm>
            <a:off x="0" y="6623222"/>
            <a:ext cx="12192000" cy="234778"/>
          </a:xfrm>
          <a:custGeom>
            <a:avLst/>
            <a:gdLst>
              <a:gd name="connsiteX0" fmla="*/ 11618439 w 12192000"/>
              <a:gd name="connsiteY0" fmla="*/ 0 h 234778"/>
              <a:gd name="connsiteX1" fmla="*/ 12192000 w 12192000"/>
              <a:gd name="connsiteY1" fmla="*/ 0 h 234778"/>
              <a:gd name="connsiteX2" fmla="*/ 12192000 w 12192000"/>
              <a:gd name="connsiteY2" fmla="*/ 234778 h 234778"/>
              <a:gd name="connsiteX3" fmla="*/ 11559745 w 12192000"/>
              <a:gd name="connsiteY3" fmla="*/ 234778 h 234778"/>
              <a:gd name="connsiteX4" fmla="*/ 0 w 12192000"/>
              <a:gd name="connsiteY4" fmla="*/ 0 h 234778"/>
              <a:gd name="connsiteX5" fmla="*/ 9261388 w 12192000"/>
              <a:gd name="connsiteY5" fmla="*/ 0 h 234778"/>
              <a:gd name="connsiteX6" fmla="*/ 9202694 w 12192000"/>
              <a:gd name="connsiteY6" fmla="*/ 234778 h 234778"/>
              <a:gd name="connsiteX7" fmla="*/ 0 w 12192000"/>
              <a:gd name="connsiteY7" fmla="*/ 234778 h 2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34778">
                <a:moveTo>
                  <a:pt x="11618439" y="0"/>
                </a:moveTo>
                <a:lnTo>
                  <a:pt x="12192000" y="0"/>
                </a:lnTo>
                <a:lnTo>
                  <a:pt x="12192000" y="234778"/>
                </a:lnTo>
                <a:lnTo>
                  <a:pt x="11559745" y="234778"/>
                </a:lnTo>
                <a:close/>
                <a:moveTo>
                  <a:pt x="0" y="0"/>
                </a:moveTo>
                <a:lnTo>
                  <a:pt x="9261388" y="0"/>
                </a:lnTo>
                <a:lnTo>
                  <a:pt x="9202694" y="234778"/>
                </a:lnTo>
                <a:lnTo>
                  <a:pt x="0" y="234778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760571" y="6559904"/>
            <a:ext cx="209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b="1" spc="300" dirty="0">
                <a:solidFill>
                  <a:srgbClr val="0040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pitchFamily="34" charset="-122"/>
              </a:rPr>
              <a:t>求是创新</a:t>
            </a:r>
          </a:p>
        </p:txBody>
      </p:sp>
      <p:sp>
        <p:nvSpPr>
          <p:cNvPr id="11" name="平行四边形 10"/>
          <p:cNvSpPr/>
          <p:nvPr userDrawn="1"/>
        </p:nvSpPr>
        <p:spPr>
          <a:xfrm>
            <a:off x="8392954" y="6623222"/>
            <a:ext cx="1691640" cy="234778"/>
          </a:xfrm>
          <a:prstGeom prst="parallelogram">
            <a:avLst/>
          </a:pr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944" y="382129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0" name="内容占位符 19"/>
          <p:cNvSpPr>
            <a:spLocks noGrp="1"/>
          </p:cNvSpPr>
          <p:nvPr>
            <p:ph sz="quarter" idx="10" hasCustomPrompt="1"/>
          </p:nvPr>
        </p:nvSpPr>
        <p:spPr>
          <a:xfrm>
            <a:off x="1080943" y="447155"/>
            <a:ext cx="5403257" cy="388090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zh-CN" altLang="en-US" sz="2800" b="1" kern="12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368" y="302701"/>
            <a:ext cx="3067051" cy="676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395460" y="6120245"/>
            <a:ext cx="22449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hangingPunct="0"/>
            <a:r>
              <a:rPr lang="zh-CN" altLang="en-US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勤 学  </a:t>
            </a:r>
            <a:r>
              <a:rPr lang="en-US" altLang="zh-CN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</a:t>
            </a:r>
            <a:r>
              <a:rPr lang="zh-CN" altLang="en-US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 德  </a:t>
            </a:r>
            <a:r>
              <a:rPr lang="en-US" altLang="zh-CN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</a:t>
            </a:r>
            <a:r>
              <a:rPr lang="zh-CN" altLang="en-US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明 辨  </a:t>
            </a:r>
            <a:r>
              <a:rPr lang="en-US" altLang="zh-CN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</a:t>
            </a:r>
            <a:r>
              <a:rPr lang="zh-CN" altLang="en-US" sz="1200" b="0" dirty="0">
                <a:solidFill>
                  <a:srgbClr val="023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笃 实</a:t>
            </a:r>
          </a:p>
        </p:txBody>
      </p:sp>
      <p:sp>
        <p:nvSpPr>
          <p:cNvPr id="8" name="矩形 7"/>
          <p:cNvSpPr/>
          <p:nvPr userDrawn="1"/>
        </p:nvSpPr>
        <p:spPr>
          <a:xfrm flipH="1">
            <a:off x="11767457" y="6041128"/>
            <a:ext cx="1993900" cy="342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260722" y="223663"/>
            <a:ext cx="535928" cy="420052"/>
          </a:xfrm>
          <a:prstGeom prst="parallelogram">
            <a:avLst>
              <a:gd name="adj" fmla="val 58676"/>
            </a:avLst>
          </a:prstGeom>
          <a:gradFill flip="none" rotWithShape="1">
            <a:gsLst>
              <a:gs pos="100000">
                <a:srgbClr val="FAF6F3"/>
              </a:gs>
              <a:gs pos="19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0" y="223663"/>
            <a:ext cx="434536" cy="420052"/>
          </a:xfrm>
          <a:custGeom>
            <a:avLst/>
            <a:gdLst>
              <a:gd name="connsiteX0" fmla="*/ 571500 w 571500"/>
              <a:gd name="connsiteY0" fmla="*/ 0 h 552450"/>
              <a:gd name="connsiteX1" fmla="*/ 228600 w 571500"/>
              <a:gd name="connsiteY1" fmla="*/ 552450 h 552450"/>
              <a:gd name="connsiteX2" fmla="*/ 0 w 571500"/>
              <a:gd name="connsiteY2" fmla="*/ 552450 h 552450"/>
              <a:gd name="connsiteX3" fmla="*/ 0 w 571500"/>
              <a:gd name="connsiteY3" fmla="*/ 9062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552450">
                <a:moveTo>
                  <a:pt x="571500" y="0"/>
                </a:moveTo>
                <a:lnTo>
                  <a:pt x="228600" y="552450"/>
                </a:lnTo>
                <a:lnTo>
                  <a:pt x="0" y="552450"/>
                </a:lnTo>
                <a:lnTo>
                  <a:pt x="0" y="9062"/>
                </a:lnTo>
                <a:close/>
              </a:path>
            </a:pathLst>
          </a:custGeom>
          <a:gradFill flip="none" rotWithShape="1">
            <a:gsLst>
              <a:gs pos="100000">
                <a:srgbClr val="FAF6F3"/>
              </a:gs>
              <a:gs pos="45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1" y="222082"/>
            <a:ext cx="2650118" cy="584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8B3CF-81EF-499D-A143-F6A6335B1B5F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03F2-B476-4DB8-B4FD-C0BD10B838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3E8761-A14E-4E6E-B19C-D0ABAA7747FF}" type="datetimeFigureOut">
              <a:rPr lang="zh-CN" altLang="en-US" smtClean="0"/>
              <a:t>2025/4/8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3410F0F-E077-475B-A7EC-03CDC27F5B8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6.png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3.png"/><Relationship Id="rId2" Type="http://schemas.openxmlformats.org/officeDocument/2006/relationships/tags" Target="../tags/tag10.xml"/><Relationship Id="rId16" Type="http://schemas.openxmlformats.org/officeDocument/2006/relationships/image" Target="../media/image7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6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image" Target="../media/image11.svg"/><Relationship Id="rId2" Type="http://schemas.openxmlformats.org/officeDocument/2006/relationships/tags" Target="../tags/tag25.xml"/><Relationship Id="rId16" Type="http://schemas.openxmlformats.org/officeDocument/2006/relationships/image" Target="../media/image10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9.jpeg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14.jpe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13.jpeg"/><Relationship Id="rId5" Type="http://schemas.openxmlformats.org/officeDocument/2006/relationships/tags" Target="../tags/tag40.xml"/><Relationship Id="rId10" Type="http://schemas.openxmlformats.org/officeDocument/2006/relationships/image" Target="../media/image12.jpeg"/><Relationship Id="rId4" Type="http://schemas.openxmlformats.org/officeDocument/2006/relationships/tags" Target="../tags/tag39.xml"/><Relationship Id="rId9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6.png"/><Relationship Id="rId5" Type="http://schemas.openxmlformats.org/officeDocument/2006/relationships/image" Target="../media/image12.jpe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image" Target="../media/image28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7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56.xml"/><Relationship Id="rId7" Type="http://schemas.openxmlformats.org/officeDocument/2006/relationships/image" Target="../media/image29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7.xml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0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notesSlide" Target="../notesSlides/notesSlide1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74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9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2" Type="http://schemas.openxmlformats.org/officeDocument/2006/relationships/tags" Target="../tags/tag80.xml"/><Relationship Id="rId16" Type="http://schemas.openxmlformats.org/officeDocument/2006/relationships/notesSlide" Target="../notesSlides/notesSlide21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6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7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8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9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Relationship Id="rId5" Type="http://schemas.openxmlformats.org/officeDocument/2006/relationships/image" Target="../media/image6.png"/><Relationship Id="rId4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/>
          <p:nvPr/>
        </p:nvSpPr>
        <p:spPr>
          <a:xfrm>
            <a:off x="0" y="37486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79995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3" name="图片 2" descr="/Users/leimohan/Library/Containers/com.kingsoft.wpsoffice.mac/Data/tmp/kaimatting/20250407233841/output_aiMatting_20250407234028.pngoutput_aiMatting_202504072340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-30162" y="105410"/>
            <a:ext cx="4553585" cy="6646545"/>
          </a:xfrm>
          <a:prstGeom prst="rect">
            <a:avLst/>
          </a:prstGeom>
        </p:spPr>
      </p:pic>
      <p:sp>
        <p:nvSpPr>
          <p:cNvPr id="13" name="任意多边形 28"/>
          <p:cNvSpPr/>
          <p:nvPr/>
        </p:nvSpPr>
        <p:spPr>
          <a:xfrm>
            <a:off x="1" y="79971"/>
            <a:ext cx="12191999" cy="5146364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523740" y="808990"/>
            <a:ext cx="7425690" cy="23069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篮球机器人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展示汇报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11666008" y="6342590"/>
            <a:ext cx="198866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12874" y="6450583"/>
            <a:ext cx="25200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55904" y="6558575"/>
            <a:ext cx="10897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071203" y="3253585"/>
            <a:ext cx="659511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汇报人：雷沫含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组员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雷沫含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陈思攀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李丰克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赵彬序</a:t>
            </a:r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010" y="5736137"/>
            <a:ext cx="4538210" cy="100172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287734" y="4207042"/>
            <a:ext cx="189738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2025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日</a:t>
            </a:r>
          </a:p>
        </p:txBody>
      </p:sp>
      <p:sp>
        <p:nvSpPr>
          <p:cNvPr id="2" name="矩形 1"/>
          <p:cNvSpPr/>
          <p:nvPr/>
        </p:nvSpPr>
        <p:spPr>
          <a:xfrm>
            <a:off x="4035425" y="5594350"/>
            <a:ext cx="692785" cy="1113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255645" y="6384925"/>
            <a:ext cx="1178560" cy="473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2598420" y="6558280"/>
            <a:ext cx="692785" cy="299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3085465" y="6461760"/>
            <a:ext cx="252730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 rot="600000">
            <a:off x="774065" y="6460490"/>
            <a:ext cx="894715" cy="276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3981450" y="5334635"/>
            <a:ext cx="873760" cy="70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整体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0" y="9525"/>
            <a:ext cx="4738370" cy="6646545"/>
          </a:xfrm>
          <a:prstGeom prst="rect">
            <a:avLst/>
          </a:prstGeom>
        </p:spPr>
      </p:pic>
      <p:sp>
        <p:nvSpPr>
          <p:cNvPr id="31" name="任意多边形 40"/>
          <p:cNvSpPr/>
          <p:nvPr/>
        </p:nvSpPr>
        <p:spPr>
          <a:xfrm>
            <a:off x="-4916" y="-13801"/>
            <a:ext cx="6172494" cy="6858000"/>
          </a:xfrm>
          <a:custGeom>
            <a:avLst/>
            <a:gdLst>
              <a:gd name="connsiteX0" fmla="*/ 0 w 6147785"/>
              <a:gd name="connsiteY0" fmla="*/ 0 h 6858000"/>
              <a:gd name="connsiteX1" fmla="*/ 5563177 w 6147785"/>
              <a:gd name="connsiteY1" fmla="*/ 0 h 6858000"/>
              <a:gd name="connsiteX2" fmla="*/ 5682835 w 6147785"/>
              <a:gd name="connsiteY2" fmla="*/ 353639 h 6858000"/>
              <a:gd name="connsiteX3" fmla="*/ 6147785 w 6147785"/>
              <a:gd name="connsiteY3" fmla="*/ 3429000 h 6858000"/>
              <a:gd name="connsiteX4" fmla="*/ 5682835 w 6147785"/>
              <a:gd name="connsiteY4" fmla="*/ 6504361 h 6858000"/>
              <a:gd name="connsiteX5" fmla="*/ 5563177 w 6147785"/>
              <a:gd name="connsiteY5" fmla="*/ 6858000 h 6858000"/>
              <a:gd name="connsiteX6" fmla="*/ 0 w 614778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47785" h="6858000">
                <a:moveTo>
                  <a:pt x="0" y="0"/>
                </a:moveTo>
                <a:lnTo>
                  <a:pt x="5563177" y="0"/>
                </a:lnTo>
                <a:lnTo>
                  <a:pt x="5682835" y="353639"/>
                </a:lnTo>
                <a:cubicBezTo>
                  <a:pt x="5985004" y="1325145"/>
                  <a:pt x="6147785" y="2358063"/>
                  <a:pt x="6147785" y="3429000"/>
                </a:cubicBezTo>
                <a:cubicBezTo>
                  <a:pt x="6147785" y="4499938"/>
                  <a:pt x="5985004" y="5532856"/>
                  <a:pt x="5682835" y="6504361"/>
                </a:cubicBezTo>
                <a:lnTo>
                  <a:pt x="5563177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4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5546445" y="0"/>
            <a:ext cx="6645555" cy="6867525"/>
          </a:xfrm>
          <a:custGeom>
            <a:avLst/>
            <a:gdLst>
              <a:gd name="connsiteX0" fmla="*/ 0 w 6645555"/>
              <a:gd name="connsiteY0" fmla="*/ 0 h 6858000"/>
              <a:gd name="connsiteX1" fmla="*/ 6645555 w 6645555"/>
              <a:gd name="connsiteY1" fmla="*/ 0 h 6858000"/>
              <a:gd name="connsiteX2" fmla="*/ 6645555 w 6645555"/>
              <a:gd name="connsiteY2" fmla="*/ 6858000 h 6858000"/>
              <a:gd name="connsiteX3" fmla="*/ 0 w 6645555"/>
              <a:gd name="connsiteY3" fmla="*/ 6858000 h 6858000"/>
              <a:gd name="connsiteX4" fmla="*/ 119658 w 6645555"/>
              <a:gd name="connsiteY4" fmla="*/ 6504361 h 6858000"/>
              <a:gd name="connsiteX5" fmla="*/ 584608 w 6645555"/>
              <a:gd name="connsiteY5" fmla="*/ 3429000 h 6858000"/>
              <a:gd name="connsiteX6" fmla="*/ 119658 w 6645555"/>
              <a:gd name="connsiteY6" fmla="*/ 353639 h 6858000"/>
              <a:gd name="connsiteX7" fmla="*/ 0 w 6645555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555" h="6858000">
                <a:moveTo>
                  <a:pt x="0" y="0"/>
                </a:moveTo>
                <a:lnTo>
                  <a:pt x="6645555" y="0"/>
                </a:lnTo>
                <a:lnTo>
                  <a:pt x="6645555" y="6858000"/>
                </a:lnTo>
                <a:lnTo>
                  <a:pt x="0" y="6858000"/>
                </a:lnTo>
                <a:lnTo>
                  <a:pt x="119658" y="6504361"/>
                </a:lnTo>
                <a:cubicBezTo>
                  <a:pt x="421827" y="5532856"/>
                  <a:pt x="584608" y="4499938"/>
                  <a:pt x="584608" y="3429000"/>
                </a:cubicBezTo>
                <a:cubicBezTo>
                  <a:pt x="584608" y="2358063"/>
                  <a:pt x="421827" y="1325145"/>
                  <a:pt x="119658" y="35363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3205" y="2351382"/>
            <a:ext cx="25488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目 录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368" y="302701"/>
            <a:ext cx="3067051" cy="676997"/>
          </a:xfrm>
          <a:prstGeom prst="rect">
            <a:avLst/>
          </a:prstGeom>
        </p:spPr>
      </p:pic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5550535" y="925195"/>
            <a:ext cx="714375" cy="714375"/>
          </a:xfrm>
          <a:prstGeom prst="ellipse">
            <a:avLst/>
          </a:prstGeom>
          <a:solidFill>
            <a:srgbClr val="003F87"/>
          </a:solidFill>
          <a:ln w="38100">
            <a:solidFill>
              <a:srgbClr val="C9D8E6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Medium" panose="020B0600000000000000" pitchFamily="34" charset="-122"/>
              </a:rPr>
              <a:t>01</a:t>
            </a: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303010" y="970280"/>
            <a:ext cx="3251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比赛策略</a:t>
            </a: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341110" y="1448435"/>
            <a:ext cx="35731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规则解读、对应策略、功能需要</a:t>
            </a:r>
          </a:p>
        </p:txBody>
      </p:sp>
      <p:sp>
        <p:nvSpPr>
          <p:cNvPr id="16" name="椭圆 15"/>
          <p:cNvSpPr/>
          <p:nvPr>
            <p:custDataLst>
              <p:tags r:id="rId5"/>
            </p:custDataLst>
          </p:nvPr>
        </p:nvSpPr>
        <p:spPr>
          <a:xfrm>
            <a:off x="5550535" y="5217795"/>
            <a:ext cx="714375" cy="714375"/>
          </a:xfrm>
          <a:prstGeom prst="ellipse">
            <a:avLst/>
          </a:prstGeom>
          <a:solidFill>
            <a:srgbClr val="003F87"/>
          </a:solidFill>
          <a:ln w="38100">
            <a:solidFill>
              <a:srgbClr val="C9D8E6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Medium" panose="020B0600000000000000" pitchFamily="34" charset="-122"/>
              </a:rPr>
              <a:t>04</a:t>
            </a: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6303010" y="5262880"/>
            <a:ext cx="3251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算法框架</a:t>
            </a:r>
          </a:p>
        </p:txBody>
      </p:sp>
      <p:sp>
        <p:nvSpPr>
          <p:cNvPr id="19" name="椭圆 18"/>
          <p:cNvSpPr/>
          <p:nvPr>
            <p:custDataLst>
              <p:tags r:id="rId7"/>
            </p:custDataLst>
          </p:nvPr>
        </p:nvSpPr>
        <p:spPr>
          <a:xfrm>
            <a:off x="5755640" y="2356485"/>
            <a:ext cx="714375" cy="714375"/>
          </a:xfrm>
          <a:prstGeom prst="ellipse">
            <a:avLst/>
          </a:prstGeom>
          <a:solidFill>
            <a:srgbClr val="003F87"/>
          </a:solidFill>
          <a:ln w="38100">
            <a:solidFill>
              <a:srgbClr val="C9D8E6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Medium" panose="020B0600000000000000" pitchFamily="34" charset="-122"/>
              </a:rPr>
              <a:t>02</a:t>
            </a: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6508115" y="2400935"/>
            <a:ext cx="3251200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模型设计</a:t>
            </a: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5755640" y="3787140"/>
            <a:ext cx="714375" cy="714375"/>
          </a:xfrm>
          <a:prstGeom prst="ellipse">
            <a:avLst/>
          </a:prstGeom>
          <a:solidFill>
            <a:srgbClr val="003F87"/>
          </a:solidFill>
          <a:ln w="38100">
            <a:solidFill>
              <a:srgbClr val="C9D8E6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Medium" panose="020B0600000000000000" pitchFamily="34" charset="-122"/>
              </a:rPr>
              <a:t>03</a:t>
            </a: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6508115" y="3831590"/>
            <a:ext cx="3579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电气硬件</a:t>
            </a: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571615" y="2894965"/>
            <a:ext cx="37350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根据需要的功能以及规则设计模型</a:t>
            </a: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6539865" y="4315460"/>
            <a:ext cx="40868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电机的参数以及分布、安装目的、系统框架</a:t>
            </a: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6336030" y="5742940"/>
            <a:ext cx="3251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实现功能的代码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615"/>
            <a:ext cx="12192000" cy="6858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" y="785264"/>
            <a:ext cx="12192000" cy="4346250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-1" y="-615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73663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612874" y="6342589"/>
            <a:ext cx="252000" cy="215985"/>
            <a:chOff x="11612874" y="6342589"/>
            <a:chExt cx="252000" cy="21598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11666008" y="6342589"/>
              <a:ext cx="198866" cy="0"/>
            </a:xfrm>
            <a:prstGeom prst="line">
              <a:avLst/>
            </a:prstGeom>
            <a:ln w="31750" cap="rnd">
              <a:solidFill>
                <a:srgbClr val="C9D8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1612874" y="6450582"/>
              <a:ext cx="252000" cy="0"/>
            </a:xfrm>
            <a:prstGeom prst="line">
              <a:avLst/>
            </a:prstGeom>
            <a:ln w="31750" cap="rnd">
              <a:solidFill>
                <a:srgbClr val="C9D8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1755904" y="6558574"/>
              <a:ext cx="108970" cy="0"/>
            </a:xfrm>
            <a:prstGeom prst="line">
              <a:avLst/>
            </a:prstGeom>
            <a:ln w="31750" cap="rnd">
              <a:solidFill>
                <a:srgbClr val="C9D8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8185"/>
            <a:ext cx="12192000" cy="1662786"/>
          </a:xfrm>
          <a:prstGeom prst="rect">
            <a:avLst/>
          </a:prstGeom>
          <a:gradFill>
            <a:gsLst>
              <a:gs pos="0">
                <a:srgbClr val="84A6DD">
                  <a:alpha val="0"/>
                </a:srgbClr>
              </a:gs>
              <a:gs pos="54000">
                <a:srgbClr val="769AD8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任意多边形 28"/>
          <p:cNvSpPr/>
          <p:nvPr/>
        </p:nvSpPr>
        <p:spPr>
          <a:xfrm>
            <a:off x="1" y="-25400"/>
            <a:ext cx="12191999" cy="5071291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543265" y="3576056"/>
            <a:ext cx="1105469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908871" y="73663"/>
            <a:ext cx="3479725" cy="33229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0 1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708872" y="2403511"/>
            <a:ext cx="677425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汉仪文黑" panose="00020600040101010101" charset="-122"/>
                <a:ea typeface="汉仪文黑" panose="00020600040101010101" charset="-122"/>
                <a:cs typeface="+mn-cs"/>
                <a:sym typeface="思源黑体 CN Normal" panose="020B0400000000000000" pitchFamily="34" charset="-122"/>
              </a:rPr>
              <a:t>比赛策略</a:t>
            </a: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0" y="5698037"/>
            <a:ext cx="4538210" cy="1001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831"/>
          <a:stretch>
            <a:fillRect/>
          </a:stretch>
        </p:blipFill>
        <p:spPr>
          <a:xfrm>
            <a:off x="-18872" y="915998"/>
            <a:ext cx="12210872" cy="2998777"/>
          </a:xfrm>
          <a:prstGeom prst="rect">
            <a:avLst/>
          </a:prstGeom>
        </p:spPr>
      </p:pic>
      <p:cxnSp>
        <p:nvCxnSpPr>
          <p:cNvPr id="36" name="íślíḋè-Straight Connector 22"/>
          <p:cNvCxnSpPr/>
          <p:nvPr>
            <p:custDataLst>
              <p:tags r:id="rId1"/>
            </p:custDataLst>
          </p:nvPr>
        </p:nvCxnSpPr>
        <p:spPr>
          <a:xfrm>
            <a:off x="4253442" y="2834123"/>
            <a:ext cx="0" cy="3563375"/>
          </a:xfrm>
          <a:prstGeom prst="line">
            <a:avLst/>
          </a:prstGeom>
          <a:solidFill>
            <a:schemeClr val="bg1"/>
          </a:solidFill>
          <a:ln>
            <a:solidFill>
              <a:srgbClr val="C7D9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íślíḋè-Straight Connector 23"/>
          <p:cNvCxnSpPr/>
          <p:nvPr>
            <p:custDataLst>
              <p:tags r:id="rId2"/>
            </p:custDataLst>
          </p:nvPr>
        </p:nvCxnSpPr>
        <p:spPr>
          <a:xfrm>
            <a:off x="7938558" y="2834123"/>
            <a:ext cx="0" cy="3563375"/>
          </a:xfrm>
          <a:prstGeom prst="line">
            <a:avLst/>
          </a:prstGeom>
          <a:solidFill>
            <a:schemeClr val="bg1"/>
          </a:solidFill>
          <a:ln>
            <a:solidFill>
              <a:srgbClr val="C7D9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îṣļîḑé-文本框 18"/>
          <p:cNvSpPr txBox="1"/>
          <p:nvPr>
            <p:custDataLst>
              <p:tags r:id="rId3"/>
            </p:custDataLst>
          </p:nvPr>
        </p:nvSpPr>
        <p:spPr>
          <a:xfrm>
            <a:off x="1248410" y="4454525"/>
            <a:ext cx="2632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比赛规则解析</a:t>
            </a:r>
          </a:p>
        </p:txBody>
      </p:sp>
      <p:sp>
        <p:nvSpPr>
          <p:cNvPr id="55" name="îṣļîḑé-文本框 19"/>
          <p:cNvSpPr txBox="1"/>
          <p:nvPr>
            <p:custDataLst>
              <p:tags r:id="rId4"/>
            </p:custDataLst>
          </p:nvPr>
        </p:nvSpPr>
        <p:spPr>
          <a:xfrm>
            <a:off x="1285875" y="4811395"/>
            <a:ext cx="23221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sp>
        <p:nvSpPr>
          <p:cNvPr id="59" name="îṣļîḑé-文本框 18"/>
          <p:cNvSpPr txBox="1"/>
          <p:nvPr>
            <p:custDataLst>
              <p:tags r:id="rId5"/>
            </p:custDataLst>
          </p:nvPr>
        </p:nvSpPr>
        <p:spPr>
          <a:xfrm>
            <a:off x="4906645" y="4454525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竞赛策略</a:t>
            </a:r>
          </a:p>
        </p:txBody>
      </p:sp>
      <p:sp>
        <p:nvSpPr>
          <p:cNvPr id="62" name="îṣļîḑé-文本框 18"/>
          <p:cNvSpPr txBox="1"/>
          <p:nvPr>
            <p:custDataLst>
              <p:tags r:id="rId6"/>
            </p:custDataLst>
          </p:nvPr>
        </p:nvSpPr>
        <p:spPr>
          <a:xfrm>
            <a:off x="8578215" y="4454525"/>
            <a:ext cx="23221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机器人设计思路</a:t>
            </a:r>
          </a:p>
        </p:txBody>
      </p:sp>
      <p:sp>
        <p:nvSpPr>
          <p:cNvPr id="22" name="任意多边形: 形状 21"/>
          <p:cNvSpPr/>
          <p:nvPr/>
        </p:nvSpPr>
        <p:spPr>
          <a:xfrm>
            <a:off x="0" y="915998"/>
            <a:ext cx="12192000" cy="2998777"/>
          </a:xfrm>
          <a:custGeom>
            <a:avLst/>
            <a:gdLst>
              <a:gd name="connsiteX0" fmla="*/ 0 w 12192000"/>
              <a:gd name="connsiteY0" fmla="*/ 0 h 2931879"/>
              <a:gd name="connsiteX1" fmla="*/ 12192000 w 12192000"/>
              <a:gd name="connsiteY1" fmla="*/ 0 h 2931879"/>
              <a:gd name="connsiteX2" fmla="*/ 12192000 w 12192000"/>
              <a:gd name="connsiteY2" fmla="*/ 2931879 h 2931879"/>
              <a:gd name="connsiteX3" fmla="*/ 0 w 12192000"/>
              <a:gd name="connsiteY3" fmla="*/ 2931879 h 293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931879">
                <a:moveTo>
                  <a:pt x="0" y="0"/>
                </a:moveTo>
                <a:lnTo>
                  <a:pt x="12192000" y="0"/>
                </a:lnTo>
                <a:lnTo>
                  <a:pt x="12192000" y="2931879"/>
                </a:lnTo>
                <a:lnTo>
                  <a:pt x="0" y="2931879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2" name="îṣļîḑé-Oval 18"/>
          <p:cNvSpPr/>
          <p:nvPr>
            <p:custDataLst>
              <p:tags r:id="rId7"/>
            </p:custDataLst>
          </p:nvPr>
        </p:nvSpPr>
        <p:spPr>
          <a:xfrm>
            <a:off x="1917975" y="3155042"/>
            <a:ext cx="1031434" cy="1031434"/>
          </a:xfrm>
          <a:prstGeom prst="ellipse">
            <a:avLst/>
          </a:prstGeom>
          <a:solidFill>
            <a:srgbClr val="023E87"/>
          </a:solidFill>
          <a:ln w="92075">
            <a:solidFill>
              <a:schemeClr val="bg1">
                <a:alpha val="18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sp>
        <p:nvSpPr>
          <p:cNvPr id="50" name="îṣļîḑé-Oval 16"/>
          <p:cNvSpPr/>
          <p:nvPr>
            <p:custDataLst>
              <p:tags r:id="rId8"/>
            </p:custDataLst>
          </p:nvPr>
        </p:nvSpPr>
        <p:spPr>
          <a:xfrm>
            <a:off x="5580380" y="3155315"/>
            <a:ext cx="1031240" cy="1031240"/>
          </a:xfrm>
          <a:prstGeom prst="ellipse">
            <a:avLst/>
          </a:prstGeom>
          <a:solidFill>
            <a:srgbClr val="FFE699"/>
          </a:solidFill>
          <a:ln w="92075">
            <a:solidFill>
              <a:schemeClr val="bg1">
                <a:alpha val="18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sp>
        <p:nvSpPr>
          <p:cNvPr id="51" name="îṣļîḑé-Freeform 5"/>
          <p:cNvSpPr/>
          <p:nvPr>
            <p:custDataLst>
              <p:tags r:id="rId9"/>
            </p:custDataLst>
          </p:nvPr>
        </p:nvSpPr>
        <p:spPr bwMode="auto">
          <a:xfrm>
            <a:off x="5818505" y="3402965"/>
            <a:ext cx="558800" cy="542290"/>
          </a:xfrm>
          <a:custGeom>
            <a:avLst/>
            <a:gdLst>
              <a:gd name="T0" fmla="*/ 89 w 144"/>
              <a:gd name="T1" fmla="*/ 129 h 140"/>
              <a:gd name="T2" fmla="*/ 82 w 144"/>
              <a:gd name="T3" fmla="*/ 11 h 140"/>
              <a:gd name="T4" fmla="*/ 11 w 144"/>
              <a:gd name="T5" fmla="*/ 129 h 140"/>
              <a:gd name="T6" fmla="*/ 27 w 144"/>
              <a:gd name="T7" fmla="*/ 107 h 140"/>
              <a:gd name="T8" fmla="*/ 72 w 144"/>
              <a:gd name="T9" fmla="*/ 113 h 140"/>
              <a:gd name="T10" fmla="*/ 82 w 144"/>
              <a:gd name="T11" fmla="*/ 129 h 140"/>
              <a:gd name="T12" fmla="*/ 103 w 144"/>
              <a:gd name="T13" fmla="*/ 68 h 140"/>
              <a:gd name="T14" fmla="*/ 119 w 144"/>
              <a:gd name="T15" fmla="*/ 61 h 140"/>
              <a:gd name="T16" fmla="*/ 103 w 144"/>
              <a:gd name="T17" fmla="*/ 68 h 140"/>
              <a:gd name="T18" fmla="*/ 100 w 144"/>
              <a:gd name="T19" fmla="*/ 82 h 140"/>
              <a:gd name="T20" fmla="*/ 122 w 144"/>
              <a:gd name="T21" fmla="*/ 82 h 140"/>
              <a:gd name="T22" fmla="*/ 103 w 144"/>
              <a:gd name="T23" fmla="*/ 103 h 140"/>
              <a:gd name="T24" fmla="*/ 103 w 144"/>
              <a:gd name="T25" fmla="*/ 96 h 140"/>
              <a:gd name="T26" fmla="*/ 119 w 144"/>
              <a:gd name="T27" fmla="*/ 103 h 140"/>
              <a:gd name="T28" fmla="*/ 103 w 144"/>
              <a:gd name="T29" fmla="*/ 121 h 140"/>
              <a:gd name="T30" fmla="*/ 119 w 144"/>
              <a:gd name="T31" fmla="*/ 114 h 140"/>
              <a:gd name="T32" fmla="*/ 103 w 144"/>
              <a:gd name="T33" fmla="*/ 121 h 140"/>
              <a:gd name="T34" fmla="*/ 18 w 144"/>
              <a:gd name="T35" fmla="*/ 24 h 140"/>
              <a:gd name="T36" fmla="*/ 40 w 144"/>
              <a:gd name="T37" fmla="*/ 24 h 140"/>
              <a:gd name="T38" fmla="*/ 57 w 144"/>
              <a:gd name="T39" fmla="*/ 27 h 140"/>
              <a:gd name="T40" fmla="*/ 57 w 144"/>
              <a:gd name="T41" fmla="*/ 21 h 140"/>
              <a:gd name="T42" fmla="*/ 72 w 144"/>
              <a:gd name="T43" fmla="*/ 27 h 140"/>
              <a:gd name="T44" fmla="*/ 21 w 144"/>
              <a:gd name="T45" fmla="*/ 45 h 140"/>
              <a:gd name="T46" fmla="*/ 37 w 144"/>
              <a:gd name="T47" fmla="*/ 38 h 140"/>
              <a:gd name="T48" fmla="*/ 21 w 144"/>
              <a:gd name="T49" fmla="*/ 45 h 140"/>
              <a:gd name="T50" fmla="*/ 53 w 144"/>
              <a:gd name="T51" fmla="*/ 42 h 140"/>
              <a:gd name="T52" fmla="*/ 75 w 144"/>
              <a:gd name="T53" fmla="*/ 42 h 140"/>
              <a:gd name="T54" fmla="*/ 21 w 144"/>
              <a:gd name="T55" fmla="*/ 63 h 140"/>
              <a:gd name="T56" fmla="*/ 21 w 144"/>
              <a:gd name="T57" fmla="*/ 56 h 140"/>
              <a:gd name="T58" fmla="*/ 37 w 144"/>
              <a:gd name="T59" fmla="*/ 63 h 140"/>
              <a:gd name="T60" fmla="*/ 57 w 144"/>
              <a:gd name="T61" fmla="*/ 63 h 140"/>
              <a:gd name="T62" fmla="*/ 72 w 144"/>
              <a:gd name="T63" fmla="*/ 56 h 140"/>
              <a:gd name="T64" fmla="*/ 57 w 144"/>
              <a:gd name="T65" fmla="*/ 63 h 140"/>
              <a:gd name="T66" fmla="*/ 18 w 144"/>
              <a:gd name="T67" fmla="*/ 77 h 140"/>
              <a:gd name="T68" fmla="*/ 40 w 144"/>
              <a:gd name="T69" fmla="*/ 77 h 140"/>
              <a:gd name="T70" fmla="*/ 57 w 144"/>
              <a:gd name="T71" fmla="*/ 80 h 140"/>
              <a:gd name="T72" fmla="*/ 57 w 144"/>
              <a:gd name="T73" fmla="*/ 74 h 140"/>
              <a:gd name="T74" fmla="*/ 72 w 144"/>
              <a:gd name="T75" fmla="*/ 80 h 140"/>
              <a:gd name="T76" fmla="*/ 21 w 144"/>
              <a:gd name="T77" fmla="*/ 98 h 140"/>
              <a:gd name="T78" fmla="*/ 37 w 144"/>
              <a:gd name="T79" fmla="*/ 91 h 140"/>
              <a:gd name="T80" fmla="*/ 21 w 144"/>
              <a:gd name="T81" fmla="*/ 98 h 140"/>
              <a:gd name="T82" fmla="*/ 53 w 144"/>
              <a:gd name="T83" fmla="*/ 95 h 140"/>
              <a:gd name="T84" fmla="*/ 75 w 144"/>
              <a:gd name="T85" fmla="*/ 95 h 140"/>
              <a:gd name="T86" fmla="*/ 93 w 144"/>
              <a:gd name="T87" fmla="*/ 41 h 140"/>
              <a:gd name="T88" fmla="*/ 138 w 144"/>
              <a:gd name="T89" fmla="*/ 41 h 140"/>
              <a:gd name="T90" fmla="*/ 144 w 144"/>
              <a:gd name="T91" fmla="*/ 135 h 140"/>
              <a:gd name="T92" fmla="*/ 67 w 144"/>
              <a:gd name="T93" fmla="*/ 140 h 140"/>
              <a:gd name="T94" fmla="*/ 61 w 144"/>
              <a:gd name="T95" fmla="*/ 118 h 140"/>
              <a:gd name="T96" fmla="*/ 32 w 144"/>
              <a:gd name="T97" fmla="*/ 135 h 140"/>
              <a:gd name="T98" fmla="*/ 6 w 144"/>
              <a:gd name="T99" fmla="*/ 140 h 140"/>
              <a:gd name="T100" fmla="*/ 0 w 144"/>
              <a:gd name="T101" fmla="*/ 6 h 140"/>
              <a:gd name="T102" fmla="*/ 88 w 144"/>
              <a:gd name="T103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4" h="140">
                <a:moveTo>
                  <a:pt x="133" y="52"/>
                </a:moveTo>
                <a:cubicBezTo>
                  <a:pt x="89" y="52"/>
                  <a:pt x="89" y="52"/>
                  <a:pt x="89" y="52"/>
                </a:cubicBezTo>
                <a:cubicBezTo>
                  <a:pt x="89" y="129"/>
                  <a:pt x="89" y="129"/>
                  <a:pt x="89" y="129"/>
                </a:cubicBezTo>
                <a:cubicBezTo>
                  <a:pt x="133" y="129"/>
                  <a:pt x="133" y="129"/>
                  <a:pt x="133" y="129"/>
                </a:cubicBezTo>
                <a:cubicBezTo>
                  <a:pt x="133" y="52"/>
                  <a:pt x="133" y="52"/>
                  <a:pt x="133" y="52"/>
                </a:cubicBezTo>
                <a:close/>
                <a:moveTo>
                  <a:pt x="82" y="11"/>
                </a:moveTo>
                <a:cubicBezTo>
                  <a:pt x="82" y="11"/>
                  <a:pt x="82" y="11"/>
                  <a:pt x="82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29"/>
                  <a:pt x="11" y="129"/>
                  <a:pt x="11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1" y="113"/>
                  <a:pt x="21" y="113"/>
                  <a:pt x="21" y="113"/>
                </a:cubicBezTo>
                <a:cubicBezTo>
                  <a:pt x="21" y="110"/>
                  <a:pt x="24" y="107"/>
                  <a:pt x="27" y="107"/>
                </a:cubicBezTo>
                <a:cubicBezTo>
                  <a:pt x="27" y="107"/>
                  <a:pt x="27" y="107"/>
                  <a:pt x="27" y="107"/>
                </a:cubicBezTo>
                <a:cubicBezTo>
                  <a:pt x="67" y="107"/>
                  <a:pt x="67" y="107"/>
                  <a:pt x="67" y="107"/>
                </a:cubicBezTo>
                <a:cubicBezTo>
                  <a:pt x="70" y="107"/>
                  <a:pt x="72" y="110"/>
                  <a:pt x="72" y="113"/>
                </a:cubicBezTo>
                <a:cubicBezTo>
                  <a:pt x="72" y="113"/>
                  <a:pt x="72" y="113"/>
                  <a:pt x="72" y="113"/>
                </a:cubicBezTo>
                <a:cubicBezTo>
                  <a:pt x="72" y="129"/>
                  <a:pt x="72" y="129"/>
                  <a:pt x="72" y="129"/>
                </a:cubicBezTo>
                <a:cubicBezTo>
                  <a:pt x="82" y="129"/>
                  <a:pt x="82" y="129"/>
                  <a:pt x="82" y="129"/>
                </a:cubicBezTo>
                <a:cubicBezTo>
                  <a:pt x="82" y="90"/>
                  <a:pt x="82" y="51"/>
                  <a:pt x="82" y="11"/>
                </a:cubicBezTo>
                <a:close/>
                <a:moveTo>
                  <a:pt x="103" y="68"/>
                </a:moveTo>
                <a:cubicBezTo>
                  <a:pt x="103" y="68"/>
                  <a:pt x="103" y="68"/>
                  <a:pt x="103" y="68"/>
                </a:cubicBezTo>
                <a:cubicBezTo>
                  <a:pt x="101" y="68"/>
                  <a:pt x="100" y="66"/>
                  <a:pt x="100" y="64"/>
                </a:cubicBezTo>
                <a:cubicBezTo>
                  <a:pt x="100" y="62"/>
                  <a:pt x="101" y="61"/>
                  <a:pt x="103" y="61"/>
                </a:cubicBezTo>
                <a:cubicBezTo>
                  <a:pt x="119" y="61"/>
                  <a:pt x="119" y="61"/>
                  <a:pt x="119" y="61"/>
                </a:cubicBezTo>
                <a:cubicBezTo>
                  <a:pt x="120" y="61"/>
                  <a:pt x="122" y="62"/>
                  <a:pt x="122" y="64"/>
                </a:cubicBezTo>
                <a:cubicBezTo>
                  <a:pt x="122" y="66"/>
                  <a:pt x="120" y="68"/>
                  <a:pt x="119" y="68"/>
                </a:cubicBezTo>
                <a:cubicBezTo>
                  <a:pt x="103" y="68"/>
                  <a:pt x="103" y="68"/>
                  <a:pt x="103" y="68"/>
                </a:cubicBezTo>
                <a:close/>
                <a:moveTo>
                  <a:pt x="103" y="85"/>
                </a:moveTo>
                <a:cubicBezTo>
                  <a:pt x="103" y="85"/>
                  <a:pt x="103" y="85"/>
                  <a:pt x="103" y="85"/>
                </a:cubicBezTo>
                <a:cubicBezTo>
                  <a:pt x="101" y="85"/>
                  <a:pt x="100" y="84"/>
                  <a:pt x="100" y="82"/>
                </a:cubicBezTo>
                <a:cubicBezTo>
                  <a:pt x="100" y="80"/>
                  <a:pt x="101" y="79"/>
                  <a:pt x="103" y="79"/>
                </a:cubicBezTo>
                <a:cubicBezTo>
                  <a:pt x="119" y="79"/>
                  <a:pt x="119" y="79"/>
                  <a:pt x="119" y="79"/>
                </a:cubicBezTo>
                <a:cubicBezTo>
                  <a:pt x="120" y="79"/>
                  <a:pt x="122" y="80"/>
                  <a:pt x="122" y="82"/>
                </a:cubicBezTo>
                <a:cubicBezTo>
                  <a:pt x="122" y="84"/>
                  <a:pt x="120" y="85"/>
                  <a:pt x="119" y="85"/>
                </a:cubicBezTo>
                <a:cubicBezTo>
                  <a:pt x="103" y="85"/>
                  <a:pt x="103" y="85"/>
                  <a:pt x="103" y="85"/>
                </a:cubicBezTo>
                <a:close/>
                <a:moveTo>
                  <a:pt x="103" y="103"/>
                </a:moveTo>
                <a:cubicBezTo>
                  <a:pt x="103" y="103"/>
                  <a:pt x="103" y="103"/>
                  <a:pt x="103" y="103"/>
                </a:cubicBezTo>
                <a:cubicBezTo>
                  <a:pt x="101" y="103"/>
                  <a:pt x="100" y="101"/>
                  <a:pt x="100" y="100"/>
                </a:cubicBezTo>
                <a:cubicBezTo>
                  <a:pt x="100" y="98"/>
                  <a:pt x="101" y="96"/>
                  <a:pt x="103" y="96"/>
                </a:cubicBezTo>
                <a:cubicBezTo>
                  <a:pt x="119" y="96"/>
                  <a:pt x="119" y="96"/>
                  <a:pt x="119" y="96"/>
                </a:cubicBezTo>
                <a:cubicBezTo>
                  <a:pt x="120" y="96"/>
                  <a:pt x="122" y="98"/>
                  <a:pt x="122" y="100"/>
                </a:cubicBezTo>
                <a:cubicBezTo>
                  <a:pt x="122" y="101"/>
                  <a:pt x="120" y="103"/>
                  <a:pt x="119" y="103"/>
                </a:cubicBezTo>
                <a:cubicBezTo>
                  <a:pt x="103" y="103"/>
                  <a:pt x="103" y="103"/>
                  <a:pt x="103" y="103"/>
                </a:cubicBezTo>
                <a:close/>
                <a:moveTo>
                  <a:pt x="103" y="121"/>
                </a:moveTo>
                <a:cubicBezTo>
                  <a:pt x="103" y="121"/>
                  <a:pt x="103" y="121"/>
                  <a:pt x="103" y="121"/>
                </a:cubicBezTo>
                <a:cubicBezTo>
                  <a:pt x="101" y="121"/>
                  <a:pt x="100" y="119"/>
                  <a:pt x="100" y="117"/>
                </a:cubicBezTo>
                <a:cubicBezTo>
                  <a:pt x="100" y="116"/>
                  <a:pt x="101" y="114"/>
                  <a:pt x="103" y="114"/>
                </a:cubicBezTo>
                <a:cubicBezTo>
                  <a:pt x="119" y="114"/>
                  <a:pt x="119" y="114"/>
                  <a:pt x="119" y="114"/>
                </a:cubicBezTo>
                <a:cubicBezTo>
                  <a:pt x="120" y="114"/>
                  <a:pt x="122" y="116"/>
                  <a:pt x="122" y="117"/>
                </a:cubicBezTo>
                <a:cubicBezTo>
                  <a:pt x="122" y="119"/>
                  <a:pt x="120" y="121"/>
                  <a:pt x="119" y="121"/>
                </a:cubicBezTo>
                <a:cubicBezTo>
                  <a:pt x="103" y="121"/>
                  <a:pt x="103" y="121"/>
                  <a:pt x="103" y="121"/>
                </a:cubicBezTo>
                <a:close/>
                <a:moveTo>
                  <a:pt x="21" y="27"/>
                </a:moveTo>
                <a:cubicBezTo>
                  <a:pt x="21" y="27"/>
                  <a:pt x="21" y="27"/>
                  <a:pt x="21" y="27"/>
                </a:cubicBezTo>
                <a:cubicBezTo>
                  <a:pt x="19" y="27"/>
                  <a:pt x="18" y="26"/>
                  <a:pt x="18" y="24"/>
                </a:cubicBezTo>
                <a:cubicBezTo>
                  <a:pt x="18" y="22"/>
                  <a:pt x="19" y="21"/>
                  <a:pt x="21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9" y="21"/>
                  <a:pt x="40" y="22"/>
                  <a:pt x="40" y="24"/>
                </a:cubicBezTo>
                <a:cubicBezTo>
                  <a:pt x="40" y="26"/>
                  <a:pt x="39" y="27"/>
                  <a:pt x="37" y="27"/>
                </a:cubicBezTo>
                <a:cubicBezTo>
                  <a:pt x="21" y="27"/>
                  <a:pt x="21" y="27"/>
                  <a:pt x="21" y="27"/>
                </a:cubicBezTo>
                <a:close/>
                <a:moveTo>
                  <a:pt x="57" y="27"/>
                </a:moveTo>
                <a:cubicBezTo>
                  <a:pt x="57" y="27"/>
                  <a:pt x="57" y="27"/>
                  <a:pt x="57" y="27"/>
                </a:cubicBezTo>
                <a:cubicBezTo>
                  <a:pt x="55" y="27"/>
                  <a:pt x="53" y="26"/>
                  <a:pt x="53" y="24"/>
                </a:cubicBezTo>
                <a:cubicBezTo>
                  <a:pt x="53" y="22"/>
                  <a:pt x="55" y="21"/>
                  <a:pt x="57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4" y="21"/>
                  <a:pt x="75" y="22"/>
                  <a:pt x="75" y="24"/>
                </a:cubicBezTo>
                <a:cubicBezTo>
                  <a:pt x="75" y="26"/>
                  <a:pt x="74" y="27"/>
                  <a:pt x="72" y="27"/>
                </a:cubicBezTo>
                <a:cubicBezTo>
                  <a:pt x="57" y="27"/>
                  <a:pt x="57" y="27"/>
                  <a:pt x="57" y="27"/>
                </a:cubicBezTo>
                <a:close/>
                <a:moveTo>
                  <a:pt x="21" y="45"/>
                </a:moveTo>
                <a:cubicBezTo>
                  <a:pt x="21" y="45"/>
                  <a:pt x="21" y="45"/>
                  <a:pt x="21" y="45"/>
                </a:cubicBezTo>
                <a:cubicBezTo>
                  <a:pt x="19" y="45"/>
                  <a:pt x="18" y="44"/>
                  <a:pt x="18" y="42"/>
                </a:cubicBezTo>
                <a:cubicBezTo>
                  <a:pt x="18" y="40"/>
                  <a:pt x="19" y="38"/>
                  <a:pt x="21" y="38"/>
                </a:cubicBezTo>
                <a:cubicBezTo>
                  <a:pt x="37" y="38"/>
                  <a:pt x="37" y="38"/>
                  <a:pt x="37" y="38"/>
                </a:cubicBezTo>
                <a:cubicBezTo>
                  <a:pt x="39" y="38"/>
                  <a:pt x="40" y="40"/>
                  <a:pt x="40" y="42"/>
                </a:cubicBezTo>
                <a:cubicBezTo>
                  <a:pt x="40" y="44"/>
                  <a:pt x="39" y="45"/>
                  <a:pt x="37" y="45"/>
                </a:cubicBezTo>
                <a:cubicBezTo>
                  <a:pt x="21" y="45"/>
                  <a:pt x="21" y="45"/>
                  <a:pt x="21" y="45"/>
                </a:cubicBezTo>
                <a:close/>
                <a:moveTo>
                  <a:pt x="57" y="45"/>
                </a:moveTo>
                <a:cubicBezTo>
                  <a:pt x="57" y="45"/>
                  <a:pt x="57" y="45"/>
                  <a:pt x="57" y="45"/>
                </a:cubicBezTo>
                <a:cubicBezTo>
                  <a:pt x="55" y="45"/>
                  <a:pt x="53" y="44"/>
                  <a:pt x="53" y="42"/>
                </a:cubicBezTo>
                <a:cubicBezTo>
                  <a:pt x="53" y="40"/>
                  <a:pt x="55" y="38"/>
                  <a:pt x="57" y="38"/>
                </a:cubicBezTo>
                <a:cubicBezTo>
                  <a:pt x="72" y="38"/>
                  <a:pt x="72" y="38"/>
                  <a:pt x="72" y="38"/>
                </a:cubicBezTo>
                <a:cubicBezTo>
                  <a:pt x="74" y="38"/>
                  <a:pt x="75" y="40"/>
                  <a:pt x="75" y="42"/>
                </a:cubicBezTo>
                <a:cubicBezTo>
                  <a:pt x="75" y="44"/>
                  <a:pt x="74" y="45"/>
                  <a:pt x="72" y="45"/>
                </a:cubicBezTo>
                <a:cubicBezTo>
                  <a:pt x="57" y="45"/>
                  <a:pt x="57" y="45"/>
                  <a:pt x="57" y="45"/>
                </a:cubicBezTo>
                <a:close/>
                <a:moveTo>
                  <a:pt x="21" y="63"/>
                </a:moveTo>
                <a:cubicBezTo>
                  <a:pt x="21" y="63"/>
                  <a:pt x="21" y="63"/>
                  <a:pt x="21" y="63"/>
                </a:cubicBezTo>
                <a:cubicBezTo>
                  <a:pt x="19" y="63"/>
                  <a:pt x="18" y="61"/>
                  <a:pt x="18" y="59"/>
                </a:cubicBezTo>
                <a:cubicBezTo>
                  <a:pt x="18" y="58"/>
                  <a:pt x="19" y="56"/>
                  <a:pt x="21" y="56"/>
                </a:cubicBezTo>
                <a:cubicBezTo>
                  <a:pt x="37" y="56"/>
                  <a:pt x="37" y="56"/>
                  <a:pt x="37" y="56"/>
                </a:cubicBezTo>
                <a:cubicBezTo>
                  <a:pt x="39" y="56"/>
                  <a:pt x="40" y="58"/>
                  <a:pt x="40" y="59"/>
                </a:cubicBezTo>
                <a:cubicBezTo>
                  <a:pt x="40" y="61"/>
                  <a:pt x="39" y="63"/>
                  <a:pt x="37" y="63"/>
                </a:cubicBezTo>
                <a:cubicBezTo>
                  <a:pt x="21" y="63"/>
                  <a:pt x="21" y="63"/>
                  <a:pt x="21" y="63"/>
                </a:cubicBezTo>
                <a:close/>
                <a:moveTo>
                  <a:pt x="57" y="63"/>
                </a:moveTo>
                <a:cubicBezTo>
                  <a:pt x="57" y="63"/>
                  <a:pt x="57" y="63"/>
                  <a:pt x="57" y="63"/>
                </a:cubicBezTo>
                <a:cubicBezTo>
                  <a:pt x="55" y="63"/>
                  <a:pt x="53" y="61"/>
                  <a:pt x="53" y="59"/>
                </a:cubicBezTo>
                <a:cubicBezTo>
                  <a:pt x="53" y="58"/>
                  <a:pt x="55" y="56"/>
                  <a:pt x="57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74" y="56"/>
                  <a:pt x="75" y="58"/>
                  <a:pt x="75" y="59"/>
                </a:cubicBezTo>
                <a:cubicBezTo>
                  <a:pt x="75" y="61"/>
                  <a:pt x="74" y="63"/>
                  <a:pt x="72" y="63"/>
                </a:cubicBezTo>
                <a:cubicBezTo>
                  <a:pt x="57" y="63"/>
                  <a:pt x="57" y="63"/>
                  <a:pt x="57" y="63"/>
                </a:cubicBezTo>
                <a:close/>
                <a:moveTo>
                  <a:pt x="21" y="80"/>
                </a:moveTo>
                <a:cubicBezTo>
                  <a:pt x="21" y="80"/>
                  <a:pt x="21" y="80"/>
                  <a:pt x="21" y="80"/>
                </a:cubicBezTo>
                <a:cubicBezTo>
                  <a:pt x="19" y="80"/>
                  <a:pt x="18" y="79"/>
                  <a:pt x="18" y="77"/>
                </a:cubicBezTo>
                <a:cubicBezTo>
                  <a:pt x="18" y="75"/>
                  <a:pt x="19" y="74"/>
                  <a:pt x="21" y="74"/>
                </a:cubicBezTo>
                <a:cubicBezTo>
                  <a:pt x="37" y="74"/>
                  <a:pt x="37" y="74"/>
                  <a:pt x="37" y="74"/>
                </a:cubicBezTo>
                <a:cubicBezTo>
                  <a:pt x="39" y="74"/>
                  <a:pt x="40" y="75"/>
                  <a:pt x="40" y="77"/>
                </a:cubicBezTo>
                <a:cubicBezTo>
                  <a:pt x="40" y="79"/>
                  <a:pt x="39" y="80"/>
                  <a:pt x="37" y="80"/>
                </a:cubicBezTo>
                <a:cubicBezTo>
                  <a:pt x="21" y="80"/>
                  <a:pt x="21" y="80"/>
                  <a:pt x="21" y="80"/>
                </a:cubicBezTo>
                <a:close/>
                <a:moveTo>
                  <a:pt x="57" y="80"/>
                </a:moveTo>
                <a:cubicBezTo>
                  <a:pt x="57" y="80"/>
                  <a:pt x="57" y="80"/>
                  <a:pt x="57" y="80"/>
                </a:cubicBezTo>
                <a:cubicBezTo>
                  <a:pt x="55" y="80"/>
                  <a:pt x="53" y="79"/>
                  <a:pt x="53" y="77"/>
                </a:cubicBezTo>
                <a:cubicBezTo>
                  <a:pt x="53" y="75"/>
                  <a:pt x="55" y="74"/>
                  <a:pt x="57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4" y="74"/>
                  <a:pt x="75" y="75"/>
                  <a:pt x="75" y="77"/>
                </a:cubicBezTo>
                <a:cubicBezTo>
                  <a:pt x="75" y="79"/>
                  <a:pt x="74" y="80"/>
                  <a:pt x="72" y="80"/>
                </a:cubicBezTo>
                <a:cubicBezTo>
                  <a:pt x="57" y="80"/>
                  <a:pt x="57" y="80"/>
                  <a:pt x="57" y="80"/>
                </a:cubicBezTo>
                <a:close/>
                <a:moveTo>
                  <a:pt x="21" y="98"/>
                </a:moveTo>
                <a:cubicBezTo>
                  <a:pt x="21" y="98"/>
                  <a:pt x="21" y="98"/>
                  <a:pt x="21" y="98"/>
                </a:cubicBezTo>
                <a:cubicBezTo>
                  <a:pt x="19" y="98"/>
                  <a:pt x="18" y="97"/>
                  <a:pt x="18" y="95"/>
                </a:cubicBezTo>
                <a:cubicBezTo>
                  <a:pt x="18" y="93"/>
                  <a:pt x="19" y="91"/>
                  <a:pt x="21" y="91"/>
                </a:cubicBezTo>
                <a:cubicBezTo>
                  <a:pt x="37" y="91"/>
                  <a:pt x="37" y="91"/>
                  <a:pt x="37" y="91"/>
                </a:cubicBezTo>
                <a:cubicBezTo>
                  <a:pt x="39" y="91"/>
                  <a:pt x="40" y="93"/>
                  <a:pt x="40" y="95"/>
                </a:cubicBezTo>
                <a:cubicBezTo>
                  <a:pt x="40" y="97"/>
                  <a:pt x="39" y="98"/>
                  <a:pt x="37" y="98"/>
                </a:cubicBezTo>
                <a:cubicBezTo>
                  <a:pt x="21" y="98"/>
                  <a:pt x="21" y="98"/>
                  <a:pt x="21" y="98"/>
                </a:cubicBezTo>
                <a:close/>
                <a:moveTo>
                  <a:pt x="57" y="98"/>
                </a:moveTo>
                <a:cubicBezTo>
                  <a:pt x="57" y="98"/>
                  <a:pt x="57" y="98"/>
                  <a:pt x="57" y="98"/>
                </a:cubicBezTo>
                <a:cubicBezTo>
                  <a:pt x="55" y="98"/>
                  <a:pt x="53" y="97"/>
                  <a:pt x="53" y="95"/>
                </a:cubicBezTo>
                <a:cubicBezTo>
                  <a:pt x="53" y="93"/>
                  <a:pt x="55" y="91"/>
                  <a:pt x="57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1"/>
                  <a:pt x="75" y="93"/>
                  <a:pt x="75" y="95"/>
                </a:cubicBezTo>
                <a:cubicBezTo>
                  <a:pt x="75" y="97"/>
                  <a:pt x="74" y="98"/>
                  <a:pt x="72" y="98"/>
                </a:cubicBezTo>
                <a:cubicBezTo>
                  <a:pt x="57" y="98"/>
                  <a:pt x="57" y="98"/>
                  <a:pt x="57" y="98"/>
                </a:cubicBezTo>
                <a:close/>
                <a:moveTo>
                  <a:pt x="93" y="41"/>
                </a:moveTo>
                <a:cubicBezTo>
                  <a:pt x="93" y="41"/>
                  <a:pt x="93" y="41"/>
                  <a:pt x="93" y="41"/>
                </a:cubicBezTo>
                <a:cubicBezTo>
                  <a:pt x="138" y="41"/>
                  <a:pt x="138" y="41"/>
                  <a:pt x="138" y="41"/>
                </a:cubicBezTo>
                <a:cubicBezTo>
                  <a:pt x="138" y="41"/>
                  <a:pt x="138" y="41"/>
                  <a:pt x="138" y="41"/>
                </a:cubicBezTo>
                <a:cubicBezTo>
                  <a:pt x="141" y="41"/>
                  <a:pt x="144" y="44"/>
                  <a:pt x="144" y="47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8"/>
                  <a:pt x="141" y="140"/>
                  <a:pt x="138" y="140"/>
                </a:cubicBezTo>
                <a:cubicBezTo>
                  <a:pt x="88" y="140"/>
                  <a:pt x="88" y="140"/>
                  <a:pt x="88" y="140"/>
                </a:cubicBezTo>
                <a:cubicBezTo>
                  <a:pt x="67" y="140"/>
                  <a:pt x="67" y="140"/>
                  <a:pt x="67" y="140"/>
                </a:cubicBezTo>
                <a:cubicBezTo>
                  <a:pt x="67" y="140"/>
                  <a:pt x="67" y="140"/>
                  <a:pt x="67" y="140"/>
                </a:cubicBezTo>
                <a:cubicBezTo>
                  <a:pt x="64" y="140"/>
                  <a:pt x="61" y="138"/>
                  <a:pt x="61" y="135"/>
                </a:cubicBezTo>
                <a:cubicBezTo>
                  <a:pt x="61" y="118"/>
                  <a:pt x="61" y="118"/>
                  <a:pt x="61" y="118"/>
                </a:cubicBezTo>
                <a:cubicBezTo>
                  <a:pt x="32" y="118"/>
                  <a:pt x="32" y="118"/>
                  <a:pt x="32" y="118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32" y="138"/>
                  <a:pt x="30" y="140"/>
                  <a:pt x="27" y="140"/>
                </a:cubicBezTo>
                <a:cubicBezTo>
                  <a:pt x="6" y="140"/>
                  <a:pt x="6" y="140"/>
                  <a:pt x="6" y="140"/>
                </a:cubicBezTo>
                <a:cubicBezTo>
                  <a:pt x="6" y="140"/>
                  <a:pt x="6" y="140"/>
                  <a:pt x="6" y="140"/>
                </a:cubicBezTo>
                <a:cubicBezTo>
                  <a:pt x="3" y="140"/>
                  <a:pt x="0" y="138"/>
                  <a:pt x="0" y="135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6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91" y="0"/>
                  <a:pt x="93" y="2"/>
                  <a:pt x="93" y="6"/>
                </a:cubicBezTo>
                <a:cubicBezTo>
                  <a:pt x="93" y="41"/>
                  <a:pt x="93" y="41"/>
                  <a:pt x="93" y="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sp>
        <p:nvSpPr>
          <p:cNvPr id="45" name="îṣļîḑé-Oval 11"/>
          <p:cNvSpPr/>
          <p:nvPr>
            <p:custDataLst>
              <p:tags r:id="rId10"/>
            </p:custDataLst>
          </p:nvPr>
        </p:nvSpPr>
        <p:spPr>
          <a:xfrm>
            <a:off x="9242425" y="3155315"/>
            <a:ext cx="1031240" cy="1031240"/>
          </a:xfrm>
          <a:prstGeom prst="ellipse">
            <a:avLst/>
          </a:prstGeom>
          <a:solidFill>
            <a:srgbClr val="023E87"/>
          </a:solidFill>
          <a:ln w="92075">
            <a:solidFill>
              <a:schemeClr val="bg1">
                <a:alpha val="18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sp>
        <p:nvSpPr>
          <p:cNvPr id="46" name="îṣļîḑé-Freeform 9"/>
          <p:cNvSpPr/>
          <p:nvPr>
            <p:custDataLst>
              <p:tags r:id="rId11"/>
            </p:custDataLst>
          </p:nvPr>
        </p:nvSpPr>
        <p:spPr bwMode="auto">
          <a:xfrm>
            <a:off x="9467850" y="3359150"/>
            <a:ext cx="580390" cy="622935"/>
          </a:xfrm>
          <a:custGeom>
            <a:avLst/>
            <a:gdLst>
              <a:gd name="T0" fmla="*/ 89 w 89"/>
              <a:gd name="T1" fmla="*/ 24 h 96"/>
              <a:gd name="T2" fmla="*/ 89 w 89"/>
              <a:gd name="T3" fmla="*/ 83 h 96"/>
              <a:gd name="T4" fmla="*/ 76 w 89"/>
              <a:gd name="T5" fmla="*/ 96 h 96"/>
              <a:gd name="T6" fmla="*/ 3 w 89"/>
              <a:gd name="T7" fmla="*/ 92 h 96"/>
              <a:gd name="T8" fmla="*/ 0 w 89"/>
              <a:gd name="T9" fmla="*/ 28 h 96"/>
              <a:gd name="T10" fmla="*/ 13 w 89"/>
              <a:gd name="T11" fmla="*/ 15 h 96"/>
              <a:gd name="T12" fmla="*/ 49 w 89"/>
              <a:gd name="T13" fmla="*/ 6 h 96"/>
              <a:gd name="T14" fmla="*/ 65 w 89"/>
              <a:gd name="T15" fmla="*/ 0 h 96"/>
              <a:gd name="T16" fmla="*/ 81 w 89"/>
              <a:gd name="T17" fmla="*/ 6 h 96"/>
              <a:gd name="T18" fmla="*/ 88 w 89"/>
              <a:gd name="T19" fmla="*/ 22 h 96"/>
              <a:gd name="T20" fmla="*/ 65 w 89"/>
              <a:gd name="T21" fmla="*/ 11 h 96"/>
              <a:gd name="T22" fmla="*/ 76 w 89"/>
              <a:gd name="T23" fmla="*/ 22 h 96"/>
              <a:gd name="T24" fmla="*/ 65 w 89"/>
              <a:gd name="T25" fmla="*/ 33 h 96"/>
              <a:gd name="T26" fmla="*/ 54 w 89"/>
              <a:gd name="T27" fmla="*/ 22 h 96"/>
              <a:gd name="T28" fmla="*/ 65 w 89"/>
              <a:gd name="T29" fmla="*/ 11 h 96"/>
              <a:gd name="T30" fmla="*/ 70 w 89"/>
              <a:gd name="T31" fmla="*/ 17 h 96"/>
              <a:gd name="T32" fmla="*/ 60 w 89"/>
              <a:gd name="T33" fmla="*/ 17 h 96"/>
              <a:gd name="T34" fmla="*/ 60 w 89"/>
              <a:gd name="T35" fmla="*/ 27 h 96"/>
              <a:gd name="T36" fmla="*/ 70 w 89"/>
              <a:gd name="T37" fmla="*/ 27 h 96"/>
              <a:gd name="T38" fmla="*/ 70 w 89"/>
              <a:gd name="T39" fmla="*/ 17 h 96"/>
              <a:gd name="T40" fmla="*/ 43 w 89"/>
              <a:gd name="T41" fmla="*/ 22 h 96"/>
              <a:gd name="T42" fmla="*/ 8 w 89"/>
              <a:gd name="T43" fmla="*/ 24 h 96"/>
              <a:gd name="T44" fmla="*/ 7 w 89"/>
              <a:gd name="T45" fmla="*/ 83 h 96"/>
              <a:gd name="T46" fmla="*/ 13 w 89"/>
              <a:gd name="T47" fmla="*/ 89 h 96"/>
              <a:gd name="T48" fmla="*/ 81 w 89"/>
              <a:gd name="T49" fmla="*/ 87 h 96"/>
              <a:gd name="T50" fmla="*/ 82 w 89"/>
              <a:gd name="T51" fmla="*/ 37 h 96"/>
              <a:gd name="T52" fmla="*/ 67 w 89"/>
              <a:gd name="T53" fmla="*/ 52 h 96"/>
              <a:gd name="T54" fmla="*/ 64 w 89"/>
              <a:gd name="T55" fmla="*/ 52 h 96"/>
              <a:gd name="T56" fmla="*/ 57 w 89"/>
              <a:gd name="T57" fmla="*/ 43 h 96"/>
              <a:gd name="T58" fmla="*/ 43 w 89"/>
              <a:gd name="T59" fmla="*/ 22 h 96"/>
              <a:gd name="T60" fmla="*/ 78 w 89"/>
              <a:gd name="T61" fmla="*/ 9 h 96"/>
              <a:gd name="T62" fmla="*/ 52 w 89"/>
              <a:gd name="T63" fmla="*/ 9 h 96"/>
              <a:gd name="T64" fmla="*/ 47 w 89"/>
              <a:gd name="T65" fmla="*/ 22 h 96"/>
              <a:gd name="T66" fmla="*/ 59 w 89"/>
              <a:gd name="T67" fmla="*/ 40 h 96"/>
              <a:gd name="T68" fmla="*/ 65 w 89"/>
              <a:gd name="T69" fmla="*/ 47 h 96"/>
              <a:gd name="T70" fmla="*/ 72 w 89"/>
              <a:gd name="T71" fmla="*/ 40 h 96"/>
              <a:gd name="T72" fmla="*/ 84 w 89"/>
              <a:gd name="T73" fmla="*/ 22 h 96"/>
              <a:gd name="T74" fmla="*/ 51 w 89"/>
              <a:gd name="T75" fmla="*/ 48 h 96"/>
              <a:gd name="T76" fmla="*/ 54 w 89"/>
              <a:gd name="T77" fmla="*/ 48 h 96"/>
              <a:gd name="T78" fmla="*/ 48 w 89"/>
              <a:gd name="T79" fmla="*/ 57 h 96"/>
              <a:gd name="T80" fmla="*/ 73 w 89"/>
              <a:gd name="T81" fmla="*/ 55 h 96"/>
              <a:gd name="T82" fmla="*/ 76 w 89"/>
              <a:gd name="T83" fmla="*/ 58 h 96"/>
              <a:gd name="T84" fmla="*/ 68 w 89"/>
              <a:gd name="T85" fmla="*/ 76 h 96"/>
              <a:gd name="T86" fmla="*/ 65 w 89"/>
              <a:gd name="T87" fmla="*/ 79 h 96"/>
              <a:gd name="T88" fmla="*/ 59 w 89"/>
              <a:gd name="T89" fmla="*/ 73 h 96"/>
              <a:gd name="T90" fmla="*/ 59 w 89"/>
              <a:gd name="T91" fmla="*/ 73 h 96"/>
              <a:gd name="T92" fmla="*/ 59 w 89"/>
              <a:gd name="T93" fmla="*/ 73 h 96"/>
              <a:gd name="T94" fmla="*/ 46 w 89"/>
              <a:gd name="T95" fmla="*/ 60 h 96"/>
              <a:gd name="T96" fmla="*/ 19 w 89"/>
              <a:gd name="T97" fmla="*/ 83 h 96"/>
              <a:gd name="T98" fmla="*/ 43 w 89"/>
              <a:gd name="T99" fmla="*/ 57 h 96"/>
              <a:gd name="T100" fmla="*/ 17 w 89"/>
              <a:gd name="T101" fmla="*/ 63 h 96"/>
              <a:gd name="T102" fmla="*/ 14 w 89"/>
              <a:gd name="T103" fmla="*/ 60 h 96"/>
              <a:gd name="T104" fmla="*/ 20 w 89"/>
              <a:gd name="T105" fmla="*/ 34 h 96"/>
              <a:gd name="T106" fmla="*/ 23 w 89"/>
              <a:gd name="T107" fmla="*/ 31 h 96"/>
              <a:gd name="T108" fmla="*/ 34 w 89"/>
              <a:gd name="T109" fmla="*/ 43 h 96"/>
              <a:gd name="T110" fmla="*/ 34 w 89"/>
              <a:gd name="T111" fmla="*/ 43 h 96"/>
              <a:gd name="T112" fmla="*/ 46 w 89"/>
              <a:gd name="T113" fmla="*/ 54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" h="96">
                <a:moveTo>
                  <a:pt x="88" y="22"/>
                </a:moveTo>
                <a:cubicBezTo>
                  <a:pt x="88" y="23"/>
                  <a:pt x="88" y="24"/>
                  <a:pt x="89" y="24"/>
                </a:cubicBezTo>
                <a:cubicBezTo>
                  <a:pt x="89" y="26"/>
                  <a:pt x="89" y="27"/>
                  <a:pt x="89" y="28"/>
                </a:cubicBezTo>
                <a:cubicBezTo>
                  <a:pt x="89" y="83"/>
                  <a:pt x="89" y="83"/>
                  <a:pt x="89" y="83"/>
                </a:cubicBezTo>
                <a:cubicBezTo>
                  <a:pt x="89" y="87"/>
                  <a:pt x="88" y="90"/>
                  <a:pt x="85" y="92"/>
                </a:cubicBezTo>
                <a:cubicBezTo>
                  <a:pt x="83" y="95"/>
                  <a:pt x="80" y="96"/>
                  <a:pt x="76" y="96"/>
                </a:cubicBezTo>
                <a:cubicBezTo>
                  <a:pt x="13" y="96"/>
                  <a:pt x="13" y="96"/>
                  <a:pt x="13" y="96"/>
                </a:cubicBezTo>
                <a:cubicBezTo>
                  <a:pt x="9" y="96"/>
                  <a:pt x="6" y="95"/>
                  <a:pt x="3" y="92"/>
                </a:cubicBezTo>
                <a:cubicBezTo>
                  <a:pt x="1" y="90"/>
                  <a:pt x="0" y="87"/>
                  <a:pt x="0" y="8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5"/>
                  <a:pt x="1" y="21"/>
                  <a:pt x="3" y="19"/>
                </a:cubicBezTo>
                <a:cubicBezTo>
                  <a:pt x="6" y="17"/>
                  <a:pt x="9" y="15"/>
                  <a:pt x="13" y="15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2"/>
                  <a:pt x="47" y="9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53" y="2"/>
                  <a:pt x="59" y="0"/>
                  <a:pt x="65" y="0"/>
                </a:cubicBezTo>
                <a:cubicBezTo>
                  <a:pt x="71" y="0"/>
                  <a:pt x="77" y="2"/>
                  <a:pt x="81" y="6"/>
                </a:cubicBezTo>
                <a:cubicBezTo>
                  <a:pt x="81" y="6"/>
                  <a:pt x="81" y="6"/>
                  <a:pt x="81" y="6"/>
                </a:cubicBezTo>
                <a:cubicBezTo>
                  <a:pt x="85" y="10"/>
                  <a:pt x="88" y="16"/>
                  <a:pt x="88" y="22"/>
                </a:cubicBezTo>
                <a:cubicBezTo>
                  <a:pt x="88" y="22"/>
                  <a:pt x="88" y="22"/>
                  <a:pt x="88" y="22"/>
                </a:cubicBezTo>
                <a:close/>
                <a:moveTo>
                  <a:pt x="65" y="11"/>
                </a:moveTo>
                <a:cubicBezTo>
                  <a:pt x="65" y="11"/>
                  <a:pt x="65" y="11"/>
                  <a:pt x="65" y="11"/>
                </a:cubicBezTo>
                <a:cubicBezTo>
                  <a:pt x="68" y="11"/>
                  <a:pt x="71" y="13"/>
                  <a:pt x="73" y="15"/>
                </a:cubicBezTo>
                <a:cubicBezTo>
                  <a:pt x="75" y="17"/>
                  <a:pt x="76" y="19"/>
                  <a:pt x="76" y="22"/>
                </a:cubicBezTo>
                <a:cubicBezTo>
                  <a:pt x="76" y="25"/>
                  <a:pt x="75" y="28"/>
                  <a:pt x="73" y="30"/>
                </a:cubicBezTo>
                <a:cubicBezTo>
                  <a:pt x="71" y="32"/>
                  <a:pt x="68" y="33"/>
                  <a:pt x="65" y="33"/>
                </a:cubicBezTo>
                <a:cubicBezTo>
                  <a:pt x="62" y="33"/>
                  <a:pt x="59" y="32"/>
                  <a:pt x="57" y="30"/>
                </a:cubicBezTo>
                <a:cubicBezTo>
                  <a:pt x="55" y="28"/>
                  <a:pt x="54" y="25"/>
                  <a:pt x="54" y="22"/>
                </a:cubicBezTo>
                <a:cubicBezTo>
                  <a:pt x="54" y="19"/>
                  <a:pt x="55" y="17"/>
                  <a:pt x="57" y="15"/>
                </a:cubicBezTo>
                <a:cubicBezTo>
                  <a:pt x="59" y="13"/>
                  <a:pt x="62" y="11"/>
                  <a:pt x="65" y="11"/>
                </a:cubicBezTo>
                <a:close/>
                <a:moveTo>
                  <a:pt x="70" y="17"/>
                </a:moveTo>
                <a:cubicBezTo>
                  <a:pt x="70" y="17"/>
                  <a:pt x="70" y="17"/>
                  <a:pt x="70" y="17"/>
                </a:cubicBezTo>
                <a:cubicBezTo>
                  <a:pt x="69" y="16"/>
                  <a:pt x="67" y="15"/>
                  <a:pt x="65" y="15"/>
                </a:cubicBezTo>
                <a:cubicBezTo>
                  <a:pt x="63" y="15"/>
                  <a:pt x="62" y="16"/>
                  <a:pt x="60" y="17"/>
                </a:cubicBezTo>
                <a:cubicBezTo>
                  <a:pt x="59" y="19"/>
                  <a:pt x="58" y="20"/>
                  <a:pt x="58" y="22"/>
                </a:cubicBezTo>
                <a:cubicBezTo>
                  <a:pt x="58" y="24"/>
                  <a:pt x="59" y="26"/>
                  <a:pt x="60" y="27"/>
                </a:cubicBezTo>
                <a:cubicBezTo>
                  <a:pt x="62" y="29"/>
                  <a:pt x="63" y="29"/>
                  <a:pt x="65" y="29"/>
                </a:cubicBezTo>
                <a:cubicBezTo>
                  <a:pt x="67" y="29"/>
                  <a:pt x="69" y="29"/>
                  <a:pt x="70" y="27"/>
                </a:cubicBezTo>
                <a:cubicBezTo>
                  <a:pt x="71" y="26"/>
                  <a:pt x="72" y="24"/>
                  <a:pt x="72" y="22"/>
                </a:cubicBezTo>
                <a:cubicBezTo>
                  <a:pt x="72" y="20"/>
                  <a:pt x="71" y="19"/>
                  <a:pt x="70" y="17"/>
                </a:cubicBezTo>
                <a:close/>
                <a:moveTo>
                  <a:pt x="43" y="22"/>
                </a:moveTo>
                <a:cubicBezTo>
                  <a:pt x="43" y="22"/>
                  <a:pt x="43" y="22"/>
                  <a:pt x="43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1" y="22"/>
                  <a:pt x="9" y="23"/>
                  <a:pt x="8" y="24"/>
                </a:cubicBezTo>
                <a:cubicBezTo>
                  <a:pt x="7" y="25"/>
                  <a:pt x="7" y="27"/>
                  <a:pt x="7" y="28"/>
                </a:cubicBezTo>
                <a:cubicBezTo>
                  <a:pt x="7" y="83"/>
                  <a:pt x="7" y="83"/>
                  <a:pt x="7" y="83"/>
                </a:cubicBezTo>
                <a:cubicBezTo>
                  <a:pt x="7" y="85"/>
                  <a:pt x="7" y="86"/>
                  <a:pt x="8" y="87"/>
                </a:cubicBezTo>
                <a:cubicBezTo>
                  <a:pt x="9" y="88"/>
                  <a:pt x="11" y="89"/>
                  <a:pt x="13" y="89"/>
                </a:cubicBezTo>
                <a:cubicBezTo>
                  <a:pt x="76" y="89"/>
                  <a:pt x="76" y="89"/>
                  <a:pt x="76" y="89"/>
                </a:cubicBezTo>
                <a:cubicBezTo>
                  <a:pt x="78" y="89"/>
                  <a:pt x="79" y="88"/>
                  <a:pt x="81" y="87"/>
                </a:cubicBezTo>
                <a:cubicBezTo>
                  <a:pt x="82" y="86"/>
                  <a:pt x="82" y="85"/>
                  <a:pt x="82" y="83"/>
                </a:cubicBezTo>
                <a:cubicBezTo>
                  <a:pt x="82" y="37"/>
                  <a:pt x="82" y="37"/>
                  <a:pt x="82" y="37"/>
                </a:cubicBezTo>
                <a:cubicBezTo>
                  <a:pt x="80" y="40"/>
                  <a:pt x="77" y="42"/>
                  <a:pt x="74" y="43"/>
                </a:cubicBezTo>
                <a:cubicBezTo>
                  <a:pt x="67" y="52"/>
                  <a:pt x="67" y="52"/>
                  <a:pt x="67" y="52"/>
                </a:cubicBezTo>
                <a:cubicBezTo>
                  <a:pt x="66" y="53"/>
                  <a:pt x="65" y="53"/>
                  <a:pt x="64" y="52"/>
                </a:cubicBezTo>
                <a:cubicBezTo>
                  <a:pt x="64" y="52"/>
                  <a:pt x="64" y="52"/>
                  <a:pt x="64" y="52"/>
                </a:cubicBezTo>
                <a:cubicBezTo>
                  <a:pt x="64" y="52"/>
                  <a:pt x="64" y="52"/>
                  <a:pt x="64" y="52"/>
                </a:cubicBezTo>
                <a:cubicBezTo>
                  <a:pt x="57" y="43"/>
                  <a:pt x="57" y="43"/>
                  <a:pt x="57" y="43"/>
                </a:cubicBezTo>
                <a:cubicBezTo>
                  <a:pt x="53" y="42"/>
                  <a:pt x="49" y="39"/>
                  <a:pt x="47" y="35"/>
                </a:cubicBezTo>
                <a:cubicBezTo>
                  <a:pt x="44" y="31"/>
                  <a:pt x="43" y="27"/>
                  <a:pt x="43" y="22"/>
                </a:cubicBezTo>
                <a:close/>
                <a:moveTo>
                  <a:pt x="78" y="9"/>
                </a:moveTo>
                <a:cubicBezTo>
                  <a:pt x="78" y="9"/>
                  <a:pt x="78" y="9"/>
                  <a:pt x="78" y="9"/>
                </a:cubicBezTo>
                <a:cubicBezTo>
                  <a:pt x="75" y="6"/>
                  <a:pt x="70" y="4"/>
                  <a:pt x="65" y="4"/>
                </a:cubicBezTo>
                <a:cubicBezTo>
                  <a:pt x="60" y="4"/>
                  <a:pt x="56" y="6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49" y="13"/>
                  <a:pt x="47" y="17"/>
                  <a:pt x="47" y="22"/>
                </a:cubicBezTo>
                <a:cubicBezTo>
                  <a:pt x="47" y="26"/>
                  <a:pt x="48" y="30"/>
                  <a:pt x="50" y="33"/>
                </a:cubicBezTo>
                <a:cubicBezTo>
                  <a:pt x="52" y="36"/>
                  <a:pt x="55" y="38"/>
                  <a:pt x="59" y="40"/>
                </a:cubicBezTo>
                <a:cubicBezTo>
                  <a:pt x="59" y="40"/>
                  <a:pt x="59" y="40"/>
                  <a:pt x="60" y="40"/>
                </a:cubicBezTo>
                <a:cubicBezTo>
                  <a:pt x="65" y="47"/>
                  <a:pt x="65" y="47"/>
                  <a:pt x="65" y="47"/>
                </a:cubicBezTo>
                <a:cubicBezTo>
                  <a:pt x="71" y="40"/>
                  <a:pt x="71" y="40"/>
                  <a:pt x="71" y="40"/>
                </a:cubicBezTo>
                <a:cubicBezTo>
                  <a:pt x="71" y="40"/>
                  <a:pt x="71" y="40"/>
                  <a:pt x="72" y="40"/>
                </a:cubicBezTo>
                <a:cubicBezTo>
                  <a:pt x="75" y="38"/>
                  <a:pt x="78" y="36"/>
                  <a:pt x="80" y="33"/>
                </a:cubicBezTo>
                <a:cubicBezTo>
                  <a:pt x="82" y="30"/>
                  <a:pt x="84" y="26"/>
                  <a:pt x="84" y="22"/>
                </a:cubicBezTo>
                <a:cubicBezTo>
                  <a:pt x="84" y="17"/>
                  <a:pt x="82" y="13"/>
                  <a:pt x="78" y="9"/>
                </a:cubicBezTo>
                <a:close/>
                <a:moveTo>
                  <a:pt x="51" y="48"/>
                </a:moveTo>
                <a:cubicBezTo>
                  <a:pt x="51" y="48"/>
                  <a:pt x="51" y="48"/>
                  <a:pt x="51" y="48"/>
                </a:cubicBezTo>
                <a:cubicBezTo>
                  <a:pt x="52" y="47"/>
                  <a:pt x="53" y="47"/>
                  <a:pt x="54" y="48"/>
                </a:cubicBezTo>
                <a:cubicBezTo>
                  <a:pt x="55" y="49"/>
                  <a:pt x="55" y="50"/>
                  <a:pt x="54" y="51"/>
                </a:cubicBezTo>
                <a:cubicBezTo>
                  <a:pt x="48" y="57"/>
                  <a:pt x="48" y="57"/>
                  <a:pt x="48" y="57"/>
                </a:cubicBezTo>
                <a:cubicBezTo>
                  <a:pt x="60" y="69"/>
                  <a:pt x="60" y="69"/>
                  <a:pt x="60" y="69"/>
                </a:cubicBezTo>
                <a:cubicBezTo>
                  <a:pt x="73" y="55"/>
                  <a:pt x="73" y="55"/>
                  <a:pt x="73" y="55"/>
                </a:cubicBezTo>
                <a:cubicBezTo>
                  <a:pt x="74" y="55"/>
                  <a:pt x="76" y="55"/>
                  <a:pt x="76" y="55"/>
                </a:cubicBezTo>
                <a:cubicBezTo>
                  <a:pt x="77" y="56"/>
                  <a:pt x="77" y="58"/>
                  <a:pt x="76" y="58"/>
                </a:cubicBezTo>
                <a:cubicBezTo>
                  <a:pt x="63" y="72"/>
                  <a:pt x="63" y="72"/>
                  <a:pt x="63" y="72"/>
                </a:cubicBezTo>
                <a:cubicBezTo>
                  <a:pt x="68" y="76"/>
                  <a:pt x="68" y="76"/>
                  <a:pt x="68" y="76"/>
                </a:cubicBezTo>
                <a:cubicBezTo>
                  <a:pt x="68" y="77"/>
                  <a:pt x="68" y="78"/>
                  <a:pt x="68" y="79"/>
                </a:cubicBezTo>
                <a:cubicBezTo>
                  <a:pt x="67" y="80"/>
                  <a:pt x="65" y="80"/>
                  <a:pt x="65" y="79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59" y="73"/>
                  <a:pt x="59" y="73"/>
                  <a:pt x="59" y="73"/>
                </a:cubicBezTo>
                <a:cubicBezTo>
                  <a:pt x="46" y="60"/>
                  <a:pt x="46" y="60"/>
                  <a:pt x="46" y="60"/>
                </a:cubicBezTo>
                <a:cubicBezTo>
                  <a:pt x="22" y="83"/>
                  <a:pt x="22" y="83"/>
                  <a:pt x="22" y="83"/>
                </a:cubicBezTo>
                <a:cubicBezTo>
                  <a:pt x="21" y="84"/>
                  <a:pt x="20" y="84"/>
                  <a:pt x="19" y="83"/>
                </a:cubicBezTo>
                <a:cubicBezTo>
                  <a:pt x="18" y="83"/>
                  <a:pt x="18" y="81"/>
                  <a:pt x="19" y="81"/>
                </a:cubicBezTo>
                <a:cubicBezTo>
                  <a:pt x="43" y="57"/>
                  <a:pt x="43" y="57"/>
                  <a:pt x="43" y="57"/>
                </a:cubicBezTo>
                <a:cubicBezTo>
                  <a:pt x="33" y="47"/>
                  <a:pt x="33" y="47"/>
                  <a:pt x="33" y="47"/>
                </a:cubicBezTo>
                <a:cubicBezTo>
                  <a:pt x="17" y="63"/>
                  <a:pt x="17" y="63"/>
                  <a:pt x="17" y="63"/>
                </a:cubicBezTo>
                <a:cubicBezTo>
                  <a:pt x="16" y="64"/>
                  <a:pt x="15" y="64"/>
                  <a:pt x="14" y="63"/>
                </a:cubicBezTo>
                <a:cubicBezTo>
                  <a:pt x="13" y="62"/>
                  <a:pt x="13" y="61"/>
                  <a:pt x="14" y="60"/>
                </a:cubicBezTo>
                <a:cubicBezTo>
                  <a:pt x="30" y="44"/>
                  <a:pt x="30" y="44"/>
                  <a:pt x="30" y="44"/>
                </a:cubicBezTo>
                <a:cubicBezTo>
                  <a:pt x="20" y="34"/>
                  <a:pt x="20" y="34"/>
                  <a:pt x="20" y="34"/>
                </a:cubicBezTo>
                <a:cubicBezTo>
                  <a:pt x="19" y="33"/>
                  <a:pt x="19" y="32"/>
                  <a:pt x="20" y="31"/>
                </a:cubicBezTo>
                <a:cubicBezTo>
                  <a:pt x="21" y="30"/>
                  <a:pt x="22" y="30"/>
                  <a:pt x="23" y="31"/>
                </a:cubicBezTo>
                <a:cubicBezTo>
                  <a:pt x="34" y="43"/>
                  <a:pt x="34" y="43"/>
                  <a:pt x="34" y="43"/>
                </a:cubicBezTo>
                <a:cubicBezTo>
                  <a:pt x="34" y="43"/>
                  <a:pt x="34" y="43"/>
                  <a:pt x="34" y="43"/>
                </a:cubicBezTo>
                <a:cubicBezTo>
                  <a:pt x="34" y="43"/>
                  <a:pt x="34" y="43"/>
                  <a:pt x="34" y="43"/>
                </a:cubicBezTo>
                <a:cubicBezTo>
                  <a:pt x="34" y="43"/>
                  <a:pt x="34" y="43"/>
                  <a:pt x="34" y="43"/>
                </a:cubicBezTo>
                <a:cubicBezTo>
                  <a:pt x="34" y="43"/>
                  <a:pt x="34" y="43"/>
                  <a:pt x="34" y="43"/>
                </a:cubicBezTo>
                <a:cubicBezTo>
                  <a:pt x="46" y="54"/>
                  <a:pt x="46" y="54"/>
                  <a:pt x="46" y="54"/>
                </a:cubicBezTo>
                <a:cubicBezTo>
                  <a:pt x="51" y="48"/>
                  <a:pt x="51" y="48"/>
                  <a:pt x="51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Arial" panose="020B0604020202090204" pitchFamily="34" charset="0"/>
            </a:endParaRPr>
          </a:p>
        </p:txBody>
      </p:sp>
      <p:pic>
        <p:nvPicPr>
          <p:cNvPr id="23" name="图形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87144" y="3421679"/>
            <a:ext cx="493096" cy="49309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02715" y="5109845"/>
            <a:ext cx="2362835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</a:rPr>
              <a:t>进攻、防守、得分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06645" y="5109845"/>
            <a:ext cx="2512060" cy="991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</a:rPr>
              <a:t>更精准、更有效的投篮</a:t>
            </a:r>
          </a:p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重在基础得分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29270" y="5407660"/>
            <a:ext cx="349059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</a:rPr>
              <a:t>运球、传球、投篮、控球、防守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4610735" y="2381250"/>
            <a:ext cx="2127885" cy="215392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</a:schemeClr>
              </a:gs>
              <a:gs pos="0">
                <a:srgbClr val="F3F3F3"/>
              </a:gs>
              <a:gs pos="83000">
                <a:srgbClr val="F3F3F3"/>
              </a:gs>
            </a:gsLst>
            <a:lin ang="8100000" scaled="1"/>
          </a:gradFill>
          <a:ln>
            <a:noFill/>
          </a:ln>
          <a:effectLst>
            <a:outerShdw blurRad="508000" dist="279400" dir="81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160010" y="3040380"/>
            <a:ext cx="102933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</a:rPr>
              <a:t>比赛规则</a:t>
            </a:r>
          </a:p>
        </p:txBody>
      </p:sp>
      <p:sp>
        <p:nvSpPr>
          <p:cNvPr id="29" name="椭圆 28"/>
          <p:cNvSpPr/>
          <p:nvPr/>
        </p:nvSpPr>
        <p:spPr>
          <a:xfrm>
            <a:off x="4215130" y="1981200"/>
            <a:ext cx="2918460" cy="2954020"/>
          </a:xfrm>
          <a:prstGeom prst="ellipse">
            <a:avLst/>
          </a:prstGeom>
          <a:noFill/>
          <a:ln w="15875">
            <a:solidFill>
              <a:srgbClr val="015F81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0" name="弧形 61"/>
          <p:cNvSpPr/>
          <p:nvPr/>
        </p:nvSpPr>
        <p:spPr>
          <a:xfrm>
            <a:off x="4832985" y="2606675"/>
            <a:ext cx="1683385" cy="1703705"/>
          </a:xfrm>
          <a:prstGeom prst="arc">
            <a:avLst>
              <a:gd name="adj1" fmla="val 546212"/>
              <a:gd name="adj2" fmla="val 10296895"/>
            </a:avLst>
          </a:prstGeom>
          <a:ln w="127000">
            <a:gradFill flip="none" rotWithShape="1">
              <a:gsLst>
                <a:gs pos="0">
                  <a:srgbClr val="023E87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弧形 63"/>
          <p:cNvSpPr/>
          <p:nvPr/>
        </p:nvSpPr>
        <p:spPr>
          <a:xfrm rot="10800000">
            <a:off x="4832985" y="2606675"/>
            <a:ext cx="1683385" cy="1703705"/>
          </a:xfrm>
          <a:prstGeom prst="arc">
            <a:avLst>
              <a:gd name="adj1" fmla="val 546212"/>
              <a:gd name="adj2" fmla="val 10296895"/>
            </a:avLst>
          </a:prstGeom>
          <a:ln w="127000">
            <a:gradFill flip="none" rotWithShape="1"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2" name="椭圆 31"/>
          <p:cNvSpPr/>
          <p:nvPr/>
        </p:nvSpPr>
        <p:spPr>
          <a:xfrm rot="16200000">
            <a:off x="6786245" y="2475230"/>
            <a:ext cx="257810" cy="254635"/>
          </a:xfrm>
          <a:prstGeom prst="ellipse">
            <a:avLst/>
          </a:prstGeom>
          <a:gradFill flip="none" rotWithShape="1">
            <a:gsLst>
              <a:gs pos="0">
                <a:srgbClr val="FAF6F3"/>
              </a:gs>
              <a:gs pos="82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3" name="椭圆 32"/>
          <p:cNvSpPr/>
          <p:nvPr/>
        </p:nvSpPr>
        <p:spPr>
          <a:xfrm rot="19800000">
            <a:off x="6741160" y="4204335"/>
            <a:ext cx="254635" cy="257810"/>
          </a:xfrm>
          <a:prstGeom prst="ellipse">
            <a:avLst/>
          </a:prstGeom>
          <a:gradFill flip="none" rotWithShape="1">
            <a:gsLst>
              <a:gs pos="0">
                <a:srgbClr val="FAF6F3"/>
              </a:gs>
              <a:gs pos="82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4" name="椭圆 33"/>
          <p:cNvSpPr/>
          <p:nvPr/>
        </p:nvSpPr>
        <p:spPr>
          <a:xfrm rot="3600000">
            <a:off x="4336415" y="4206240"/>
            <a:ext cx="257810" cy="254635"/>
          </a:xfrm>
          <a:prstGeom prst="ellipse">
            <a:avLst/>
          </a:prstGeom>
          <a:gradFill flip="none" rotWithShape="1">
            <a:gsLst>
              <a:gs pos="0">
                <a:srgbClr val="FAF6F3"/>
              </a:gs>
              <a:gs pos="82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5" name="椭圆 34"/>
          <p:cNvSpPr/>
          <p:nvPr/>
        </p:nvSpPr>
        <p:spPr>
          <a:xfrm rot="5400000">
            <a:off x="4336415" y="2475230"/>
            <a:ext cx="257810" cy="254635"/>
          </a:xfrm>
          <a:prstGeom prst="ellipse">
            <a:avLst/>
          </a:prstGeom>
          <a:gradFill flip="none" rotWithShape="1">
            <a:gsLst>
              <a:gs pos="0">
                <a:srgbClr val="FAF6F3"/>
              </a:gs>
              <a:gs pos="82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44930" y="944880"/>
            <a:ext cx="2072640" cy="25514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ea"/>
                <a:sym typeface="+mn-lt"/>
              </a:rPr>
              <a:t>运球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1136872" y="658312"/>
            <a:ext cx="0" cy="1092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956945" y="3670935"/>
            <a:ext cx="3285490" cy="2704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hangingPunct="0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宋体" pitchFamily="2" charset="-122"/>
              <a:cs typeface="+mn-ea"/>
              <a:sym typeface="+mn-lt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1136872" y="4767327"/>
            <a:ext cx="0" cy="1092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9274810" y="829310"/>
            <a:ext cx="2668270" cy="12541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hangingPunct="0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宋体" pitchFamily="2" charset="-122"/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7678924" y="944697"/>
            <a:ext cx="1270" cy="113474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7662545" y="4535170"/>
            <a:ext cx="4529455" cy="2381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indent="0" fontAlgn="auto" hangingPunct="0">
              <a:lnSpc>
                <a:spcPts val="168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ea"/>
                <a:sym typeface="+mn-lt"/>
              </a:rPr>
              <a:t>扣篮 </a:t>
            </a:r>
          </a:p>
          <a:p>
            <a:pPr indent="457200" fontAlgn="auto" hangingPunct="0">
              <a:lnSpc>
                <a:spcPct val="10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在限制区，独立跳起，在空中放开球，放开球时球没有向上的速度，放开球前机器人不能钩住篮筐，放开球后可以钩住篮筐。</a:t>
            </a:r>
          </a:p>
          <a:p>
            <a:pPr indent="0" fontAlgn="auto" hangingPunct="0">
              <a:lnSpc>
                <a:spcPct val="100000"/>
              </a:lnSpc>
            </a:pP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endParaRPr lang="zh-CN" altLang="en-US" sz="2400" dirty="0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  <a:cs typeface="+mn-ea"/>
              <a:sym typeface="+mn-lt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V="1">
            <a:off x="7678924" y="4935602"/>
            <a:ext cx="0" cy="1092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 6"/>
          <p:cNvSpPr/>
          <p:nvPr/>
        </p:nvSpPr>
        <p:spPr>
          <a:xfrm>
            <a:off x="544195" y="1016000"/>
            <a:ext cx="518160" cy="384810"/>
          </a:xfrm>
          <a:custGeom>
            <a:avLst/>
            <a:gdLst>
              <a:gd name="txL" fmla="*/ 0 w 3234520"/>
              <a:gd name="txT" fmla="*/ 0 h 1741792"/>
              <a:gd name="txR" fmla="*/ 3234520 w 3234520"/>
              <a:gd name="txB" fmla="*/ 1741792 h 1741792"/>
            </a:gdLst>
            <a:ahLst/>
            <a:cxnLst>
              <a:cxn ang="0">
                <a:pos x="3234520" y="0"/>
              </a:cxn>
              <a:cxn ang="0">
                <a:pos x="1009935" y="0"/>
              </a:cxn>
              <a:cxn ang="0">
                <a:pos x="518615" y="300251"/>
              </a:cxn>
              <a:cxn ang="0">
                <a:pos x="0" y="1733266"/>
              </a:cxn>
              <a:cxn ang="0">
                <a:pos x="2279176" y="1733266"/>
              </a:cxn>
              <a:cxn ang="0">
                <a:pos x="2729553" y="1487606"/>
              </a:cxn>
              <a:cxn ang="0">
                <a:pos x="3234520" y="0"/>
              </a:cxn>
            </a:cxnLst>
            <a:rect l="txL" t="txT" r="txR" b="txB"/>
            <a:pathLst>
              <a:path w="3234520" h="1741792">
                <a:moveTo>
                  <a:pt x="3234520" y="0"/>
                </a:moveTo>
                <a:lnTo>
                  <a:pt x="1009935" y="0"/>
                </a:lnTo>
                <a:cubicBezTo>
                  <a:pt x="791571" y="4549"/>
                  <a:pt x="614149" y="90985"/>
                  <a:pt x="518615" y="300251"/>
                </a:cubicBezTo>
                <a:lnTo>
                  <a:pt x="0" y="1733266"/>
                </a:lnTo>
                <a:lnTo>
                  <a:pt x="2279176" y="1733266"/>
                </a:lnTo>
                <a:cubicBezTo>
                  <a:pt x="2538484" y="1760561"/>
                  <a:pt x="2606723" y="1733266"/>
                  <a:pt x="2729553" y="1487606"/>
                </a:cubicBezTo>
                <a:lnTo>
                  <a:pt x="3234520" y="0"/>
                </a:lnTo>
                <a:close/>
              </a:path>
            </a:pathLst>
          </a:custGeom>
          <a:gradFill flip="none" rotWithShape="1">
            <a:gsLst>
              <a:gs pos="100000">
                <a:srgbClr val="FAF6F3"/>
              </a:gs>
              <a:gs pos="66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lt1"/>
              </a:solidFill>
              <a:latin typeface="Calibri" panose="020F0502020204030204" pitchFamily="34" charset="0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61035" y="1008380"/>
            <a:ext cx="530225" cy="36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zh-CN" alt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任意多边形 6"/>
          <p:cNvSpPr/>
          <p:nvPr/>
        </p:nvSpPr>
        <p:spPr>
          <a:xfrm>
            <a:off x="415290" y="4144645"/>
            <a:ext cx="518160" cy="384810"/>
          </a:xfrm>
          <a:custGeom>
            <a:avLst/>
            <a:gdLst>
              <a:gd name="txL" fmla="*/ 0 w 3234520"/>
              <a:gd name="txT" fmla="*/ 0 h 1741792"/>
              <a:gd name="txR" fmla="*/ 3234520 w 3234520"/>
              <a:gd name="txB" fmla="*/ 1741792 h 1741792"/>
            </a:gdLst>
            <a:ahLst/>
            <a:cxnLst>
              <a:cxn ang="0">
                <a:pos x="3234520" y="0"/>
              </a:cxn>
              <a:cxn ang="0">
                <a:pos x="1009935" y="0"/>
              </a:cxn>
              <a:cxn ang="0">
                <a:pos x="518615" y="300251"/>
              </a:cxn>
              <a:cxn ang="0">
                <a:pos x="0" y="1733266"/>
              </a:cxn>
              <a:cxn ang="0">
                <a:pos x="2279176" y="1733266"/>
              </a:cxn>
              <a:cxn ang="0">
                <a:pos x="2729553" y="1487606"/>
              </a:cxn>
              <a:cxn ang="0">
                <a:pos x="3234520" y="0"/>
              </a:cxn>
            </a:cxnLst>
            <a:rect l="txL" t="txT" r="txR" b="txB"/>
            <a:pathLst>
              <a:path w="3234520" h="1741792">
                <a:moveTo>
                  <a:pt x="3234520" y="0"/>
                </a:moveTo>
                <a:lnTo>
                  <a:pt x="1009935" y="0"/>
                </a:lnTo>
                <a:cubicBezTo>
                  <a:pt x="791571" y="4549"/>
                  <a:pt x="614149" y="90985"/>
                  <a:pt x="518615" y="300251"/>
                </a:cubicBezTo>
                <a:lnTo>
                  <a:pt x="0" y="1733266"/>
                </a:lnTo>
                <a:lnTo>
                  <a:pt x="2279176" y="1733266"/>
                </a:lnTo>
                <a:cubicBezTo>
                  <a:pt x="2538484" y="1760561"/>
                  <a:pt x="2606723" y="1733266"/>
                  <a:pt x="2729553" y="1487606"/>
                </a:cubicBezTo>
                <a:lnTo>
                  <a:pt x="3234520" y="0"/>
                </a:lnTo>
                <a:close/>
              </a:path>
            </a:pathLst>
          </a:custGeom>
          <a:gradFill flip="none" rotWithShape="1">
            <a:gsLst>
              <a:gs pos="100000">
                <a:srgbClr val="FAF6F3"/>
              </a:gs>
              <a:gs pos="66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lt1"/>
              </a:solidFill>
              <a:latin typeface="Calibri" panose="020F0502020204030204" pitchFamily="34" charset="0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32130" y="4137025"/>
            <a:ext cx="530225" cy="36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lang="zh-CN" altLang="en-US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2" name="任意多边形 6"/>
          <p:cNvSpPr/>
          <p:nvPr/>
        </p:nvSpPr>
        <p:spPr>
          <a:xfrm>
            <a:off x="7033260" y="1026795"/>
            <a:ext cx="518160" cy="384810"/>
          </a:xfrm>
          <a:custGeom>
            <a:avLst/>
            <a:gdLst>
              <a:gd name="txL" fmla="*/ 0 w 3234520"/>
              <a:gd name="txT" fmla="*/ 0 h 1741792"/>
              <a:gd name="txR" fmla="*/ 3234520 w 3234520"/>
              <a:gd name="txB" fmla="*/ 1741792 h 1741792"/>
            </a:gdLst>
            <a:ahLst/>
            <a:cxnLst>
              <a:cxn ang="0">
                <a:pos x="3234520" y="0"/>
              </a:cxn>
              <a:cxn ang="0">
                <a:pos x="1009935" y="0"/>
              </a:cxn>
              <a:cxn ang="0">
                <a:pos x="518615" y="300251"/>
              </a:cxn>
              <a:cxn ang="0">
                <a:pos x="0" y="1733266"/>
              </a:cxn>
              <a:cxn ang="0">
                <a:pos x="2279176" y="1733266"/>
              </a:cxn>
              <a:cxn ang="0">
                <a:pos x="2729553" y="1487606"/>
              </a:cxn>
              <a:cxn ang="0">
                <a:pos x="3234520" y="0"/>
              </a:cxn>
            </a:cxnLst>
            <a:rect l="txL" t="txT" r="txR" b="txB"/>
            <a:pathLst>
              <a:path w="3234520" h="1741792">
                <a:moveTo>
                  <a:pt x="3234520" y="0"/>
                </a:moveTo>
                <a:lnTo>
                  <a:pt x="1009935" y="0"/>
                </a:lnTo>
                <a:cubicBezTo>
                  <a:pt x="791571" y="4549"/>
                  <a:pt x="614149" y="90985"/>
                  <a:pt x="518615" y="300251"/>
                </a:cubicBezTo>
                <a:lnTo>
                  <a:pt x="0" y="1733266"/>
                </a:lnTo>
                <a:lnTo>
                  <a:pt x="2279176" y="1733266"/>
                </a:lnTo>
                <a:cubicBezTo>
                  <a:pt x="2538484" y="1760561"/>
                  <a:pt x="2606723" y="1733266"/>
                  <a:pt x="2729553" y="1487606"/>
                </a:cubicBezTo>
                <a:lnTo>
                  <a:pt x="3234520" y="0"/>
                </a:lnTo>
                <a:close/>
              </a:path>
            </a:pathLst>
          </a:custGeom>
          <a:gradFill flip="none" rotWithShape="1">
            <a:gsLst>
              <a:gs pos="100000">
                <a:srgbClr val="FAF6F3"/>
              </a:gs>
              <a:gs pos="66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lt1"/>
              </a:solidFill>
              <a:latin typeface="Calibri" panose="020F0502020204030204" pitchFamily="34" charset="0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149465" y="1019175"/>
            <a:ext cx="530225" cy="36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zh-CN" alt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任意多边形 6"/>
          <p:cNvSpPr/>
          <p:nvPr/>
        </p:nvSpPr>
        <p:spPr>
          <a:xfrm>
            <a:off x="7038975" y="4382770"/>
            <a:ext cx="518160" cy="384810"/>
          </a:xfrm>
          <a:custGeom>
            <a:avLst/>
            <a:gdLst>
              <a:gd name="txL" fmla="*/ 0 w 3234520"/>
              <a:gd name="txT" fmla="*/ 0 h 1741792"/>
              <a:gd name="txR" fmla="*/ 3234520 w 3234520"/>
              <a:gd name="txB" fmla="*/ 1741792 h 1741792"/>
            </a:gdLst>
            <a:ahLst/>
            <a:cxnLst>
              <a:cxn ang="0">
                <a:pos x="3234520" y="0"/>
              </a:cxn>
              <a:cxn ang="0">
                <a:pos x="1009935" y="0"/>
              </a:cxn>
              <a:cxn ang="0">
                <a:pos x="518615" y="300251"/>
              </a:cxn>
              <a:cxn ang="0">
                <a:pos x="0" y="1733266"/>
              </a:cxn>
              <a:cxn ang="0">
                <a:pos x="2279176" y="1733266"/>
              </a:cxn>
              <a:cxn ang="0">
                <a:pos x="2729553" y="1487606"/>
              </a:cxn>
              <a:cxn ang="0">
                <a:pos x="3234520" y="0"/>
              </a:cxn>
            </a:cxnLst>
            <a:rect l="txL" t="txT" r="txR" b="txB"/>
            <a:pathLst>
              <a:path w="3234520" h="1741792">
                <a:moveTo>
                  <a:pt x="3234520" y="0"/>
                </a:moveTo>
                <a:lnTo>
                  <a:pt x="1009935" y="0"/>
                </a:lnTo>
                <a:cubicBezTo>
                  <a:pt x="791571" y="4549"/>
                  <a:pt x="614149" y="90985"/>
                  <a:pt x="518615" y="300251"/>
                </a:cubicBezTo>
                <a:lnTo>
                  <a:pt x="0" y="1733266"/>
                </a:lnTo>
                <a:lnTo>
                  <a:pt x="2279176" y="1733266"/>
                </a:lnTo>
                <a:cubicBezTo>
                  <a:pt x="2538484" y="1760561"/>
                  <a:pt x="2606723" y="1733266"/>
                  <a:pt x="2729553" y="1487606"/>
                </a:cubicBezTo>
                <a:lnTo>
                  <a:pt x="3234520" y="0"/>
                </a:lnTo>
                <a:close/>
              </a:path>
            </a:pathLst>
          </a:custGeom>
          <a:gradFill flip="none" rotWithShape="1">
            <a:gsLst>
              <a:gs pos="100000">
                <a:srgbClr val="FAF6F3"/>
              </a:gs>
              <a:gs pos="6600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lt1"/>
              </a:solidFill>
              <a:latin typeface="Calibri" panose="020F0502020204030204" pitchFamily="34" charset="0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134860" y="4382770"/>
            <a:ext cx="530225" cy="36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endParaRPr lang="zh-CN" alt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9585" y="919480"/>
            <a:ext cx="4006850" cy="3057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/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机器人在与球分离时与再接住球时，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球必须至少距离地面700mm，并且收球意味着重新使球处于被机器控制的状态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，且必须现在防守区内运球一次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70710" y="444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17270" y="4120515"/>
            <a:ext cx="3286125" cy="1092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ea"/>
              </a:rPr>
              <a:t>传球</a:t>
            </a:r>
            <a:r>
              <a:rPr lang="en-US" altLang="zh-CN">
                <a:latin typeface="Calibri" panose="020F0502020204030204" pitchFamily="34" charset="0"/>
                <a:ea typeface="宋体" pitchFamily="2" charset="-122"/>
              </a:rPr>
              <a:t>  </a:t>
            </a:r>
            <a:endParaRPr lang="zh-CN" altLang="en-US" sz="1400">
              <a:latin typeface="Calibri" panose="020F0502020204030204" pitchFamily="34" charset="0"/>
              <a:ea typeface="宋体" pitchFamily="2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弹性强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导致接球困难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1m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距离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不易定位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07960" y="658495"/>
            <a:ext cx="3752215" cy="2070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+mn-ea"/>
              </a:rPr>
              <a:t>投篮</a:t>
            </a:r>
            <a:r>
              <a:rPr lang="en-US" altLang="zh-CN">
                <a:latin typeface="Calibri" panose="020F0502020204030204" pitchFamily="34" charset="0"/>
                <a:ea typeface="宋体" pitchFamily="2" charset="-122"/>
              </a:rPr>
              <a:t> 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对准篮筐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 </a:t>
            </a:r>
          </a:p>
          <a:p>
            <a:pPr indent="457200">
              <a:buFont typeface="Arial" panose="020B0604020202090204" pitchFamily="34" charset="0"/>
              <a:buNone/>
            </a:pP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上下分开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像挖掘机一样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加一个控制方向的结构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或者整体对准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合适的抛物线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 </a:t>
            </a:r>
          </a:p>
          <a:p>
            <a:pPr indent="457200">
              <a:buFont typeface="Arial" panose="020B0604020202090204" pitchFamily="34" charset="0"/>
              <a:buNone/>
            </a:pP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以篮筐为圆心的同心圆弧上，其投篮最佳的发球角度与速度是相同的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</a:p>
        </p:txBody>
      </p:sp>
      <p:pic>
        <p:nvPicPr>
          <p:cNvPr id="6" name="图片 5" descr="382FA61E-72DB-49E5-9F8F-FD1349E9ECFE_1_102_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11231" t="13778" r="55609" b="55796"/>
          <a:stretch>
            <a:fillRect/>
          </a:stretch>
        </p:blipFill>
        <p:spPr>
          <a:xfrm>
            <a:off x="4478020" y="187325"/>
            <a:ext cx="1704340" cy="2086610"/>
          </a:xfrm>
          <a:prstGeom prst="rect">
            <a:avLst/>
          </a:prstGeom>
        </p:spPr>
      </p:pic>
      <p:pic>
        <p:nvPicPr>
          <p:cNvPr id="7" name="图片 6" descr="草稿本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rcRect l="53644" t="24546" r="13204" b="63935"/>
          <a:stretch>
            <a:fillRect/>
          </a:stretch>
        </p:blipFill>
        <p:spPr>
          <a:xfrm>
            <a:off x="2183765" y="5719445"/>
            <a:ext cx="2456180" cy="1138555"/>
          </a:xfrm>
          <a:prstGeom prst="rect">
            <a:avLst/>
          </a:prstGeom>
        </p:spPr>
      </p:pic>
      <p:pic>
        <p:nvPicPr>
          <p:cNvPr id="11" name="图片 10" descr="草稿本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rcRect l="20220" t="45167" r="54373" b="37148"/>
          <a:stretch>
            <a:fillRect/>
          </a:stretch>
        </p:blipFill>
        <p:spPr>
          <a:xfrm>
            <a:off x="5582920" y="5193030"/>
            <a:ext cx="1968500" cy="1828165"/>
          </a:xfrm>
          <a:prstGeom prst="rect">
            <a:avLst/>
          </a:prstGeom>
        </p:spPr>
      </p:pic>
      <p:sp>
        <p:nvSpPr>
          <p:cNvPr id="54" name="îṣļîḑé-文本框 18"/>
          <p:cNvSpPr txBox="1"/>
          <p:nvPr>
            <p:custDataLst>
              <p:tags r:id="rId4"/>
            </p:custDataLst>
          </p:nvPr>
        </p:nvSpPr>
        <p:spPr>
          <a:xfrm>
            <a:off x="878840" y="187325"/>
            <a:ext cx="2632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比赛规则解析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229235" y="3837305"/>
            <a:ext cx="3840480" cy="0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7357110" y="4157980"/>
            <a:ext cx="4317365" cy="0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4813300" y="4935855"/>
            <a:ext cx="0" cy="1714500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6650355" y="292100"/>
            <a:ext cx="0" cy="1706245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270" y="855345"/>
            <a:ext cx="4315460" cy="1864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>
                <a:latin typeface="微软雅黑" charset="0"/>
                <a:ea typeface="微软雅黑" charset="0"/>
              </a:rPr>
              <a:t>防守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Calibri" panose="020F0502020204030204" pitchFamily="34" charset="0"/>
                <a:ea typeface="宋体" pitchFamily="2" charset="-122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在防守区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，抢断、盖帽，阻挡和拦截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后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，守方去捡球。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攻方投篮失败，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守方去抢篮板球，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此时可以去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进攻区内捡球</a:t>
            </a:r>
            <a:r>
              <a:rPr lang="en-US" altLang="zh-CN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</a:p>
          <a:p>
            <a:endParaRPr lang="zh-CN" altLang="en-US" sz="14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74920" y="855345"/>
            <a:ext cx="5542915" cy="2206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latin typeface="微软雅黑" charset="0"/>
                <a:ea typeface="微软雅黑" charset="0"/>
              </a:rPr>
              <a:t>时间安排</a:t>
            </a: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如果攻方失去控球5s，则控球变更，控球变更会暂停比赛时钟，重置投篮时钟。有10s的时间重新使机器人放回防守区。罚球时比赛时钟与投篮时钟也暂停。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95700" y="2720340"/>
            <a:ext cx="6637020" cy="3662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095" y="2951480"/>
            <a:ext cx="7250430" cy="368173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434340" y="4020820"/>
          <a:ext cx="4064000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charset="0"/>
                          <a:ea typeface="微软雅黑" charset="0"/>
                        </a:rPr>
                        <a:t>传球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charset="0"/>
                          <a:ea typeface="微软雅黑" charset="0"/>
                        </a:rPr>
                        <a:t>运球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charset="0"/>
                          <a:ea typeface="微软雅黑" charset="0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24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îṣļîḑé-文本框 18"/>
          <p:cNvSpPr txBox="1"/>
          <p:nvPr>
            <p:custDataLst>
              <p:tags r:id="rId2"/>
            </p:custDataLst>
          </p:nvPr>
        </p:nvSpPr>
        <p:spPr>
          <a:xfrm>
            <a:off x="1062990" y="228600"/>
            <a:ext cx="2632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比赛规则解析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01140" y="253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725" y="803275"/>
            <a:ext cx="2921000" cy="6299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运球</a:t>
            </a:r>
            <a:r>
              <a:rPr lang="en-US" altLang="zh-CN" sz="28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</a:p>
          <a:p>
            <a:endParaRPr lang="en-US" altLang="zh-CN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zh-CN" altLang="en-US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endParaRPr lang="en-US" altLang="zh-CN" sz="140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 sz="140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5030" y="866140"/>
            <a:ext cx="3253105" cy="583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latin typeface="微软雅黑" charset="0"/>
                <a:ea typeface="微软雅黑" charset="0"/>
              </a:rPr>
              <a:t>投篮</a:t>
            </a:r>
          </a:p>
          <a:p>
            <a:endParaRPr lang="zh-CN" altLang="en-US" sz="2800" b="1" dirty="0">
              <a:latin typeface="微软雅黑" charset="0"/>
              <a:ea typeface="微软雅黑" charset="0"/>
            </a:endParaRPr>
          </a:p>
          <a:p>
            <a:r>
              <a:rPr lang="zh-CN" altLang="en-US" sz="2400" dirty="0">
                <a:latin typeface="微软雅黑" charset="0"/>
                <a:ea typeface="微软雅黑" charset="0"/>
              </a:rPr>
              <a:t>使用轮组加速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投篮前，预先设定好各种参数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便可控制投篮速度与角度。</a:t>
            </a:r>
          </a:p>
          <a:p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参数只设置三组速度与角度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分别对应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：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二分线内切圆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二分线外接圆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三分线外切圆</a:t>
            </a:r>
          </a:p>
          <a:p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endParaRPr lang="zh-CN" altLang="en-US" sz="2400" dirty="0"/>
          </a:p>
        </p:txBody>
      </p:sp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923925" y="176530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竞赛策略</a:t>
            </a:r>
          </a:p>
        </p:txBody>
      </p:sp>
      <p:pic>
        <p:nvPicPr>
          <p:cNvPr id="9" name="图片 8" descr="382FA61E-72DB-49E5-9F8F-FD1349E9ECFE_1_102_o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11231" t="13778" r="55609" b="55796"/>
          <a:stretch>
            <a:fillRect/>
          </a:stretch>
        </p:blipFill>
        <p:spPr>
          <a:xfrm>
            <a:off x="0" y="1362710"/>
            <a:ext cx="2955290" cy="3618230"/>
          </a:xfrm>
          <a:prstGeom prst="rect">
            <a:avLst/>
          </a:prstGeom>
        </p:spPr>
      </p:pic>
      <p:pic>
        <p:nvPicPr>
          <p:cNvPr id="10" name="图片 9" descr="截屏2025-04-07 23.09.38"/>
          <p:cNvPicPr>
            <a:picLocks noChangeAspect="1"/>
          </p:cNvPicPr>
          <p:nvPr/>
        </p:nvPicPr>
        <p:blipFill>
          <a:blip r:embed="rId6"/>
          <a:srcRect t="35806"/>
          <a:stretch>
            <a:fillRect/>
          </a:stretch>
        </p:blipFill>
        <p:spPr>
          <a:xfrm>
            <a:off x="3006725" y="176530"/>
            <a:ext cx="3135630" cy="4402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8775" y="4697730"/>
            <a:ext cx="60363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策略</a:t>
            </a:r>
            <a:r>
              <a:rPr lang="en-US" altLang="zh-CN" sz="2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从地面铲起球，升到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接近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1.5m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高度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，自由落体，使球能够反弹至少700mm。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	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标准篮球可反弹至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60-70%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高度</a:t>
            </a:r>
            <a:r>
              <a:rPr lang="en-US" altLang="zh-CN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放开球后，容器马上移动到700mm处待命，在球第一次弹起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至铲斗位置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铲斗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接球。</a:t>
            </a:r>
            <a:endParaRPr lang="en-US" altLang="zh-CN" sz="24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sz="24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580505" y="313055"/>
            <a:ext cx="0" cy="6222365"/>
          </a:xfrm>
          <a:prstGeom prst="line">
            <a:avLst/>
          </a:prstGeom>
          <a:ln w="19050" cap="flat" cmpd="sng">
            <a:solidFill>
              <a:schemeClr val="tx2">
                <a:lumMod val="75000"/>
              </a:schemeClr>
            </a:solidFill>
            <a:prstDash val="solid"/>
            <a:miter lim="800000"/>
            <a:headEnd type="none"/>
            <a:tailEnd type="none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01140" y="253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6755" y="899160"/>
            <a:ext cx="4064000" cy="4770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latin typeface="微软雅黑" charset="0"/>
                <a:ea typeface="微软雅黑" charset="0"/>
              </a:rPr>
              <a:t>扣篮</a:t>
            </a:r>
          </a:p>
          <a:p>
            <a:endParaRPr lang="zh-CN" altLang="en-US" sz="2800">
              <a:latin typeface="微软雅黑" charset="0"/>
              <a:ea typeface="微软雅黑" charset="0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机器人比赛前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1.5m，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赛中可以变化至2.4m，篮筐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2.43m，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篮球直径245mm。</a:t>
            </a:r>
          </a:p>
          <a:p>
            <a:endParaRPr lang="zh-CN" altLang="en-US" sz="24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那么我们需要一个</a:t>
            </a:r>
            <a:r>
              <a:rPr lang="zh-CN" altLang="en-US" sz="2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长颈鹿</a:t>
            </a:r>
            <a:r>
              <a:rPr lang="en-US" altLang="zh-CN" sz="2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才能够实现扣篮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sz="2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我们使用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伸缩结构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将投球器升到最高处，然后解锁最下方的</a:t>
            </a:r>
            <a:r>
              <a:rPr lang="zh-CN" altLang="en-US" sz="240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弹簧腿</a:t>
            </a:r>
            <a:r>
              <a:rPr lang="zh-CN" altLang="en-US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，使机器人跳起</a:t>
            </a:r>
            <a:r>
              <a:rPr lang="en-US" altLang="zh-CN" sz="2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sz="2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经计算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需要跳起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30cm）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80025" y="5246370"/>
            <a:ext cx="4286250" cy="276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charset="0"/>
                <a:ea typeface="微软雅黑" charset="0"/>
              </a:rPr>
              <a:t>无论是投篮还是扣篮，都需要提前大量的训练，从而实现最开始设想的更精准有效的投篮得分策略！</a:t>
            </a:r>
          </a:p>
        </p:txBody>
      </p:sp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923925" y="176530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竞赛策略</a:t>
            </a:r>
          </a:p>
        </p:txBody>
      </p:sp>
      <p:pic>
        <p:nvPicPr>
          <p:cNvPr id="3" name="图片 2" descr="/Users/leimohan/Library/Containers/com.kingsoft.wpsoffice.mac/Data/tmp/picturecompress_20250407232551/output_1.pngoutput_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723890" y="147955"/>
            <a:ext cx="3398520" cy="50984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32010" y="24364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微软雅黑" charset="0"/>
                <a:ea typeface="微软雅黑" charset="0"/>
              </a:rPr>
              <a:t>传球</a:t>
            </a:r>
          </a:p>
        </p:txBody>
      </p:sp>
      <p:sp>
        <p:nvSpPr>
          <p:cNvPr id="5" name="禁止符 4"/>
          <p:cNvSpPr/>
          <p:nvPr/>
        </p:nvSpPr>
        <p:spPr>
          <a:xfrm>
            <a:off x="9366250" y="1831340"/>
            <a:ext cx="1708785" cy="1661795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8" grpId="1"/>
      <p:bldP spid="5" grpId="0" bldLvl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61" b="26710"/>
          <a:stretch>
            <a:fillRect/>
          </a:stretch>
        </p:blipFill>
        <p:spPr>
          <a:xfrm>
            <a:off x="0" y="342926"/>
            <a:ext cx="12192000" cy="6441412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-1" y="-615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73663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666220" y="6342380"/>
            <a:ext cx="19875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12880" y="6450330"/>
            <a:ext cx="25209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55755" y="6558280"/>
            <a:ext cx="10922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-9579"/>
            <a:ext cx="12192000" cy="1662786"/>
          </a:xfrm>
          <a:prstGeom prst="rect">
            <a:avLst/>
          </a:prstGeom>
          <a:gradFill>
            <a:gsLst>
              <a:gs pos="0">
                <a:srgbClr val="84A6DD">
                  <a:alpha val="0"/>
                </a:srgbClr>
              </a:gs>
              <a:gs pos="54000">
                <a:srgbClr val="769AD8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任意多边形 28"/>
          <p:cNvSpPr/>
          <p:nvPr/>
        </p:nvSpPr>
        <p:spPr>
          <a:xfrm>
            <a:off x="1" y="-34329"/>
            <a:ext cx="12191999" cy="5146364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543265" y="3663758"/>
            <a:ext cx="1105469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875855" y="158234"/>
            <a:ext cx="3479725" cy="33229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0 2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708872" y="2491213"/>
            <a:ext cx="677425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模型设计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0" y="5698037"/>
            <a:ext cx="4538210" cy="1001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1" y="4759568"/>
            <a:ext cx="420913" cy="2098432"/>
          </a:xfrm>
          <a:prstGeom prst="rect">
            <a:avLst/>
          </a:prstGeom>
          <a:gradFill flip="none" rotWithShape="1">
            <a:gsLst>
              <a:gs pos="100000">
                <a:srgbClr val="FAF6F3"/>
              </a:gs>
              <a:gs pos="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152571" y="1901371"/>
            <a:ext cx="290286" cy="290286"/>
          </a:xfrm>
          <a:prstGeom prst="ellipse">
            <a:avLst/>
          </a:prstGeom>
          <a:gradFill flip="none" rotWithShape="1">
            <a:gsLst>
              <a:gs pos="100000">
                <a:srgbClr val="FAF6F3"/>
              </a:gs>
              <a:gs pos="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026400" y="5892799"/>
            <a:ext cx="145144" cy="145144"/>
          </a:xfrm>
          <a:prstGeom prst="ellipse">
            <a:avLst/>
          </a:prstGeom>
          <a:gradFill flip="none" rotWithShape="1">
            <a:gsLst>
              <a:gs pos="100000">
                <a:srgbClr val="FAF6F3"/>
              </a:gs>
              <a:gs pos="0">
                <a:srgbClr val="023E87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35807" y="2081001"/>
            <a:ext cx="3060632" cy="552187"/>
          </a:xfrm>
          <a:prstGeom prst="roundRect">
            <a:avLst>
              <a:gd name="adj" fmla="val 50000"/>
            </a:avLst>
          </a:prstGeom>
          <a:solidFill>
            <a:srgbClr val="023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charset="0"/>
                <a:ea typeface="微软雅黑" charset="0"/>
                <a:sym typeface="+mn-lt"/>
              </a:rPr>
              <a:t>整体视图</a:t>
            </a:r>
          </a:p>
        </p:txBody>
      </p:sp>
      <p:pic>
        <p:nvPicPr>
          <p:cNvPr id="3" name="图片 2" descr="整体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25" y="105410"/>
            <a:ext cx="4738370" cy="6646545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923925" y="176530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模型设计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上视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1550670"/>
            <a:ext cx="4039235" cy="39147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7060" y="450215"/>
            <a:ext cx="272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微软雅黑" charset="0"/>
                <a:ea typeface="微软雅黑" charset="0"/>
              </a:rPr>
              <a:t>俯视图</a:t>
            </a:r>
          </a:p>
        </p:txBody>
      </p:sp>
      <p:pic>
        <p:nvPicPr>
          <p:cNvPr id="5" name="图片 4" descr="主视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0"/>
            <a:ext cx="424243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58560" y="339725"/>
            <a:ext cx="1374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微软雅黑" charset="0"/>
                <a:ea typeface="微软雅黑" charset="0"/>
              </a:rPr>
              <a:t>主视图</a:t>
            </a:r>
          </a:p>
        </p:txBody>
      </p:sp>
      <p:pic>
        <p:nvPicPr>
          <p:cNvPr id="7" name="图片 6" descr="左视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160" y="213995"/>
            <a:ext cx="4225925" cy="65398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29320" y="3397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微软雅黑" charset="0"/>
                <a:ea typeface="微软雅黑" charset="0"/>
              </a:rPr>
              <a:t>左视图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20_1744038458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76200"/>
            <a:ext cx="12192635" cy="678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投球机构侧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755" y="906780"/>
            <a:ext cx="4548505" cy="4302760"/>
          </a:xfrm>
          <a:prstGeom prst="rect">
            <a:avLst/>
          </a:prstGeom>
        </p:spPr>
      </p:pic>
      <p:pic>
        <p:nvPicPr>
          <p:cNvPr id="6" name="图片 5" descr="投球机构侧面展开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290" y="831215"/>
            <a:ext cx="3604260" cy="4046220"/>
          </a:xfrm>
          <a:prstGeom prst="rect">
            <a:avLst/>
          </a:prstGeom>
        </p:spPr>
      </p:pic>
      <p:pic>
        <p:nvPicPr>
          <p:cNvPr id="7" name="图片 6" descr="投球机构结构展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350" y="906780"/>
            <a:ext cx="3690620" cy="399796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682625" y="176530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投篮器</a:t>
            </a:r>
          </a:p>
        </p:txBody>
      </p:sp>
      <p:sp>
        <p:nvSpPr>
          <p:cNvPr id="10" name="矩形 9"/>
          <p:cNvSpPr/>
          <p:nvPr/>
        </p:nvSpPr>
        <p:spPr>
          <a:xfrm>
            <a:off x="9864090" y="5805170"/>
            <a:ext cx="2449195" cy="800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pic>
        <p:nvPicPr>
          <p:cNvPr id="8" name="图片 7" descr="流程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690" y="4627245"/>
            <a:ext cx="9024620" cy="2528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运动部分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" y="1544320"/>
            <a:ext cx="5527675" cy="4548505"/>
          </a:xfrm>
          <a:prstGeom prst="rect">
            <a:avLst/>
          </a:prstGeom>
        </p:spPr>
      </p:pic>
      <p:pic>
        <p:nvPicPr>
          <p:cNvPr id="6" name="图片 5" descr="弹跳机构特写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1444625"/>
            <a:ext cx="3839845" cy="537210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6013450" y="1022350"/>
            <a:ext cx="3923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弹跳机构</a:t>
            </a:r>
          </a:p>
        </p:txBody>
      </p:sp>
      <p:sp>
        <p:nvSpPr>
          <p:cNvPr id="5" name="îṣļîḑé-文本框 18"/>
          <p:cNvSpPr txBox="1"/>
          <p:nvPr>
            <p:custDataLst>
              <p:tags r:id="rId2"/>
            </p:custDataLst>
          </p:nvPr>
        </p:nvSpPr>
        <p:spPr>
          <a:xfrm>
            <a:off x="990600" y="922655"/>
            <a:ext cx="3923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全向移动平台</a:t>
            </a:r>
          </a:p>
        </p:txBody>
      </p:sp>
      <p:sp>
        <p:nvSpPr>
          <p:cNvPr id="7" name="矩形 6"/>
          <p:cNvSpPr/>
          <p:nvPr/>
        </p:nvSpPr>
        <p:spPr>
          <a:xfrm>
            <a:off x="4046220" y="2227580"/>
            <a:ext cx="824230" cy="1398270"/>
          </a:xfrm>
          <a:prstGeom prst="rect">
            <a:avLst/>
          </a:prstGeom>
          <a:noFill/>
          <a:ln w="57150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sp>
        <p:nvSpPr>
          <p:cNvPr id="8" name="îṣļîḑé-文本框 18"/>
          <p:cNvSpPr txBox="1"/>
          <p:nvPr>
            <p:custDataLst>
              <p:tags r:id="rId3"/>
            </p:custDataLst>
          </p:nvPr>
        </p:nvSpPr>
        <p:spPr>
          <a:xfrm>
            <a:off x="826135" y="176530"/>
            <a:ext cx="232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运动模块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释放球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46295" y="224790"/>
            <a:ext cx="1896110" cy="66795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17845" y="4060190"/>
            <a:ext cx="18967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+mj-ea"/>
              <a:buNone/>
            </a:pPr>
            <a:r>
              <a:rPr lang="en-US" altLang="zh-CN" sz="2800">
                <a:latin typeface="微软雅黑" charset="0"/>
                <a:ea typeface="微软雅黑" charset="0"/>
              </a:rPr>
              <a:t>2.</a:t>
            </a:r>
            <a:r>
              <a:rPr lang="zh-CN" altLang="en-US" sz="2800">
                <a:latin typeface="微软雅黑" charset="0"/>
                <a:ea typeface="微软雅黑" charset="0"/>
              </a:rPr>
              <a:t>释放球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51585" y="5523865"/>
            <a:ext cx="170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+mj-ea"/>
              <a:buNone/>
            </a:pPr>
            <a:r>
              <a:rPr lang="en-US" altLang="zh-CN" sz="2800">
                <a:latin typeface="微软雅黑" charset="0"/>
                <a:ea typeface="微软雅黑" charset="0"/>
              </a:rPr>
              <a:t>1.</a:t>
            </a:r>
            <a:r>
              <a:rPr lang="zh-CN" altLang="en-US" sz="2800">
                <a:latin typeface="微软雅黑" charset="0"/>
                <a:ea typeface="微软雅黑" charset="0"/>
              </a:rPr>
              <a:t>捡球</a:t>
            </a:r>
          </a:p>
        </p:txBody>
      </p:sp>
      <p:pic>
        <p:nvPicPr>
          <p:cNvPr id="8" name="图片 7" descr="捡球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3055" y="1167765"/>
            <a:ext cx="4098290" cy="40138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17100" y="4060190"/>
            <a:ext cx="2278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微软雅黑" charset="0"/>
                <a:ea typeface="微软雅黑" charset="0"/>
              </a:rPr>
              <a:t>3.</a:t>
            </a:r>
            <a:r>
              <a:rPr lang="zh-CN" altLang="en-US" sz="2800">
                <a:latin typeface="微软雅黑" charset="0"/>
                <a:ea typeface="微软雅黑" charset="0"/>
              </a:rPr>
              <a:t>弹起后接球</a:t>
            </a:r>
          </a:p>
        </p:txBody>
      </p:sp>
      <p:pic>
        <p:nvPicPr>
          <p:cNvPr id="10" name="图片 9" descr="弹起后接球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661910" y="176530"/>
            <a:ext cx="2155190" cy="6703695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4"/>
            </p:custDataLst>
          </p:nvPr>
        </p:nvSpPr>
        <p:spPr>
          <a:xfrm>
            <a:off x="63373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运球</a:t>
            </a: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/</a:t>
            </a: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捡球模块</a:t>
            </a:r>
          </a:p>
        </p:txBody>
      </p:sp>
      <p:sp>
        <p:nvSpPr>
          <p:cNvPr id="2" name="矩形 1"/>
          <p:cNvSpPr/>
          <p:nvPr/>
        </p:nvSpPr>
        <p:spPr>
          <a:xfrm>
            <a:off x="9780905" y="5822950"/>
            <a:ext cx="2449195" cy="537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后方整体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24650" y="0"/>
            <a:ext cx="4692015" cy="6858000"/>
          </a:xfrm>
          <a:prstGeom prst="rect">
            <a:avLst/>
          </a:prstGeom>
        </p:spPr>
      </p:pic>
      <p:pic>
        <p:nvPicPr>
          <p:cNvPr id="4" name="图片 3" descr="整体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25575" y="105410"/>
            <a:ext cx="4738370" cy="6646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32"/>
          <a:stretch>
            <a:fillRect/>
          </a:stretch>
        </p:blipFill>
        <p:spPr>
          <a:xfrm>
            <a:off x="-5" y="681897"/>
            <a:ext cx="12192005" cy="4429760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-1" y="-615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26038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666220" y="6342380"/>
            <a:ext cx="19875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12880" y="6450330"/>
            <a:ext cx="25209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55755" y="6558280"/>
            <a:ext cx="10922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8185"/>
            <a:ext cx="12192000" cy="1662786"/>
          </a:xfrm>
          <a:prstGeom prst="rect">
            <a:avLst/>
          </a:prstGeom>
          <a:gradFill>
            <a:gsLst>
              <a:gs pos="0">
                <a:srgbClr val="84A6DD">
                  <a:alpha val="0"/>
                </a:srgbClr>
              </a:gs>
              <a:gs pos="54000">
                <a:srgbClr val="769AD8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任意多边形 28"/>
          <p:cNvSpPr/>
          <p:nvPr/>
        </p:nvSpPr>
        <p:spPr>
          <a:xfrm>
            <a:off x="1" y="-6440"/>
            <a:ext cx="12191999" cy="5071291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543260" y="3549142"/>
            <a:ext cx="1105469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761537" y="107007"/>
            <a:ext cx="2998046" cy="33229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0 3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708867" y="2376597"/>
            <a:ext cx="677425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电气硬件介绍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0" y="5698037"/>
            <a:ext cx="4538210" cy="1001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090" y="43180"/>
            <a:ext cx="7955915" cy="6533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87005" y="861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4030" y="861060"/>
            <a:ext cx="3338195" cy="2463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2800">
                <a:latin typeface="微软雅黑" charset="0"/>
                <a:ea typeface="微软雅黑" charset="0"/>
              </a:rPr>
              <a:t>运动模块，投篮器与扣篮、运球模块相互配合基本完成机器人的篮球功能</a:t>
            </a:r>
            <a:r>
              <a:rPr lang="en-US" altLang="zh-CN" sz="2800">
                <a:latin typeface="微软雅黑" charset="0"/>
                <a:ea typeface="微软雅黑" charset="0"/>
              </a:rPr>
              <a:t>。</a:t>
            </a:r>
            <a:endParaRPr lang="zh-CN" altLang="en-US" sz="2800">
              <a:latin typeface="微软雅黑" charset="0"/>
              <a:ea typeface="微软雅黑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2800">
                <a:latin typeface="微软雅黑" charset="0"/>
                <a:ea typeface="微软雅黑" charset="0"/>
              </a:rPr>
              <a:t>红外测距使两个升降机的使用更加精准。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2800">
                <a:latin typeface="微软雅黑" charset="0"/>
                <a:ea typeface="微软雅黑" charset="0"/>
              </a:rPr>
              <a:t>运动主要由人操作</a:t>
            </a:r>
            <a:r>
              <a:rPr lang="en-US" altLang="zh-CN" sz="2800">
                <a:latin typeface="微软雅黑" charset="0"/>
                <a:ea typeface="微软雅黑" charset="0"/>
              </a:rPr>
              <a:t>。</a:t>
            </a:r>
          </a:p>
        </p:txBody>
      </p:sp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972185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机器人系统框图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94369" y="3635494"/>
            <a:ext cx="338448" cy="142214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32817" y="0"/>
            <a:ext cx="4368664" cy="2289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 rot="16200000">
            <a:off x="2971127" y="5715887"/>
            <a:ext cx="1495797" cy="126017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88" h="1928">
                <a:moveTo>
                  <a:pt x="0" y="0"/>
                </a:moveTo>
                <a:lnTo>
                  <a:pt x="138" y="0"/>
                </a:lnTo>
                <a:lnTo>
                  <a:pt x="138" y="1790"/>
                </a:lnTo>
                <a:lnTo>
                  <a:pt x="2288" y="1790"/>
                </a:lnTo>
                <a:lnTo>
                  <a:pt x="2288" y="1928"/>
                </a:lnTo>
                <a:lnTo>
                  <a:pt x="138" y="1928"/>
                </a:lnTo>
                <a:lnTo>
                  <a:pt x="138" y="1928"/>
                </a:lnTo>
                <a:lnTo>
                  <a:pt x="0" y="19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 rot="16200000">
            <a:off x="2363777" y="2498956"/>
            <a:ext cx="1795935" cy="27427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47" h="4195">
                <a:moveTo>
                  <a:pt x="20" y="0"/>
                </a:moveTo>
                <a:lnTo>
                  <a:pt x="2747" y="0"/>
                </a:lnTo>
                <a:lnTo>
                  <a:pt x="2747" y="138"/>
                </a:lnTo>
                <a:lnTo>
                  <a:pt x="138" y="138"/>
                </a:lnTo>
                <a:lnTo>
                  <a:pt x="138" y="4195"/>
                </a:lnTo>
                <a:lnTo>
                  <a:pt x="0" y="4195"/>
                </a:lnTo>
                <a:lnTo>
                  <a:pt x="0" y="0"/>
                </a:lnTo>
                <a:lnTo>
                  <a:pt x="20" y="0"/>
                </a:lnTo>
                <a:lnTo>
                  <a:pt x="20" y="0"/>
                </a:lnTo>
                <a:close/>
              </a:path>
            </a:pathLst>
          </a:cu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3"/>
          <p:cNvSpPr/>
          <p:nvPr>
            <p:custDataLst>
              <p:tags r:id="rId6"/>
            </p:custDataLst>
          </p:nvPr>
        </p:nvSpPr>
        <p:spPr>
          <a:xfrm>
            <a:off x="12039599" y="1523985"/>
            <a:ext cx="152401" cy="3810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Freeform 13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5337810" y="603250"/>
            <a:ext cx="191135" cy="191135"/>
          </a:xfrm>
          <a:custGeom>
            <a:avLst/>
            <a:gdLst>
              <a:gd name="T0" fmla="*/ 513 w 1026"/>
              <a:gd name="T1" fmla="*/ 1026 h 1026"/>
              <a:gd name="T2" fmla="*/ 0 w 1026"/>
              <a:gd name="T3" fmla="*/ 513 h 1026"/>
              <a:gd name="T4" fmla="*/ 513 w 1026"/>
              <a:gd name="T5" fmla="*/ 0 h 1026"/>
              <a:gd name="T6" fmla="*/ 1026 w 1026"/>
              <a:gd name="T7" fmla="*/ 513 h 1026"/>
              <a:gd name="T8" fmla="*/ 876 w 1026"/>
              <a:gd name="T9" fmla="*/ 876 h 1026"/>
              <a:gd name="T10" fmla="*/ 513 w 1026"/>
              <a:gd name="T11" fmla="*/ 1026 h 1026"/>
              <a:gd name="T12" fmla="*/ 513 w 1026"/>
              <a:gd name="T13" fmla="*/ 183 h 1026"/>
              <a:gd name="T14" fmla="*/ 205 w 1026"/>
              <a:gd name="T15" fmla="*/ 387 h 1026"/>
              <a:gd name="T16" fmla="*/ 277 w 1026"/>
              <a:gd name="T17" fmla="*/ 749 h 1026"/>
              <a:gd name="T18" fmla="*/ 639 w 1026"/>
              <a:gd name="T19" fmla="*/ 821 h 1026"/>
              <a:gd name="T20" fmla="*/ 843 w 1026"/>
              <a:gd name="T21" fmla="*/ 513 h 1026"/>
              <a:gd name="T22" fmla="*/ 746 w 1026"/>
              <a:gd name="T23" fmla="*/ 280 h 1026"/>
              <a:gd name="T24" fmla="*/ 513 w 1026"/>
              <a:gd name="T25" fmla="*/ 183 h 1026"/>
              <a:gd name="T26" fmla="*/ 513 w 1026"/>
              <a:gd name="T27" fmla="*/ 183 h 1026"/>
              <a:gd name="T28" fmla="*/ 513 w 1026"/>
              <a:gd name="T29" fmla="*/ 183 h 10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26" h="1026">
                <a:moveTo>
                  <a:pt x="513" y="1026"/>
                </a:moveTo>
                <a:cubicBezTo>
                  <a:pt x="230" y="1026"/>
                  <a:pt x="0" y="797"/>
                  <a:pt x="0" y="513"/>
                </a:cubicBezTo>
                <a:cubicBezTo>
                  <a:pt x="0" y="230"/>
                  <a:pt x="230" y="0"/>
                  <a:pt x="513" y="0"/>
                </a:cubicBezTo>
                <a:cubicBezTo>
                  <a:pt x="797" y="0"/>
                  <a:pt x="1026" y="230"/>
                  <a:pt x="1026" y="513"/>
                </a:cubicBezTo>
                <a:cubicBezTo>
                  <a:pt x="1026" y="649"/>
                  <a:pt x="972" y="780"/>
                  <a:pt x="876" y="876"/>
                </a:cubicBezTo>
                <a:cubicBezTo>
                  <a:pt x="780" y="972"/>
                  <a:pt x="649" y="1026"/>
                  <a:pt x="513" y="1026"/>
                </a:cubicBezTo>
                <a:close/>
                <a:moveTo>
                  <a:pt x="513" y="183"/>
                </a:moveTo>
                <a:cubicBezTo>
                  <a:pt x="379" y="183"/>
                  <a:pt x="257" y="263"/>
                  <a:pt x="205" y="387"/>
                </a:cubicBezTo>
                <a:cubicBezTo>
                  <a:pt x="154" y="511"/>
                  <a:pt x="182" y="654"/>
                  <a:pt x="277" y="749"/>
                </a:cubicBezTo>
                <a:cubicBezTo>
                  <a:pt x="372" y="844"/>
                  <a:pt x="515" y="873"/>
                  <a:pt x="639" y="821"/>
                </a:cubicBezTo>
                <a:cubicBezTo>
                  <a:pt x="763" y="769"/>
                  <a:pt x="844" y="648"/>
                  <a:pt x="843" y="513"/>
                </a:cubicBezTo>
                <a:cubicBezTo>
                  <a:pt x="843" y="426"/>
                  <a:pt x="808" y="342"/>
                  <a:pt x="746" y="280"/>
                </a:cubicBezTo>
                <a:cubicBezTo>
                  <a:pt x="684" y="218"/>
                  <a:pt x="601" y="183"/>
                  <a:pt x="513" y="183"/>
                </a:cubicBezTo>
                <a:close/>
                <a:moveTo>
                  <a:pt x="513" y="183"/>
                </a:moveTo>
                <a:cubicBezTo>
                  <a:pt x="513" y="183"/>
                  <a:pt x="513" y="183"/>
                  <a:pt x="513" y="183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1" name="Freeform 14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5170170" y="440690"/>
            <a:ext cx="526415" cy="516255"/>
          </a:xfrm>
          <a:custGeom>
            <a:avLst/>
            <a:gdLst>
              <a:gd name="T0" fmla="*/ 899 w 2809"/>
              <a:gd name="T1" fmla="*/ 2714 h 2758"/>
              <a:gd name="T2" fmla="*/ 430 w 2809"/>
              <a:gd name="T3" fmla="*/ 2204 h 2758"/>
              <a:gd name="T4" fmla="*/ 430 w 2809"/>
              <a:gd name="T5" fmla="*/ 1948 h 2758"/>
              <a:gd name="T6" fmla="*/ 208 w 2809"/>
              <a:gd name="T7" fmla="*/ 1820 h 2758"/>
              <a:gd name="T8" fmla="*/ 0 w 2809"/>
              <a:gd name="T9" fmla="*/ 1612 h 2758"/>
              <a:gd name="T10" fmla="*/ 65 w 2809"/>
              <a:gd name="T11" fmla="*/ 1007 h 2758"/>
              <a:gd name="T12" fmla="*/ 430 w 2809"/>
              <a:gd name="T13" fmla="*/ 823 h 2758"/>
              <a:gd name="T14" fmla="*/ 439 w 2809"/>
              <a:gd name="T15" fmla="*/ 571 h 2758"/>
              <a:gd name="T16" fmla="*/ 514 w 2809"/>
              <a:gd name="T17" fmla="*/ 285 h 2758"/>
              <a:gd name="T18" fmla="*/ 1058 w 2809"/>
              <a:gd name="T19" fmla="*/ 35 h 2758"/>
              <a:gd name="T20" fmla="*/ 1185 w 2809"/>
              <a:gd name="T21" fmla="*/ 146 h 2758"/>
              <a:gd name="T22" fmla="*/ 1610 w 2809"/>
              <a:gd name="T23" fmla="*/ 146 h 2758"/>
              <a:gd name="T24" fmla="*/ 1910 w 2809"/>
              <a:gd name="T25" fmla="*/ 56 h 2758"/>
              <a:gd name="T26" fmla="*/ 2400 w 2809"/>
              <a:gd name="T27" fmla="*/ 409 h 2758"/>
              <a:gd name="T28" fmla="*/ 2379 w 2809"/>
              <a:gd name="T29" fmla="*/ 580 h 2758"/>
              <a:gd name="T30" fmla="*/ 2585 w 2809"/>
              <a:gd name="T31" fmla="*/ 950 h 2758"/>
              <a:gd name="T32" fmla="*/ 2748 w 2809"/>
              <a:gd name="T33" fmla="*/ 1011 h 2758"/>
              <a:gd name="T34" fmla="*/ 2809 w 2809"/>
              <a:gd name="T35" fmla="*/ 1612 h 2758"/>
              <a:gd name="T36" fmla="*/ 2596 w 2809"/>
              <a:gd name="T37" fmla="*/ 1820 h 2758"/>
              <a:gd name="T38" fmla="*/ 2403 w 2809"/>
              <a:gd name="T39" fmla="*/ 1901 h 2758"/>
              <a:gd name="T40" fmla="*/ 2363 w 2809"/>
              <a:gd name="T41" fmla="*/ 2188 h 2758"/>
              <a:gd name="T42" fmla="*/ 2384 w 2809"/>
              <a:gd name="T43" fmla="*/ 2360 h 2758"/>
              <a:gd name="T44" fmla="*/ 1894 w 2809"/>
              <a:gd name="T45" fmla="*/ 2714 h 2758"/>
              <a:gd name="T46" fmla="*/ 1629 w 2809"/>
              <a:gd name="T47" fmla="*/ 2626 h 2758"/>
              <a:gd name="T48" fmla="*/ 1204 w 2809"/>
              <a:gd name="T49" fmla="*/ 2626 h 2758"/>
              <a:gd name="T50" fmla="*/ 1028 w 2809"/>
              <a:gd name="T51" fmla="*/ 2744 h 2758"/>
              <a:gd name="T52" fmla="*/ 589 w 2809"/>
              <a:gd name="T53" fmla="*/ 1860 h 2758"/>
              <a:gd name="T54" fmla="*/ 589 w 2809"/>
              <a:gd name="T55" fmla="*/ 2298 h 2758"/>
              <a:gd name="T56" fmla="*/ 992 w 2809"/>
              <a:gd name="T57" fmla="*/ 2560 h 2758"/>
              <a:gd name="T58" fmla="*/ 1028 w 2809"/>
              <a:gd name="T59" fmla="*/ 2550 h 2758"/>
              <a:gd name="T60" fmla="*/ 1400 w 2809"/>
              <a:gd name="T61" fmla="*/ 2328 h 2758"/>
              <a:gd name="T62" fmla="*/ 1772 w 2809"/>
              <a:gd name="T63" fmla="*/ 2546 h 2758"/>
              <a:gd name="T64" fmla="*/ 1807 w 2809"/>
              <a:gd name="T65" fmla="*/ 2559 h 2758"/>
              <a:gd name="T66" fmla="*/ 2209 w 2809"/>
              <a:gd name="T67" fmla="*/ 2296 h 2758"/>
              <a:gd name="T68" fmla="*/ 2175 w 2809"/>
              <a:gd name="T69" fmla="*/ 1950 h 2758"/>
              <a:gd name="T70" fmla="*/ 2580 w 2809"/>
              <a:gd name="T71" fmla="*/ 1638 h 2758"/>
              <a:gd name="T72" fmla="*/ 2614 w 2809"/>
              <a:gd name="T73" fmla="*/ 1633 h 2758"/>
              <a:gd name="T74" fmla="*/ 2624 w 2809"/>
              <a:gd name="T75" fmla="*/ 1157 h 2758"/>
              <a:gd name="T76" fmla="*/ 2581 w 2809"/>
              <a:gd name="T77" fmla="*/ 1132 h 2758"/>
              <a:gd name="T78" fmla="*/ 2216 w 2809"/>
              <a:gd name="T79" fmla="*/ 490 h 2758"/>
              <a:gd name="T80" fmla="*/ 2216 w 2809"/>
              <a:gd name="T81" fmla="*/ 456 h 2758"/>
              <a:gd name="T82" fmla="*/ 1809 w 2809"/>
              <a:gd name="T83" fmla="*/ 211 h 2758"/>
              <a:gd name="T84" fmla="*/ 1775 w 2809"/>
              <a:gd name="T85" fmla="*/ 232 h 2758"/>
              <a:gd name="T86" fmla="*/ 1037 w 2809"/>
              <a:gd name="T87" fmla="*/ 232 h 2758"/>
              <a:gd name="T88" fmla="*/ 994 w 2809"/>
              <a:gd name="T89" fmla="*/ 218 h 2758"/>
              <a:gd name="T90" fmla="*/ 599 w 2809"/>
              <a:gd name="T91" fmla="*/ 474 h 2758"/>
              <a:gd name="T92" fmla="*/ 599 w 2809"/>
              <a:gd name="T93" fmla="*/ 913 h 2758"/>
              <a:gd name="T94" fmla="*/ 218 w 2809"/>
              <a:gd name="T95" fmla="*/ 1134 h 2758"/>
              <a:gd name="T96" fmla="*/ 188 w 2809"/>
              <a:gd name="T97" fmla="*/ 1157 h 2758"/>
              <a:gd name="T98" fmla="*/ 215 w 2809"/>
              <a:gd name="T99" fmla="*/ 1636 h 2758"/>
              <a:gd name="T100" fmla="*/ 589 w 2809"/>
              <a:gd name="T101" fmla="*/ 1855 h 2758"/>
              <a:gd name="T102" fmla="*/ 589 w 2809"/>
              <a:gd name="T103" fmla="*/ 1860 h 2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809" h="2758">
                <a:moveTo>
                  <a:pt x="1003" y="2742"/>
                </a:moveTo>
                <a:cubicBezTo>
                  <a:pt x="966" y="2743"/>
                  <a:pt x="930" y="2733"/>
                  <a:pt x="899" y="2714"/>
                </a:cubicBezTo>
                <a:cubicBezTo>
                  <a:pt x="506" y="2488"/>
                  <a:pt x="506" y="2488"/>
                  <a:pt x="506" y="2488"/>
                </a:cubicBezTo>
                <a:cubicBezTo>
                  <a:pt x="406" y="2431"/>
                  <a:pt x="373" y="2304"/>
                  <a:pt x="430" y="2204"/>
                </a:cubicBezTo>
                <a:cubicBezTo>
                  <a:pt x="430" y="2192"/>
                  <a:pt x="430" y="2192"/>
                  <a:pt x="430" y="2192"/>
                </a:cubicBezTo>
                <a:cubicBezTo>
                  <a:pt x="475" y="2117"/>
                  <a:pt x="475" y="2023"/>
                  <a:pt x="430" y="1948"/>
                </a:cubicBezTo>
                <a:cubicBezTo>
                  <a:pt x="389" y="1869"/>
                  <a:pt x="307" y="1820"/>
                  <a:pt x="218" y="1820"/>
                </a:cubicBezTo>
                <a:cubicBezTo>
                  <a:pt x="208" y="1820"/>
                  <a:pt x="208" y="1820"/>
                  <a:pt x="208" y="1820"/>
                </a:cubicBezTo>
                <a:cubicBezTo>
                  <a:pt x="152" y="1820"/>
                  <a:pt x="100" y="1798"/>
                  <a:pt x="60" y="1759"/>
                </a:cubicBezTo>
                <a:cubicBezTo>
                  <a:pt x="21" y="1720"/>
                  <a:pt x="0" y="1667"/>
                  <a:pt x="0" y="1612"/>
                </a:cubicBezTo>
                <a:cubicBezTo>
                  <a:pt x="0" y="1157"/>
                  <a:pt x="0" y="1157"/>
                  <a:pt x="0" y="1157"/>
                </a:cubicBezTo>
                <a:cubicBezTo>
                  <a:pt x="0" y="1100"/>
                  <a:pt x="24" y="1046"/>
                  <a:pt x="65" y="1007"/>
                </a:cubicBezTo>
                <a:cubicBezTo>
                  <a:pt x="106" y="968"/>
                  <a:pt x="161" y="947"/>
                  <a:pt x="218" y="948"/>
                </a:cubicBezTo>
                <a:cubicBezTo>
                  <a:pt x="307" y="950"/>
                  <a:pt x="389" y="902"/>
                  <a:pt x="430" y="823"/>
                </a:cubicBezTo>
                <a:cubicBezTo>
                  <a:pt x="476" y="751"/>
                  <a:pt x="479" y="660"/>
                  <a:pt x="439" y="585"/>
                </a:cubicBezTo>
                <a:cubicBezTo>
                  <a:pt x="439" y="571"/>
                  <a:pt x="439" y="571"/>
                  <a:pt x="439" y="571"/>
                </a:cubicBezTo>
                <a:cubicBezTo>
                  <a:pt x="411" y="523"/>
                  <a:pt x="403" y="466"/>
                  <a:pt x="417" y="412"/>
                </a:cubicBezTo>
                <a:cubicBezTo>
                  <a:pt x="431" y="359"/>
                  <a:pt x="466" y="313"/>
                  <a:pt x="514" y="285"/>
                </a:cubicBezTo>
                <a:cubicBezTo>
                  <a:pt x="899" y="56"/>
                  <a:pt x="899" y="56"/>
                  <a:pt x="899" y="56"/>
                </a:cubicBezTo>
                <a:cubicBezTo>
                  <a:pt x="947" y="28"/>
                  <a:pt x="1004" y="21"/>
                  <a:pt x="1058" y="35"/>
                </a:cubicBezTo>
                <a:cubicBezTo>
                  <a:pt x="1112" y="50"/>
                  <a:pt x="1157" y="85"/>
                  <a:pt x="1185" y="134"/>
                </a:cubicBezTo>
                <a:cubicBezTo>
                  <a:pt x="1185" y="146"/>
                  <a:pt x="1185" y="146"/>
                  <a:pt x="1185" y="146"/>
                </a:cubicBezTo>
                <a:cubicBezTo>
                  <a:pt x="1229" y="220"/>
                  <a:pt x="1309" y="264"/>
                  <a:pt x="1395" y="262"/>
                </a:cubicBezTo>
                <a:cubicBezTo>
                  <a:pt x="1482" y="265"/>
                  <a:pt x="1564" y="221"/>
                  <a:pt x="1610" y="146"/>
                </a:cubicBezTo>
                <a:cubicBezTo>
                  <a:pt x="1629" y="130"/>
                  <a:pt x="1629" y="130"/>
                  <a:pt x="1629" y="130"/>
                </a:cubicBezTo>
                <a:cubicBezTo>
                  <a:pt x="1687" y="33"/>
                  <a:pt x="1812" y="0"/>
                  <a:pt x="1910" y="56"/>
                </a:cubicBezTo>
                <a:cubicBezTo>
                  <a:pt x="2303" y="282"/>
                  <a:pt x="2303" y="282"/>
                  <a:pt x="2303" y="282"/>
                </a:cubicBezTo>
                <a:cubicBezTo>
                  <a:pt x="2350" y="310"/>
                  <a:pt x="2385" y="355"/>
                  <a:pt x="2400" y="409"/>
                </a:cubicBezTo>
                <a:cubicBezTo>
                  <a:pt x="2414" y="462"/>
                  <a:pt x="2406" y="520"/>
                  <a:pt x="2379" y="568"/>
                </a:cubicBezTo>
                <a:cubicBezTo>
                  <a:pt x="2379" y="580"/>
                  <a:pt x="2379" y="580"/>
                  <a:pt x="2379" y="580"/>
                </a:cubicBezTo>
                <a:cubicBezTo>
                  <a:pt x="2334" y="655"/>
                  <a:pt x="2334" y="748"/>
                  <a:pt x="2379" y="823"/>
                </a:cubicBezTo>
                <a:cubicBezTo>
                  <a:pt x="2419" y="901"/>
                  <a:pt x="2498" y="949"/>
                  <a:pt x="2585" y="950"/>
                </a:cubicBezTo>
                <a:cubicBezTo>
                  <a:pt x="2601" y="950"/>
                  <a:pt x="2601" y="950"/>
                  <a:pt x="2601" y="950"/>
                </a:cubicBezTo>
                <a:cubicBezTo>
                  <a:pt x="2656" y="950"/>
                  <a:pt x="2709" y="972"/>
                  <a:pt x="2748" y="1011"/>
                </a:cubicBezTo>
                <a:cubicBezTo>
                  <a:pt x="2787" y="1050"/>
                  <a:pt x="2809" y="1103"/>
                  <a:pt x="2809" y="1158"/>
                </a:cubicBezTo>
                <a:cubicBezTo>
                  <a:pt x="2809" y="1612"/>
                  <a:pt x="2809" y="1612"/>
                  <a:pt x="2809" y="1612"/>
                </a:cubicBezTo>
                <a:cubicBezTo>
                  <a:pt x="2809" y="1668"/>
                  <a:pt x="2786" y="1721"/>
                  <a:pt x="2746" y="1760"/>
                </a:cubicBezTo>
                <a:cubicBezTo>
                  <a:pt x="2706" y="1799"/>
                  <a:pt x="2652" y="1821"/>
                  <a:pt x="2596" y="1820"/>
                </a:cubicBezTo>
                <a:cubicBezTo>
                  <a:pt x="2581" y="1820"/>
                  <a:pt x="2581" y="1820"/>
                  <a:pt x="2581" y="1820"/>
                </a:cubicBezTo>
                <a:cubicBezTo>
                  <a:pt x="2513" y="1822"/>
                  <a:pt x="2449" y="1851"/>
                  <a:pt x="2403" y="1901"/>
                </a:cubicBezTo>
                <a:cubicBezTo>
                  <a:pt x="2356" y="1951"/>
                  <a:pt x="2332" y="2018"/>
                  <a:pt x="2335" y="2086"/>
                </a:cubicBezTo>
                <a:cubicBezTo>
                  <a:pt x="2336" y="2122"/>
                  <a:pt x="2346" y="2157"/>
                  <a:pt x="2363" y="2188"/>
                </a:cubicBezTo>
                <a:cubicBezTo>
                  <a:pt x="2363" y="2202"/>
                  <a:pt x="2363" y="2202"/>
                  <a:pt x="2363" y="2202"/>
                </a:cubicBezTo>
                <a:cubicBezTo>
                  <a:pt x="2391" y="2250"/>
                  <a:pt x="2399" y="2307"/>
                  <a:pt x="2384" y="2360"/>
                </a:cubicBezTo>
                <a:cubicBezTo>
                  <a:pt x="2370" y="2414"/>
                  <a:pt x="2335" y="2459"/>
                  <a:pt x="2287" y="2486"/>
                </a:cubicBezTo>
                <a:cubicBezTo>
                  <a:pt x="1894" y="2714"/>
                  <a:pt x="1894" y="2714"/>
                  <a:pt x="1894" y="2714"/>
                </a:cubicBezTo>
                <a:cubicBezTo>
                  <a:pt x="1798" y="2758"/>
                  <a:pt x="1686" y="2725"/>
                  <a:pt x="1629" y="2636"/>
                </a:cubicBezTo>
                <a:cubicBezTo>
                  <a:pt x="1629" y="2626"/>
                  <a:pt x="1629" y="2626"/>
                  <a:pt x="1629" y="2626"/>
                </a:cubicBezTo>
                <a:cubicBezTo>
                  <a:pt x="1583" y="2553"/>
                  <a:pt x="1503" y="2509"/>
                  <a:pt x="1417" y="2509"/>
                </a:cubicBezTo>
                <a:cubicBezTo>
                  <a:pt x="1331" y="2509"/>
                  <a:pt x="1250" y="2553"/>
                  <a:pt x="1204" y="2626"/>
                </a:cubicBezTo>
                <a:cubicBezTo>
                  <a:pt x="1204" y="2640"/>
                  <a:pt x="1204" y="2640"/>
                  <a:pt x="1204" y="2640"/>
                </a:cubicBezTo>
                <a:cubicBezTo>
                  <a:pt x="1168" y="2703"/>
                  <a:pt x="1101" y="2743"/>
                  <a:pt x="1028" y="2744"/>
                </a:cubicBezTo>
                <a:lnTo>
                  <a:pt x="1003" y="2742"/>
                </a:lnTo>
                <a:close/>
                <a:moveTo>
                  <a:pt x="589" y="1860"/>
                </a:moveTo>
                <a:cubicBezTo>
                  <a:pt x="664" y="1992"/>
                  <a:pt x="664" y="2154"/>
                  <a:pt x="589" y="2285"/>
                </a:cubicBezTo>
                <a:cubicBezTo>
                  <a:pt x="589" y="2298"/>
                  <a:pt x="589" y="2298"/>
                  <a:pt x="589" y="2298"/>
                </a:cubicBezTo>
                <a:cubicBezTo>
                  <a:pt x="582" y="2311"/>
                  <a:pt x="586" y="2327"/>
                  <a:pt x="599" y="2335"/>
                </a:cubicBezTo>
                <a:cubicBezTo>
                  <a:pt x="992" y="2560"/>
                  <a:pt x="992" y="2560"/>
                  <a:pt x="992" y="2560"/>
                </a:cubicBezTo>
                <a:cubicBezTo>
                  <a:pt x="998" y="2564"/>
                  <a:pt x="1006" y="2564"/>
                  <a:pt x="1012" y="2560"/>
                </a:cubicBezTo>
                <a:cubicBezTo>
                  <a:pt x="1018" y="2559"/>
                  <a:pt x="1024" y="2555"/>
                  <a:pt x="1028" y="2550"/>
                </a:cubicBezTo>
                <a:cubicBezTo>
                  <a:pt x="1028" y="2534"/>
                  <a:pt x="1028" y="2534"/>
                  <a:pt x="1028" y="2534"/>
                </a:cubicBezTo>
                <a:cubicBezTo>
                  <a:pt x="1108" y="2406"/>
                  <a:pt x="1249" y="2328"/>
                  <a:pt x="1400" y="2328"/>
                </a:cubicBezTo>
                <a:cubicBezTo>
                  <a:pt x="1551" y="2328"/>
                  <a:pt x="1692" y="2406"/>
                  <a:pt x="1772" y="2534"/>
                </a:cubicBezTo>
                <a:cubicBezTo>
                  <a:pt x="1772" y="2546"/>
                  <a:pt x="1772" y="2546"/>
                  <a:pt x="1772" y="2546"/>
                </a:cubicBezTo>
                <a:cubicBezTo>
                  <a:pt x="1775" y="2553"/>
                  <a:pt x="1780" y="2558"/>
                  <a:pt x="1787" y="2561"/>
                </a:cubicBezTo>
                <a:cubicBezTo>
                  <a:pt x="1794" y="2563"/>
                  <a:pt x="1801" y="2562"/>
                  <a:pt x="1807" y="2559"/>
                </a:cubicBezTo>
                <a:cubicBezTo>
                  <a:pt x="2199" y="2331"/>
                  <a:pt x="2199" y="2331"/>
                  <a:pt x="2199" y="2331"/>
                </a:cubicBezTo>
                <a:cubicBezTo>
                  <a:pt x="2211" y="2324"/>
                  <a:pt x="2216" y="2309"/>
                  <a:pt x="2209" y="2296"/>
                </a:cubicBezTo>
                <a:cubicBezTo>
                  <a:pt x="2209" y="2282"/>
                  <a:pt x="2209" y="2282"/>
                  <a:pt x="2209" y="2282"/>
                </a:cubicBezTo>
                <a:cubicBezTo>
                  <a:pt x="2154" y="2180"/>
                  <a:pt x="2142" y="2061"/>
                  <a:pt x="2175" y="1950"/>
                </a:cubicBezTo>
                <a:cubicBezTo>
                  <a:pt x="2208" y="1839"/>
                  <a:pt x="2284" y="1746"/>
                  <a:pt x="2386" y="1691"/>
                </a:cubicBezTo>
                <a:cubicBezTo>
                  <a:pt x="2446" y="1660"/>
                  <a:pt x="2512" y="1641"/>
                  <a:pt x="2580" y="1638"/>
                </a:cubicBezTo>
                <a:cubicBezTo>
                  <a:pt x="2594" y="1638"/>
                  <a:pt x="2594" y="1638"/>
                  <a:pt x="2594" y="1638"/>
                </a:cubicBezTo>
                <a:cubicBezTo>
                  <a:pt x="2601" y="1639"/>
                  <a:pt x="2608" y="1637"/>
                  <a:pt x="2614" y="1633"/>
                </a:cubicBezTo>
                <a:cubicBezTo>
                  <a:pt x="2619" y="1629"/>
                  <a:pt x="2623" y="1622"/>
                  <a:pt x="2624" y="1615"/>
                </a:cubicBezTo>
                <a:cubicBezTo>
                  <a:pt x="2624" y="1157"/>
                  <a:pt x="2624" y="1157"/>
                  <a:pt x="2624" y="1157"/>
                </a:cubicBezTo>
                <a:cubicBezTo>
                  <a:pt x="2623" y="1143"/>
                  <a:pt x="2611" y="1132"/>
                  <a:pt x="2597" y="1132"/>
                </a:cubicBezTo>
                <a:cubicBezTo>
                  <a:pt x="2581" y="1132"/>
                  <a:pt x="2581" y="1132"/>
                  <a:pt x="2581" y="1132"/>
                </a:cubicBezTo>
                <a:cubicBezTo>
                  <a:pt x="2430" y="1129"/>
                  <a:pt x="2292" y="1046"/>
                  <a:pt x="2216" y="915"/>
                </a:cubicBezTo>
                <a:cubicBezTo>
                  <a:pt x="2140" y="783"/>
                  <a:pt x="2140" y="621"/>
                  <a:pt x="2216" y="490"/>
                </a:cubicBezTo>
                <a:cubicBezTo>
                  <a:pt x="2216" y="476"/>
                  <a:pt x="2216" y="476"/>
                  <a:pt x="2216" y="476"/>
                </a:cubicBezTo>
                <a:cubicBezTo>
                  <a:pt x="2219" y="470"/>
                  <a:pt x="2219" y="463"/>
                  <a:pt x="2216" y="456"/>
                </a:cubicBezTo>
                <a:cubicBezTo>
                  <a:pt x="2214" y="450"/>
                  <a:pt x="2210" y="444"/>
                  <a:pt x="2204" y="441"/>
                </a:cubicBezTo>
                <a:cubicBezTo>
                  <a:pt x="1809" y="211"/>
                  <a:pt x="1809" y="211"/>
                  <a:pt x="1809" y="211"/>
                </a:cubicBezTo>
                <a:cubicBezTo>
                  <a:pt x="1797" y="205"/>
                  <a:pt x="1782" y="209"/>
                  <a:pt x="1774" y="220"/>
                </a:cubicBezTo>
                <a:cubicBezTo>
                  <a:pt x="1775" y="232"/>
                  <a:pt x="1775" y="232"/>
                  <a:pt x="1775" y="232"/>
                </a:cubicBezTo>
                <a:cubicBezTo>
                  <a:pt x="1697" y="361"/>
                  <a:pt x="1557" y="439"/>
                  <a:pt x="1406" y="439"/>
                </a:cubicBezTo>
                <a:cubicBezTo>
                  <a:pt x="1255" y="439"/>
                  <a:pt x="1115" y="361"/>
                  <a:pt x="1037" y="232"/>
                </a:cubicBezTo>
                <a:cubicBezTo>
                  <a:pt x="1029" y="232"/>
                  <a:pt x="1029" y="232"/>
                  <a:pt x="1029" y="232"/>
                </a:cubicBezTo>
                <a:cubicBezTo>
                  <a:pt x="1023" y="219"/>
                  <a:pt x="1008" y="213"/>
                  <a:pt x="994" y="218"/>
                </a:cubicBezTo>
                <a:cubicBezTo>
                  <a:pt x="599" y="439"/>
                  <a:pt x="599" y="439"/>
                  <a:pt x="599" y="439"/>
                </a:cubicBezTo>
                <a:cubicBezTo>
                  <a:pt x="590" y="449"/>
                  <a:pt x="590" y="464"/>
                  <a:pt x="599" y="474"/>
                </a:cubicBezTo>
                <a:cubicBezTo>
                  <a:pt x="599" y="488"/>
                  <a:pt x="599" y="488"/>
                  <a:pt x="599" y="488"/>
                </a:cubicBezTo>
                <a:cubicBezTo>
                  <a:pt x="675" y="620"/>
                  <a:pt x="675" y="782"/>
                  <a:pt x="599" y="913"/>
                </a:cubicBezTo>
                <a:cubicBezTo>
                  <a:pt x="525" y="1048"/>
                  <a:pt x="383" y="1132"/>
                  <a:pt x="229" y="1134"/>
                </a:cubicBezTo>
                <a:cubicBezTo>
                  <a:pt x="218" y="1134"/>
                  <a:pt x="218" y="1134"/>
                  <a:pt x="218" y="1134"/>
                </a:cubicBezTo>
                <a:cubicBezTo>
                  <a:pt x="211" y="1133"/>
                  <a:pt x="204" y="1135"/>
                  <a:pt x="198" y="1139"/>
                </a:cubicBezTo>
                <a:cubicBezTo>
                  <a:pt x="193" y="1143"/>
                  <a:pt x="189" y="1150"/>
                  <a:pt x="188" y="1157"/>
                </a:cubicBezTo>
                <a:cubicBezTo>
                  <a:pt x="188" y="1612"/>
                  <a:pt x="188" y="1612"/>
                  <a:pt x="188" y="1612"/>
                </a:cubicBezTo>
                <a:cubicBezTo>
                  <a:pt x="189" y="1626"/>
                  <a:pt x="201" y="1636"/>
                  <a:pt x="215" y="1636"/>
                </a:cubicBezTo>
                <a:cubicBezTo>
                  <a:pt x="218" y="1636"/>
                  <a:pt x="218" y="1636"/>
                  <a:pt x="218" y="1636"/>
                </a:cubicBezTo>
                <a:cubicBezTo>
                  <a:pt x="372" y="1638"/>
                  <a:pt x="513" y="1721"/>
                  <a:pt x="589" y="1855"/>
                </a:cubicBezTo>
                <a:lnTo>
                  <a:pt x="589" y="1860"/>
                </a:lnTo>
                <a:close/>
                <a:moveTo>
                  <a:pt x="589" y="1860"/>
                </a:moveTo>
                <a:cubicBezTo>
                  <a:pt x="589" y="1860"/>
                  <a:pt x="589" y="1860"/>
                  <a:pt x="589" y="1860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9" name="îṣļîḑé-文本框 18"/>
          <p:cNvSpPr txBox="1"/>
          <p:nvPr>
            <p:custDataLst>
              <p:tags r:id="rId9"/>
            </p:custDataLst>
          </p:nvPr>
        </p:nvSpPr>
        <p:spPr>
          <a:xfrm>
            <a:off x="5971540" y="434975"/>
            <a:ext cx="3552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+mn-ea"/>
              </a:rPr>
              <a:t>用户端（人工遥控</a:t>
            </a: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+mn-ea"/>
              </a:rPr>
              <a:t>）</a:t>
            </a:r>
            <a:endParaRPr lang="en-US" altLang="zh-CN" sz="2800" b="1" spc="200" dirty="0">
              <a:ln w="3175">
                <a:noFill/>
                <a:prstDash val="dash"/>
              </a:ln>
              <a:solidFill>
                <a:srgbClr val="023E87"/>
              </a:solidFill>
              <a:uFillTx/>
              <a:latin typeface="微软雅黑" charset="0"/>
              <a:ea typeface="微软雅黑" charset="0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0"/>
            </p:custDataLst>
          </p:nvPr>
        </p:nvGraphicFramePr>
        <p:xfrm>
          <a:off x="622935" y="603250"/>
          <a:ext cx="3379470" cy="567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用户端可操作变量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前后左右移动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顺</a:t>
                      </a:r>
                      <a:r>
                        <a:rPr lang="en-US" altLang="zh-CN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逆时针旋转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升降机移动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移动速度调整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投球速度调整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投球角度调整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三个预设的投球参数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投篮键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传球键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  <a:sym typeface="+mn-ea"/>
                        </a:rPr>
                        <a:t>扣篮键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运球键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312285" y="1703070"/>
            <a:ext cx="7830185" cy="36309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箭头: V 形 111"/>
          <p:cNvSpPr/>
          <p:nvPr>
            <p:custDataLst>
              <p:tags r:id="rId1"/>
            </p:custDataLst>
          </p:nvPr>
        </p:nvSpPr>
        <p:spPr>
          <a:xfrm>
            <a:off x="8577830" y="1579052"/>
            <a:ext cx="461665" cy="461665"/>
          </a:xfrm>
          <a:prstGeom prst="chevron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箭头: V 形 25"/>
          <p:cNvSpPr/>
          <p:nvPr/>
        </p:nvSpPr>
        <p:spPr>
          <a:xfrm>
            <a:off x="11576649" y="2794442"/>
            <a:ext cx="461665" cy="461665"/>
          </a:xfrm>
          <a:prstGeom prst="chevron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7" name="矩形 56"/>
          <p:cNvSpPr/>
          <p:nvPr>
            <p:custDataLst>
              <p:tags r:id="rId2"/>
            </p:custDataLst>
          </p:nvPr>
        </p:nvSpPr>
        <p:spPr>
          <a:xfrm>
            <a:off x="6602095" y="1911350"/>
            <a:ext cx="17145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电机</a:t>
            </a:r>
          </a:p>
        </p:txBody>
      </p:sp>
      <p:sp>
        <p:nvSpPr>
          <p:cNvPr id="96" name="Freeform 2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7339330" y="1385570"/>
            <a:ext cx="238760" cy="280670"/>
          </a:xfrm>
          <a:custGeom>
            <a:avLst/>
            <a:gdLst>
              <a:gd name="T0" fmla="*/ 663 w 1484"/>
              <a:gd name="T1" fmla="*/ 79 h 1749"/>
              <a:gd name="T2" fmla="*/ 663 w 1484"/>
              <a:gd name="T3" fmla="*/ 530 h 1749"/>
              <a:gd name="T4" fmla="*/ 79 w 1484"/>
              <a:gd name="T5" fmla="*/ 530 h 1749"/>
              <a:gd name="T6" fmla="*/ 0 w 1484"/>
              <a:gd name="T7" fmla="*/ 609 h 1749"/>
              <a:gd name="T8" fmla="*/ 79 w 1484"/>
              <a:gd name="T9" fmla="*/ 689 h 1749"/>
              <a:gd name="T10" fmla="*/ 663 w 1484"/>
              <a:gd name="T11" fmla="*/ 689 h 1749"/>
              <a:gd name="T12" fmla="*/ 663 w 1484"/>
              <a:gd name="T13" fmla="*/ 1670 h 1749"/>
              <a:gd name="T14" fmla="*/ 742 w 1484"/>
              <a:gd name="T15" fmla="*/ 1749 h 1749"/>
              <a:gd name="T16" fmla="*/ 822 w 1484"/>
              <a:gd name="T17" fmla="*/ 1670 h 1749"/>
              <a:gd name="T18" fmla="*/ 822 w 1484"/>
              <a:gd name="T19" fmla="*/ 689 h 1749"/>
              <a:gd name="T20" fmla="*/ 1405 w 1484"/>
              <a:gd name="T21" fmla="*/ 689 h 1749"/>
              <a:gd name="T22" fmla="*/ 1484 w 1484"/>
              <a:gd name="T23" fmla="*/ 609 h 1749"/>
              <a:gd name="T24" fmla="*/ 1405 w 1484"/>
              <a:gd name="T25" fmla="*/ 530 h 1749"/>
              <a:gd name="T26" fmla="*/ 822 w 1484"/>
              <a:gd name="T27" fmla="*/ 530 h 1749"/>
              <a:gd name="T28" fmla="*/ 822 w 1484"/>
              <a:gd name="T29" fmla="*/ 79 h 1749"/>
              <a:gd name="T30" fmla="*/ 742 w 1484"/>
              <a:gd name="T31" fmla="*/ 0 h 1749"/>
              <a:gd name="T32" fmla="*/ 663 w 1484"/>
              <a:gd name="T33" fmla="*/ 79 h 1749"/>
              <a:gd name="T34" fmla="*/ 663 w 1484"/>
              <a:gd name="T35" fmla="*/ 79 h 1749"/>
              <a:gd name="T36" fmla="*/ 663 w 1484"/>
              <a:gd name="T37" fmla="*/ 79 h 17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4" h="1749">
                <a:moveTo>
                  <a:pt x="663" y="79"/>
                </a:moveTo>
                <a:cubicBezTo>
                  <a:pt x="663" y="530"/>
                  <a:pt x="663" y="530"/>
                  <a:pt x="663" y="530"/>
                </a:cubicBezTo>
                <a:cubicBezTo>
                  <a:pt x="79" y="530"/>
                  <a:pt x="79" y="530"/>
                  <a:pt x="79" y="530"/>
                </a:cubicBezTo>
                <a:cubicBezTo>
                  <a:pt x="34" y="530"/>
                  <a:pt x="0" y="564"/>
                  <a:pt x="0" y="609"/>
                </a:cubicBezTo>
                <a:cubicBezTo>
                  <a:pt x="0" y="655"/>
                  <a:pt x="34" y="689"/>
                  <a:pt x="79" y="689"/>
                </a:cubicBezTo>
                <a:cubicBezTo>
                  <a:pt x="663" y="689"/>
                  <a:pt x="663" y="689"/>
                  <a:pt x="663" y="689"/>
                </a:cubicBezTo>
                <a:cubicBezTo>
                  <a:pt x="663" y="1670"/>
                  <a:pt x="663" y="1670"/>
                  <a:pt x="663" y="1670"/>
                </a:cubicBezTo>
                <a:cubicBezTo>
                  <a:pt x="663" y="1715"/>
                  <a:pt x="697" y="1749"/>
                  <a:pt x="742" y="1749"/>
                </a:cubicBezTo>
                <a:cubicBezTo>
                  <a:pt x="787" y="1749"/>
                  <a:pt x="822" y="1715"/>
                  <a:pt x="822" y="1670"/>
                </a:cubicBezTo>
                <a:cubicBezTo>
                  <a:pt x="822" y="689"/>
                  <a:pt x="822" y="689"/>
                  <a:pt x="822" y="689"/>
                </a:cubicBezTo>
                <a:cubicBezTo>
                  <a:pt x="1405" y="689"/>
                  <a:pt x="1405" y="689"/>
                  <a:pt x="1405" y="689"/>
                </a:cubicBezTo>
                <a:cubicBezTo>
                  <a:pt x="1450" y="689"/>
                  <a:pt x="1484" y="655"/>
                  <a:pt x="1484" y="609"/>
                </a:cubicBezTo>
                <a:cubicBezTo>
                  <a:pt x="1484" y="564"/>
                  <a:pt x="1450" y="530"/>
                  <a:pt x="1405" y="530"/>
                </a:cubicBezTo>
                <a:cubicBezTo>
                  <a:pt x="822" y="530"/>
                  <a:pt x="822" y="530"/>
                  <a:pt x="822" y="530"/>
                </a:cubicBezTo>
                <a:cubicBezTo>
                  <a:pt x="822" y="79"/>
                  <a:pt x="822" y="79"/>
                  <a:pt x="822" y="79"/>
                </a:cubicBezTo>
                <a:cubicBezTo>
                  <a:pt x="822" y="34"/>
                  <a:pt x="787" y="0"/>
                  <a:pt x="742" y="0"/>
                </a:cubicBezTo>
                <a:cubicBezTo>
                  <a:pt x="697" y="0"/>
                  <a:pt x="663" y="34"/>
                  <a:pt x="663" y="79"/>
                </a:cubicBezTo>
                <a:close/>
                <a:moveTo>
                  <a:pt x="663" y="79"/>
                </a:moveTo>
                <a:cubicBezTo>
                  <a:pt x="663" y="79"/>
                  <a:pt x="663" y="79"/>
                  <a:pt x="663" y="79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7" name="Freeform 27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7245985" y="1292225"/>
            <a:ext cx="426085" cy="512445"/>
          </a:xfrm>
          <a:custGeom>
            <a:avLst/>
            <a:gdLst>
              <a:gd name="T0" fmla="*/ 2571 w 2651"/>
              <a:gd name="T1" fmla="*/ 297 h 3182"/>
              <a:gd name="T2" fmla="*/ 1325 w 2651"/>
              <a:gd name="T3" fmla="*/ 0 h 3182"/>
              <a:gd name="T4" fmla="*/ 108 w 2651"/>
              <a:gd name="T5" fmla="*/ 297 h 3182"/>
              <a:gd name="T6" fmla="*/ 0 w 2651"/>
              <a:gd name="T7" fmla="*/ 319 h 3182"/>
              <a:gd name="T8" fmla="*/ 0 w 2651"/>
              <a:gd name="T9" fmla="*/ 1702 h 3182"/>
              <a:gd name="T10" fmla="*/ 68 w 2651"/>
              <a:gd name="T11" fmla="*/ 2034 h 3182"/>
              <a:gd name="T12" fmla="*/ 249 w 2651"/>
              <a:gd name="T13" fmla="*/ 2355 h 3182"/>
              <a:gd name="T14" fmla="*/ 482 w 2651"/>
              <a:gd name="T15" fmla="*/ 2649 h 3182"/>
              <a:gd name="T16" fmla="*/ 771 w 2651"/>
              <a:gd name="T17" fmla="*/ 2896 h 3182"/>
              <a:gd name="T18" fmla="*/ 1055 w 2651"/>
              <a:gd name="T19" fmla="*/ 3076 h 3182"/>
              <a:gd name="T20" fmla="*/ 1296 w 2651"/>
              <a:gd name="T21" fmla="*/ 3174 h 3182"/>
              <a:gd name="T22" fmla="*/ 1325 w 2651"/>
              <a:gd name="T23" fmla="*/ 3182 h 3182"/>
              <a:gd name="T24" fmla="*/ 1357 w 2651"/>
              <a:gd name="T25" fmla="*/ 3174 h 3182"/>
              <a:gd name="T26" fmla="*/ 1593 w 2651"/>
              <a:gd name="T27" fmla="*/ 3076 h 3182"/>
              <a:gd name="T28" fmla="*/ 1869 w 2651"/>
              <a:gd name="T29" fmla="*/ 2896 h 3182"/>
              <a:gd name="T30" fmla="*/ 2147 w 2651"/>
              <a:gd name="T31" fmla="*/ 2649 h 3182"/>
              <a:gd name="T32" fmla="*/ 2409 w 2651"/>
              <a:gd name="T33" fmla="*/ 2355 h 3182"/>
              <a:gd name="T34" fmla="*/ 2584 w 2651"/>
              <a:gd name="T35" fmla="*/ 2034 h 3182"/>
              <a:gd name="T36" fmla="*/ 2651 w 2651"/>
              <a:gd name="T37" fmla="*/ 1702 h 3182"/>
              <a:gd name="T38" fmla="*/ 2651 w 2651"/>
              <a:gd name="T39" fmla="*/ 319 h 3182"/>
              <a:gd name="T40" fmla="*/ 2571 w 2651"/>
              <a:gd name="T41" fmla="*/ 297 h 3182"/>
              <a:gd name="T42" fmla="*/ 2492 w 2651"/>
              <a:gd name="T43" fmla="*/ 1702 h 3182"/>
              <a:gd name="T44" fmla="*/ 2436 w 2651"/>
              <a:gd name="T45" fmla="*/ 1976 h 3182"/>
              <a:gd name="T46" fmla="*/ 2280 w 2651"/>
              <a:gd name="T47" fmla="*/ 2265 h 3182"/>
              <a:gd name="T48" fmla="*/ 2054 w 2651"/>
              <a:gd name="T49" fmla="*/ 2516 h 3182"/>
              <a:gd name="T50" fmla="*/ 2033 w 2651"/>
              <a:gd name="T51" fmla="*/ 2538 h 3182"/>
              <a:gd name="T52" fmla="*/ 1771 w 2651"/>
              <a:gd name="T53" fmla="*/ 2771 h 3182"/>
              <a:gd name="T54" fmla="*/ 1516 w 2651"/>
              <a:gd name="T55" fmla="*/ 2938 h 3182"/>
              <a:gd name="T56" fmla="*/ 1325 w 2651"/>
              <a:gd name="T57" fmla="*/ 3020 h 3182"/>
              <a:gd name="T58" fmla="*/ 1129 w 2651"/>
              <a:gd name="T59" fmla="*/ 2938 h 3182"/>
              <a:gd name="T60" fmla="*/ 866 w 2651"/>
              <a:gd name="T61" fmla="*/ 2771 h 3182"/>
              <a:gd name="T62" fmla="*/ 593 w 2651"/>
              <a:gd name="T63" fmla="*/ 2538 h 3182"/>
              <a:gd name="T64" fmla="*/ 405 w 2651"/>
              <a:gd name="T65" fmla="*/ 2302 h 3182"/>
              <a:gd name="T66" fmla="*/ 379 w 2651"/>
              <a:gd name="T67" fmla="*/ 2265 h 3182"/>
              <a:gd name="T68" fmla="*/ 217 w 2651"/>
              <a:gd name="T69" fmla="*/ 1976 h 3182"/>
              <a:gd name="T70" fmla="*/ 161 w 2651"/>
              <a:gd name="T71" fmla="*/ 1705 h 3182"/>
              <a:gd name="T72" fmla="*/ 161 w 2651"/>
              <a:gd name="T73" fmla="*/ 451 h 3182"/>
              <a:gd name="T74" fmla="*/ 1328 w 2651"/>
              <a:gd name="T75" fmla="*/ 165 h 3182"/>
              <a:gd name="T76" fmla="*/ 2494 w 2651"/>
              <a:gd name="T77" fmla="*/ 443 h 3182"/>
              <a:gd name="T78" fmla="*/ 2494 w 2651"/>
              <a:gd name="T79" fmla="*/ 1702 h 3182"/>
              <a:gd name="T80" fmla="*/ 2492 w 2651"/>
              <a:gd name="T81" fmla="*/ 1702 h 3182"/>
              <a:gd name="T82" fmla="*/ 2492 w 2651"/>
              <a:gd name="T83" fmla="*/ 1702 h 3182"/>
              <a:gd name="T84" fmla="*/ 2492 w 2651"/>
              <a:gd name="T85" fmla="*/ 1702 h 3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51" h="3182">
                <a:moveTo>
                  <a:pt x="2571" y="297"/>
                </a:moveTo>
                <a:cubicBezTo>
                  <a:pt x="1325" y="0"/>
                  <a:pt x="1325" y="0"/>
                  <a:pt x="1325" y="0"/>
                </a:cubicBezTo>
                <a:cubicBezTo>
                  <a:pt x="108" y="297"/>
                  <a:pt x="108" y="297"/>
                  <a:pt x="108" y="297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1702"/>
                  <a:pt x="0" y="1702"/>
                  <a:pt x="0" y="1702"/>
                </a:cubicBezTo>
                <a:cubicBezTo>
                  <a:pt x="0" y="1814"/>
                  <a:pt x="23" y="1925"/>
                  <a:pt x="68" y="2034"/>
                </a:cubicBezTo>
                <a:cubicBezTo>
                  <a:pt x="114" y="2145"/>
                  <a:pt x="175" y="2251"/>
                  <a:pt x="249" y="2355"/>
                </a:cubicBezTo>
                <a:cubicBezTo>
                  <a:pt x="323" y="2458"/>
                  <a:pt x="389" y="2556"/>
                  <a:pt x="482" y="2649"/>
                </a:cubicBezTo>
                <a:cubicBezTo>
                  <a:pt x="577" y="2742"/>
                  <a:pt x="673" y="2824"/>
                  <a:pt x="771" y="2896"/>
                </a:cubicBezTo>
                <a:cubicBezTo>
                  <a:pt x="869" y="2967"/>
                  <a:pt x="965" y="3028"/>
                  <a:pt x="1055" y="3076"/>
                </a:cubicBezTo>
                <a:cubicBezTo>
                  <a:pt x="1145" y="3124"/>
                  <a:pt x="1227" y="3155"/>
                  <a:pt x="1296" y="3174"/>
                </a:cubicBezTo>
                <a:cubicBezTo>
                  <a:pt x="1325" y="3182"/>
                  <a:pt x="1325" y="3182"/>
                  <a:pt x="1325" y="3182"/>
                </a:cubicBezTo>
                <a:cubicBezTo>
                  <a:pt x="1357" y="3174"/>
                  <a:pt x="1357" y="3174"/>
                  <a:pt x="1357" y="3174"/>
                </a:cubicBezTo>
                <a:cubicBezTo>
                  <a:pt x="1423" y="3155"/>
                  <a:pt x="1503" y="3124"/>
                  <a:pt x="1593" y="3076"/>
                </a:cubicBezTo>
                <a:cubicBezTo>
                  <a:pt x="1683" y="3028"/>
                  <a:pt x="1773" y="2967"/>
                  <a:pt x="1869" y="2896"/>
                </a:cubicBezTo>
                <a:cubicBezTo>
                  <a:pt x="1964" y="2824"/>
                  <a:pt x="2057" y="2742"/>
                  <a:pt x="2147" y="2649"/>
                </a:cubicBezTo>
                <a:cubicBezTo>
                  <a:pt x="2240" y="2556"/>
                  <a:pt x="2341" y="2458"/>
                  <a:pt x="2409" y="2355"/>
                </a:cubicBezTo>
                <a:cubicBezTo>
                  <a:pt x="2481" y="2251"/>
                  <a:pt x="2539" y="2145"/>
                  <a:pt x="2584" y="2034"/>
                </a:cubicBezTo>
                <a:cubicBezTo>
                  <a:pt x="2630" y="1925"/>
                  <a:pt x="2651" y="1814"/>
                  <a:pt x="2651" y="1702"/>
                </a:cubicBezTo>
                <a:cubicBezTo>
                  <a:pt x="2651" y="319"/>
                  <a:pt x="2651" y="319"/>
                  <a:pt x="2651" y="319"/>
                </a:cubicBezTo>
                <a:lnTo>
                  <a:pt x="2571" y="297"/>
                </a:lnTo>
                <a:close/>
                <a:moveTo>
                  <a:pt x="2492" y="1702"/>
                </a:moveTo>
                <a:cubicBezTo>
                  <a:pt x="2492" y="1793"/>
                  <a:pt x="2473" y="1885"/>
                  <a:pt x="2436" y="1976"/>
                </a:cubicBezTo>
                <a:cubicBezTo>
                  <a:pt x="2396" y="2074"/>
                  <a:pt x="2343" y="2172"/>
                  <a:pt x="2280" y="2265"/>
                </a:cubicBezTo>
                <a:cubicBezTo>
                  <a:pt x="2221" y="2349"/>
                  <a:pt x="2136" y="2434"/>
                  <a:pt x="2054" y="2516"/>
                </a:cubicBezTo>
                <a:cubicBezTo>
                  <a:pt x="2033" y="2538"/>
                  <a:pt x="2033" y="2538"/>
                  <a:pt x="2033" y="2538"/>
                </a:cubicBezTo>
                <a:cubicBezTo>
                  <a:pt x="1946" y="2625"/>
                  <a:pt x="1858" y="2702"/>
                  <a:pt x="1771" y="2771"/>
                </a:cubicBezTo>
                <a:cubicBezTo>
                  <a:pt x="1683" y="2837"/>
                  <a:pt x="1598" y="2893"/>
                  <a:pt x="1516" y="2938"/>
                </a:cubicBezTo>
                <a:cubicBezTo>
                  <a:pt x="1442" y="2978"/>
                  <a:pt x="1378" y="3004"/>
                  <a:pt x="1325" y="3020"/>
                </a:cubicBezTo>
                <a:cubicBezTo>
                  <a:pt x="1269" y="3004"/>
                  <a:pt x="1203" y="2978"/>
                  <a:pt x="1129" y="2938"/>
                </a:cubicBezTo>
                <a:cubicBezTo>
                  <a:pt x="1047" y="2896"/>
                  <a:pt x="957" y="2837"/>
                  <a:pt x="866" y="2771"/>
                </a:cubicBezTo>
                <a:cubicBezTo>
                  <a:pt x="776" y="2705"/>
                  <a:pt x="684" y="2625"/>
                  <a:pt x="593" y="2538"/>
                </a:cubicBezTo>
                <a:cubicBezTo>
                  <a:pt x="522" y="2466"/>
                  <a:pt x="466" y="2392"/>
                  <a:pt x="405" y="2302"/>
                </a:cubicBezTo>
                <a:cubicBezTo>
                  <a:pt x="397" y="2288"/>
                  <a:pt x="387" y="2278"/>
                  <a:pt x="379" y="2265"/>
                </a:cubicBezTo>
                <a:cubicBezTo>
                  <a:pt x="312" y="2172"/>
                  <a:pt x="257" y="2074"/>
                  <a:pt x="217" y="1976"/>
                </a:cubicBezTo>
                <a:cubicBezTo>
                  <a:pt x="180" y="1885"/>
                  <a:pt x="161" y="1795"/>
                  <a:pt x="161" y="1705"/>
                </a:cubicBezTo>
                <a:cubicBezTo>
                  <a:pt x="161" y="451"/>
                  <a:pt x="161" y="451"/>
                  <a:pt x="161" y="451"/>
                </a:cubicBezTo>
                <a:cubicBezTo>
                  <a:pt x="1328" y="165"/>
                  <a:pt x="1328" y="165"/>
                  <a:pt x="1328" y="165"/>
                </a:cubicBezTo>
                <a:cubicBezTo>
                  <a:pt x="2494" y="443"/>
                  <a:pt x="2494" y="443"/>
                  <a:pt x="2494" y="443"/>
                </a:cubicBezTo>
                <a:cubicBezTo>
                  <a:pt x="2494" y="1702"/>
                  <a:pt x="2494" y="1702"/>
                  <a:pt x="2494" y="1702"/>
                </a:cubicBezTo>
                <a:lnTo>
                  <a:pt x="2492" y="1702"/>
                </a:lnTo>
                <a:close/>
                <a:moveTo>
                  <a:pt x="2492" y="1702"/>
                </a:moveTo>
                <a:cubicBezTo>
                  <a:pt x="2492" y="1702"/>
                  <a:pt x="2492" y="1702"/>
                  <a:pt x="2492" y="170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918960" y="290830"/>
          <a:ext cx="4833620" cy="576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2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组成部分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电机驱动机构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charset="0"/>
                          <a:ea typeface="微软雅黑" charset="0"/>
                        </a:rPr>
                        <a:t>电机数量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运动模块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全向轮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投球器升降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捡球</a:t>
                      </a:r>
                      <a:r>
                        <a:rPr lang="en-US" altLang="zh-CN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运球器升降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引导传送带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中央转轮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发射轮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伸缩投球器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扣篮模块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弹簧腿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长颈鹿伸缩杆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捡球机构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铲斗开闭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铲斗升降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charset="0"/>
                          <a:ea typeface="微软雅黑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9" name="îṣļîḑé-文本框 18"/>
          <p:cNvSpPr txBox="1"/>
          <p:nvPr>
            <p:custDataLst>
              <p:tags r:id="rId5"/>
            </p:custDataLst>
          </p:nvPr>
        </p:nvSpPr>
        <p:spPr>
          <a:xfrm>
            <a:off x="99695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电机</a:t>
            </a:r>
          </a:p>
        </p:txBody>
      </p:sp>
      <p:pic>
        <p:nvPicPr>
          <p:cNvPr id="5" name="图片 4" descr="整体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79930" y="176530"/>
            <a:ext cx="4730115" cy="663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8935" y="764540"/>
            <a:ext cx="232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</a:rPr>
              <a:t>运动轮电机：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" y="1290955"/>
            <a:ext cx="5407660" cy="13512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13557" y="77871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</a:rPr>
              <a:t>升降机电机：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9209" y="2744568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</a:rPr>
              <a:t>捡球容器开闭电机：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013450" y="2744367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</a:rPr>
              <a:t>摩擦轮电机：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68992" y="4414641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</a:rPr>
              <a:t>投球器引导传送带电机：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55" y="1290955"/>
            <a:ext cx="5295900" cy="84201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" y="3307080"/>
            <a:ext cx="5397500" cy="84137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0" y="3307080"/>
            <a:ext cx="5318125" cy="10356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" y="4874895"/>
            <a:ext cx="5367020" cy="103505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99695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电机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>
            <p:custDataLst>
              <p:tags r:id="rId2"/>
            </p:custDataLst>
          </p:nvPr>
        </p:nvSpPr>
        <p:spPr>
          <a:xfrm>
            <a:off x="1429474" y="1879136"/>
            <a:ext cx="2597021" cy="25974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633161" y="2686241"/>
            <a:ext cx="2597021" cy="25974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770549" y="2031218"/>
            <a:ext cx="3115891" cy="31163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"/>
            </p:custDataLst>
          </p:nvPr>
        </p:nvSpPr>
        <p:spPr>
          <a:xfrm>
            <a:off x="774065" y="2686050"/>
            <a:ext cx="3116580" cy="22021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六个弹簧使机器人能弹跳</a:t>
            </a:r>
            <a:r>
              <a:rPr lang="en-US" altLang="zh-CN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，</a:t>
            </a:r>
            <a:r>
              <a:rPr lang="zh-CN" altLang="en-US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经计算</a:t>
            </a:r>
            <a:r>
              <a:rPr lang="en-US" altLang="zh-CN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，</a:t>
            </a:r>
            <a:r>
              <a:rPr lang="zh-CN" altLang="en-US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采用</a:t>
            </a:r>
            <a:r>
              <a:rPr lang="en-US" altLang="zh-CN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k=1200N/m</a:t>
            </a:r>
            <a:r>
              <a:rPr lang="zh-CN" altLang="en-US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的弹簧</a:t>
            </a:r>
            <a:r>
              <a:rPr lang="en-US" altLang="zh-CN" sz="2400" spc="150" dirty="0">
                <a:solidFill>
                  <a:schemeClr val="accent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5219137" y="1879136"/>
            <a:ext cx="2597021" cy="25974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422824" y="2686241"/>
            <a:ext cx="2597021" cy="25974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4560212" y="2031218"/>
            <a:ext cx="3115891" cy="31163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564380" y="2327910"/>
            <a:ext cx="3107055" cy="2202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400" spc="120" dirty="0">
                <a:solidFill>
                  <a:schemeClr val="accent3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不需要速度传感器，是因为各涉及速度的板块(轮子运动，升降机运动)都是开环控制。</a:t>
            </a: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9008799" y="1879136"/>
            <a:ext cx="2597021" cy="25974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>
            <a:off x="8212486" y="2686241"/>
            <a:ext cx="2597021" cy="25974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2"/>
            </p:custDataLst>
          </p:nvPr>
        </p:nvSpPr>
        <p:spPr>
          <a:xfrm>
            <a:off x="8349874" y="2031218"/>
            <a:ext cx="3115891" cy="31163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8345170" y="2327910"/>
            <a:ext cx="3116580" cy="2202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spc="80" dirty="0">
                <a:solidFill>
                  <a:schemeClr val="accent5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轮子的移动速度可调</a:t>
            </a:r>
            <a:r>
              <a:rPr lang="en-US" altLang="zh-CN" sz="2400" spc="80" dirty="0">
                <a:solidFill>
                  <a:schemeClr val="accent5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（0～1）；</a:t>
            </a:r>
            <a:r>
              <a:rPr lang="zh-CN" altLang="en-US" sz="2400" spc="60" dirty="0">
                <a:solidFill>
                  <a:schemeClr val="accent5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升降机运动的速度是固定的，上下移动只需对应</a:t>
            </a:r>
            <a:r>
              <a:rPr lang="en-US" altLang="zh-CN" sz="2400" spc="60" dirty="0">
                <a:solidFill>
                  <a:schemeClr val="accent5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±X</a:t>
            </a:r>
            <a:r>
              <a:rPr lang="zh-CN" altLang="en-US" sz="2400" spc="60" dirty="0">
                <a:solidFill>
                  <a:schemeClr val="accent5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rPr>
              <a:t>即可。</a:t>
            </a:r>
          </a:p>
        </p:txBody>
      </p:sp>
      <p:sp>
        <p:nvSpPr>
          <p:cNvPr id="59" name="îṣļîḑé-文本框 18"/>
          <p:cNvSpPr txBox="1"/>
          <p:nvPr>
            <p:custDataLst>
              <p:tags r:id="rId14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详细补充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1" b="9511"/>
          <a:stretch>
            <a:fillRect/>
          </a:stretch>
        </p:blipFill>
        <p:spPr>
          <a:xfrm>
            <a:off x="0" y="239032"/>
            <a:ext cx="12192000" cy="6599645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-1" y="-615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73663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666220" y="6342380"/>
            <a:ext cx="19875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12880" y="6450330"/>
            <a:ext cx="252095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55755" y="6558280"/>
            <a:ext cx="10922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-9579"/>
            <a:ext cx="12192000" cy="1662786"/>
          </a:xfrm>
          <a:prstGeom prst="rect">
            <a:avLst/>
          </a:prstGeom>
          <a:gradFill>
            <a:gsLst>
              <a:gs pos="0">
                <a:srgbClr val="84A6DD">
                  <a:alpha val="0"/>
                </a:srgbClr>
              </a:gs>
              <a:gs pos="54000">
                <a:srgbClr val="769AD8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任意多边形 28"/>
          <p:cNvSpPr/>
          <p:nvPr/>
        </p:nvSpPr>
        <p:spPr>
          <a:xfrm>
            <a:off x="1" y="-34329"/>
            <a:ext cx="12191999" cy="5146364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543265" y="3663758"/>
            <a:ext cx="1105469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875855" y="158234"/>
            <a:ext cx="3479725" cy="33229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0 4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708872" y="2491213"/>
            <a:ext cx="677425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算法框架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0" y="5698037"/>
            <a:ext cx="4538210" cy="1001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椭圆 32"/>
          <p:cNvSpPr/>
          <p:nvPr/>
        </p:nvSpPr>
        <p:spPr>
          <a:xfrm>
            <a:off x="4560570" y="2506980"/>
            <a:ext cx="3116580" cy="311658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 cap="flat" cmpd="sng" algn="ctr">
            <a:solidFill>
              <a:srgbClr val="F9F5F2"/>
            </a:solidFill>
            <a:prstDash val="solid"/>
          </a:ln>
          <a:effectLst>
            <a:outerShdw blurRad="1143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9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" name="文本框 91"/>
          <p:cNvSpPr txBox="1"/>
          <p:nvPr/>
        </p:nvSpPr>
        <p:spPr>
          <a:xfrm>
            <a:off x="5017135" y="3714115"/>
            <a:ext cx="309880" cy="46037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rgbClr val="F9F5F2"/>
            </a:solidFill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40769" y="1981201"/>
            <a:ext cx="5510463" cy="4876799"/>
          </a:xfrm>
          <a:prstGeom prst="ellipse">
            <a:avLst/>
          </a:prstGeom>
          <a:noFill/>
          <a:ln>
            <a:gradFill>
              <a:gsLst>
                <a:gs pos="0">
                  <a:srgbClr val="3F3E46"/>
                </a:gs>
                <a:gs pos="8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33975" y="3089275"/>
            <a:ext cx="1969770" cy="1969770"/>
          </a:xfrm>
          <a:prstGeom prst="ellipse">
            <a:avLst/>
          </a:prstGeom>
          <a:gradFill>
            <a:gsLst>
              <a:gs pos="45000">
                <a:srgbClr val="023E87">
                  <a:alpha val="82000"/>
                </a:srgbClr>
              </a:gs>
              <a:gs pos="100000">
                <a:schemeClr val="accent1">
                  <a:lumMod val="60000"/>
                  <a:lumOff val="40000"/>
                  <a:alpha val="52000"/>
                </a:schemeClr>
              </a:gs>
            </a:gsLst>
            <a:lin ang="13500000" scaled="0"/>
          </a:gradFill>
          <a:ln w="25400" cap="flat" cmpd="sng" algn="ctr">
            <a:noFill/>
            <a:prstDash val="solid"/>
          </a:ln>
          <a:effectLst>
            <a:outerShdw blurRad="1143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9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文本框 91"/>
          <p:cNvSpPr txBox="1"/>
          <p:nvPr/>
        </p:nvSpPr>
        <p:spPr>
          <a:xfrm>
            <a:off x="5207000" y="385254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chemeClr val="bg1"/>
                </a:solidFill>
                <a:latin typeface="微软雅黑" charset="0"/>
                <a:ea typeface="微软雅黑" charset="0"/>
                <a:cs typeface="Open Sans" panose="020B0606030504020204" pitchFamily="34" charset="0"/>
                <a:sym typeface="Calibri" panose="020F0502020204030204" pitchFamily="34" charset="0"/>
              </a:rPr>
              <a:t>算法总览</a:t>
            </a:r>
          </a:p>
        </p:txBody>
      </p:sp>
      <p:sp>
        <p:nvSpPr>
          <p:cNvPr id="14" name="椭圆 13"/>
          <p:cNvSpPr/>
          <p:nvPr/>
        </p:nvSpPr>
        <p:spPr>
          <a:xfrm>
            <a:off x="3054625" y="3875289"/>
            <a:ext cx="893202" cy="893202"/>
          </a:xfrm>
          <a:prstGeom prst="ellipse">
            <a:avLst/>
          </a:prstGeom>
          <a:solidFill>
            <a:srgbClr val="023E87"/>
          </a:solidFill>
          <a:ln w="38100">
            <a:solidFill>
              <a:schemeClr val="bg1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98343" y="1788198"/>
            <a:ext cx="893202" cy="893202"/>
          </a:xfrm>
          <a:prstGeom prst="ellipse">
            <a:avLst/>
          </a:prstGeom>
          <a:solidFill>
            <a:srgbClr val="023E87"/>
          </a:solidFill>
          <a:ln w="38100">
            <a:solidFill>
              <a:schemeClr val="bg1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087783" y="1788198"/>
            <a:ext cx="893202" cy="893202"/>
          </a:xfrm>
          <a:prstGeom prst="ellipse">
            <a:avLst/>
          </a:prstGeom>
          <a:solidFill>
            <a:srgbClr val="023E87"/>
          </a:solidFill>
          <a:ln w="38100">
            <a:solidFill>
              <a:schemeClr val="bg1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244173" y="3875289"/>
            <a:ext cx="893202" cy="893202"/>
          </a:xfrm>
          <a:prstGeom prst="ellipse">
            <a:avLst/>
          </a:prstGeom>
          <a:solidFill>
            <a:srgbClr val="023E87"/>
          </a:solidFill>
          <a:ln w="38100">
            <a:solidFill>
              <a:schemeClr val="bg1"/>
            </a:solidFill>
          </a:ln>
          <a:effectLst>
            <a:outerShdw blurRad="1270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47"/>
          <p:cNvSpPr>
            <a:spLocks noChangeArrowheads="1"/>
          </p:cNvSpPr>
          <p:nvPr/>
        </p:nvSpPr>
        <p:spPr bwMode="auto">
          <a:xfrm>
            <a:off x="834189" y="1579889"/>
            <a:ext cx="3270487" cy="73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4572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cs typeface="Open Sans" panose="020B0606030504020204" pitchFamily="34" charset="0"/>
                <a:sym typeface="思源黑体 CN Bold" panose="020B0800000000000000" pitchFamily="34" charset="-122"/>
              </a:rPr>
              <a:t>运球算法</a:t>
            </a:r>
          </a:p>
        </p:txBody>
      </p:sp>
      <p:sp>
        <p:nvSpPr>
          <p:cNvPr id="25" name="矩形 47"/>
          <p:cNvSpPr>
            <a:spLocks noChangeArrowheads="1"/>
          </p:cNvSpPr>
          <p:nvPr/>
        </p:nvSpPr>
        <p:spPr bwMode="auto">
          <a:xfrm>
            <a:off x="685800" y="4074362"/>
            <a:ext cx="2310700" cy="73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4572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cs typeface="Open Sans" panose="020B0606030504020204" pitchFamily="34" charset="0"/>
                <a:sym typeface="思源黑体 CN Bold" panose="020B0800000000000000" pitchFamily="34" charset="-122"/>
              </a:rPr>
              <a:t>移动算法</a:t>
            </a:r>
            <a:endParaRPr lang="zh-CN" altLang="en-US" sz="2800" b="1" kern="0" dirty="0">
              <a:solidFill>
                <a:srgbClr val="023E87"/>
              </a:solidFill>
              <a:latin typeface="微软雅黑" charset="0"/>
              <a:ea typeface="微软雅黑" charset="0"/>
              <a:cs typeface="Open Sans" panose="020B0606030504020204" pitchFamily="34" charset="0"/>
              <a:sym typeface="思源黑体 CN Bold" panose="020B0800000000000000" pitchFamily="34" charset="-122"/>
            </a:endParaRPr>
          </a:p>
        </p:txBody>
      </p:sp>
      <p:sp>
        <p:nvSpPr>
          <p:cNvPr id="26" name="矩形 47"/>
          <p:cNvSpPr>
            <a:spLocks noChangeArrowheads="1"/>
          </p:cNvSpPr>
          <p:nvPr/>
        </p:nvSpPr>
        <p:spPr bwMode="auto">
          <a:xfrm>
            <a:off x="8231661" y="1579889"/>
            <a:ext cx="3270487" cy="73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cs typeface="Open Sans" panose="020B0606030504020204" pitchFamily="34" charset="0"/>
                <a:sym typeface="思源黑体 CN Bold" panose="020B0800000000000000" pitchFamily="34" charset="-122"/>
              </a:rPr>
              <a:t>传球算法</a:t>
            </a:r>
          </a:p>
        </p:txBody>
      </p:sp>
      <p:sp>
        <p:nvSpPr>
          <p:cNvPr id="27" name="矩形 47"/>
          <p:cNvSpPr>
            <a:spLocks noChangeArrowheads="1"/>
          </p:cNvSpPr>
          <p:nvPr/>
        </p:nvSpPr>
        <p:spPr bwMode="auto">
          <a:xfrm>
            <a:off x="9314809" y="4074362"/>
            <a:ext cx="2310700" cy="1382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cs typeface="Open Sans" panose="020B0606030504020204" pitchFamily="34" charset="0"/>
                <a:sym typeface="思源黑体 CN Bold" panose="020B0800000000000000" pitchFamily="34" charset="-122"/>
              </a:rPr>
              <a:t>投篮、扣篮算法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34355" y="5668010"/>
            <a:ext cx="1564640" cy="946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solidFill>
                  <a:srgbClr val="0070C0"/>
                </a:solidFill>
                <a:latin typeface="微软雅黑" charset="0"/>
                <a:ea typeface="微软雅黑" charset="0"/>
                <a:cs typeface="微软雅黑" charset="0"/>
              </a:rPr>
              <a:t>main</a:t>
            </a:r>
            <a:r>
              <a:rPr lang="zh-CN" altLang="en-US" sz="2000">
                <a:solidFill>
                  <a:srgbClr val="0070C0"/>
                </a:solidFill>
                <a:latin typeface="微软雅黑" charset="0"/>
                <a:ea typeface="微软雅黑" charset="0"/>
                <a:cs typeface="微软雅黑" charset="0"/>
              </a:rPr>
              <a:t>函数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整体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9525"/>
            <a:ext cx="4738370" cy="6646545"/>
          </a:xfrm>
          <a:prstGeom prst="rect">
            <a:avLst/>
          </a:prstGeom>
        </p:spPr>
      </p:pic>
      <p:sp>
        <p:nvSpPr>
          <p:cNvPr id="31" name="任意多边形 40"/>
          <p:cNvSpPr/>
          <p:nvPr/>
        </p:nvSpPr>
        <p:spPr>
          <a:xfrm>
            <a:off x="846" y="-13"/>
            <a:ext cx="6172494" cy="6858000"/>
          </a:xfrm>
          <a:custGeom>
            <a:avLst/>
            <a:gdLst>
              <a:gd name="connsiteX0" fmla="*/ 0 w 6147785"/>
              <a:gd name="connsiteY0" fmla="*/ 0 h 6858000"/>
              <a:gd name="connsiteX1" fmla="*/ 5563177 w 6147785"/>
              <a:gd name="connsiteY1" fmla="*/ 0 h 6858000"/>
              <a:gd name="connsiteX2" fmla="*/ 5682835 w 6147785"/>
              <a:gd name="connsiteY2" fmla="*/ 353639 h 6858000"/>
              <a:gd name="connsiteX3" fmla="*/ 6147785 w 6147785"/>
              <a:gd name="connsiteY3" fmla="*/ 3429000 h 6858000"/>
              <a:gd name="connsiteX4" fmla="*/ 5682835 w 6147785"/>
              <a:gd name="connsiteY4" fmla="*/ 6504361 h 6858000"/>
              <a:gd name="connsiteX5" fmla="*/ 5563177 w 6147785"/>
              <a:gd name="connsiteY5" fmla="*/ 6858000 h 6858000"/>
              <a:gd name="connsiteX6" fmla="*/ 0 w 614778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47785" h="6858000">
                <a:moveTo>
                  <a:pt x="0" y="0"/>
                </a:moveTo>
                <a:lnTo>
                  <a:pt x="5563177" y="0"/>
                </a:lnTo>
                <a:lnTo>
                  <a:pt x="5682835" y="353639"/>
                </a:lnTo>
                <a:cubicBezTo>
                  <a:pt x="5985004" y="1325145"/>
                  <a:pt x="6147785" y="2358063"/>
                  <a:pt x="6147785" y="3429000"/>
                </a:cubicBezTo>
                <a:cubicBezTo>
                  <a:pt x="6147785" y="4499938"/>
                  <a:pt x="5985004" y="5532856"/>
                  <a:pt x="5682835" y="6504361"/>
                </a:cubicBezTo>
                <a:lnTo>
                  <a:pt x="5563177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4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5546445" y="0"/>
            <a:ext cx="6645555" cy="6867525"/>
          </a:xfrm>
          <a:custGeom>
            <a:avLst/>
            <a:gdLst>
              <a:gd name="connsiteX0" fmla="*/ 0 w 6645555"/>
              <a:gd name="connsiteY0" fmla="*/ 0 h 6858000"/>
              <a:gd name="connsiteX1" fmla="*/ 6645555 w 6645555"/>
              <a:gd name="connsiteY1" fmla="*/ 0 h 6858000"/>
              <a:gd name="connsiteX2" fmla="*/ 6645555 w 6645555"/>
              <a:gd name="connsiteY2" fmla="*/ 6858000 h 6858000"/>
              <a:gd name="connsiteX3" fmla="*/ 0 w 6645555"/>
              <a:gd name="connsiteY3" fmla="*/ 6858000 h 6858000"/>
              <a:gd name="connsiteX4" fmla="*/ 119658 w 6645555"/>
              <a:gd name="connsiteY4" fmla="*/ 6504361 h 6858000"/>
              <a:gd name="connsiteX5" fmla="*/ 584608 w 6645555"/>
              <a:gd name="connsiteY5" fmla="*/ 3429000 h 6858000"/>
              <a:gd name="connsiteX6" fmla="*/ 119658 w 6645555"/>
              <a:gd name="connsiteY6" fmla="*/ 353639 h 6858000"/>
              <a:gd name="connsiteX7" fmla="*/ 0 w 6645555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555" h="6858000">
                <a:moveTo>
                  <a:pt x="0" y="0"/>
                </a:moveTo>
                <a:lnTo>
                  <a:pt x="6645555" y="0"/>
                </a:lnTo>
                <a:lnTo>
                  <a:pt x="6645555" y="6858000"/>
                </a:lnTo>
                <a:lnTo>
                  <a:pt x="0" y="6858000"/>
                </a:lnTo>
                <a:lnTo>
                  <a:pt x="119658" y="6504361"/>
                </a:lnTo>
                <a:cubicBezTo>
                  <a:pt x="421827" y="5532856"/>
                  <a:pt x="584608" y="4499938"/>
                  <a:pt x="584608" y="3429000"/>
                </a:cubicBezTo>
                <a:cubicBezTo>
                  <a:pt x="584608" y="2358063"/>
                  <a:pt x="421827" y="1325145"/>
                  <a:pt x="119658" y="35363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670" y="2351382"/>
            <a:ext cx="425196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微软雅黑" charset="0"/>
                <a:sym typeface="思源黑体 CN Normal" panose="020B0400000000000000" pitchFamily="34" charset="-122"/>
              </a:rPr>
              <a:t>算法总览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368" y="302701"/>
            <a:ext cx="3067051" cy="67699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419975" y="154940"/>
            <a:ext cx="4545965" cy="87058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9946432"/>
              </p:ext>
            </p:extLst>
          </p:nvPr>
        </p:nvGraphicFramePr>
        <p:xfrm>
          <a:off x="7011035" y="151765"/>
          <a:ext cx="4057650" cy="671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手动部分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自动部分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前后左右移动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运球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顺</a:t>
                      </a:r>
                      <a:r>
                        <a:rPr lang="en-US" altLang="zh-CN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逆时针旋转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传球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升降机移动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扣篮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移动速度调整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三种投篮方式</a:t>
                      </a:r>
                    </a:p>
                    <a:p>
                      <a:pPr>
                        <a:buNone/>
                      </a:pPr>
                      <a:endParaRPr lang="zh-CN" altLang="en-US" sz="2400" dirty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投球速度调整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投球角度调整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三个预设的投球参数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874395"/>
            <a:ext cx="6624320" cy="51098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080" y="1414780"/>
            <a:ext cx="7807325" cy="303911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移动算法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180" y="11430"/>
            <a:ext cx="5615305" cy="684657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移动算法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5" y="762635"/>
            <a:ext cx="6079490" cy="61404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05930" y="901700"/>
            <a:ext cx="4246880" cy="485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投球器和捡球器一样可升降，能够控制传球的发射高度，为传球提供了更多的灵活性。</a:t>
            </a:r>
          </a:p>
          <a:p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至于对高度数据的测量，选择红外测距传感器的数据，得到以地面为0的相对高度值。</a:t>
            </a:r>
          </a:p>
        </p:txBody>
      </p:sp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运球算法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115" y="0"/>
            <a:ext cx="5882005" cy="667385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传球算法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7380"/>
            <a:ext cx="6807200" cy="41649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560" y="695960"/>
            <a:ext cx="7392670" cy="5212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40" y="5104765"/>
            <a:ext cx="3932555" cy="1624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微软雅黑" charset="0"/>
                <a:ea typeface="微软雅黑" charset="0"/>
              </a:rPr>
              <a:t>大致与传球一样</a:t>
            </a:r>
            <a:r>
              <a:rPr lang="en-US" altLang="zh-CN" sz="2400">
                <a:latin typeface="微软雅黑" charset="0"/>
                <a:ea typeface="微软雅黑" charset="0"/>
              </a:rPr>
              <a:t>，</a:t>
            </a:r>
            <a:r>
              <a:rPr lang="zh-CN" altLang="en-US" sz="2400">
                <a:latin typeface="微软雅黑" charset="0"/>
                <a:ea typeface="微软雅黑" charset="0"/>
              </a:rPr>
              <a:t>参数不同</a:t>
            </a:r>
            <a:r>
              <a:rPr lang="en-US" altLang="zh-CN" sz="2400">
                <a:latin typeface="微软雅黑" charset="0"/>
                <a:ea typeface="微软雅黑" charset="0"/>
              </a:rPr>
              <a:t>，</a:t>
            </a:r>
            <a:r>
              <a:rPr lang="zh-CN" altLang="en-US" sz="2400">
                <a:latin typeface="微软雅黑" charset="0"/>
                <a:ea typeface="微软雅黑" charset="0"/>
              </a:rPr>
              <a:t>并且投篮器升至顶端</a:t>
            </a:r>
          </a:p>
        </p:txBody>
      </p:sp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投篮算法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7380"/>
            <a:ext cx="7667625" cy="5657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1212215"/>
            <a:ext cx="7667625" cy="1781175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扣篮算法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8500"/>
            <a:ext cx="7639050" cy="4095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440" y="612140"/>
            <a:ext cx="6939280" cy="5725160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22860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main</a:t>
            </a: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函数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60" y="2296795"/>
            <a:ext cx="8375015" cy="1797685"/>
          </a:xfrm>
          <a:prstGeom prst="rect">
            <a:avLst/>
          </a:prstGeom>
        </p:spPr>
      </p:pic>
      <p:sp>
        <p:nvSpPr>
          <p:cNvPr id="59" name="îṣļîḑé-文本框 18"/>
          <p:cNvSpPr txBox="1"/>
          <p:nvPr>
            <p:custDataLst>
              <p:tags r:id="rId1"/>
            </p:custDataLst>
          </p:nvPr>
        </p:nvSpPr>
        <p:spPr>
          <a:xfrm>
            <a:off x="808990" y="176530"/>
            <a:ext cx="286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main</a:t>
            </a: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函数</a:t>
            </a: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（</a:t>
            </a:r>
            <a:r>
              <a:rPr lang="zh-CN" altLang="en-US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续</a:t>
            </a:r>
            <a:r>
              <a:rPr lang="en-US" altLang="zh-CN" sz="2800" b="1" dirty="0">
                <a:solidFill>
                  <a:srgbClr val="023E87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232"/>
            <a:ext cx="12191996" cy="6076377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0" y="37486"/>
            <a:ext cx="12191999" cy="6858614"/>
          </a:xfrm>
          <a:custGeom>
            <a:avLst/>
            <a:gdLst>
              <a:gd name="connsiteX0" fmla="*/ 0 w 12191999"/>
              <a:gd name="connsiteY0" fmla="*/ 4076473 h 6858614"/>
              <a:gd name="connsiteX1" fmla="*/ 119965 w 12191999"/>
              <a:gd name="connsiteY1" fmla="*/ 4118727 h 6858614"/>
              <a:gd name="connsiteX2" fmla="*/ 6095999 w 12191999"/>
              <a:gd name="connsiteY2" fmla="*/ 5097724 h 6858614"/>
              <a:gd name="connsiteX3" fmla="*/ 12072035 w 12191999"/>
              <a:gd name="connsiteY3" fmla="*/ 4118727 h 6858614"/>
              <a:gd name="connsiteX4" fmla="*/ 12191999 w 12191999"/>
              <a:gd name="connsiteY4" fmla="*/ 4076473 h 6858614"/>
              <a:gd name="connsiteX5" fmla="*/ 12191999 w 12191999"/>
              <a:gd name="connsiteY5" fmla="*/ 6858614 h 6858614"/>
              <a:gd name="connsiteX6" fmla="*/ 0 w 12191999"/>
              <a:gd name="connsiteY6" fmla="*/ 6858614 h 6858614"/>
              <a:gd name="connsiteX7" fmla="*/ 0 w 12191999"/>
              <a:gd name="connsiteY7" fmla="*/ 0 h 6858614"/>
              <a:gd name="connsiteX8" fmla="*/ 12191999 w 12191999"/>
              <a:gd name="connsiteY8" fmla="*/ 0 h 6858614"/>
              <a:gd name="connsiteX9" fmla="*/ 12191999 w 12191999"/>
              <a:gd name="connsiteY9" fmla="*/ 616 h 6858614"/>
              <a:gd name="connsiteX10" fmla="*/ 1 w 12191999"/>
              <a:gd name="connsiteY10" fmla="*/ 616 h 6858614"/>
              <a:gd name="connsiteX11" fmla="*/ 1 w 12191999"/>
              <a:gd name="connsiteY11" fmla="*/ 74371 h 6858614"/>
              <a:gd name="connsiteX12" fmla="*/ 0 w 12191999"/>
              <a:gd name="connsiteY12" fmla="*/ 74371 h 68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99" h="6858614">
                <a:moveTo>
                  <a:pt x="0" y="4076473"/>
                </a:moveTo>
                <a:lnTo>
                  <a:pt x="119965" y="4118727"/>
                </a:lnTo>
                <a:cubicBezTo>
                  <a:pt x="1995862" y="4753530"/>
                  <a:pt x="4005735" y="5097724"/>
                  <a:pt x="6095999" y="5097724"/>
                </a:cubicBezTo>
                <a:cubicBezTo>
                  <a:pt x="8186263" y="5097724"/>
                  <a:pt x="10196135" y="4753530"/>
                  <a:pt x="12072035" y="4118727"/>
                </a:cubicBezTo>
                <a:lnTo>
                  <a:pt x="12191999" y="4076473"/>
                </a:lnTo>
                <a:lnTo>
                  <a:pt x="12191999" y="6858614"/>
                </a:lnTo>
                <a:lnTo>
                  <a:pt x="0" y="685861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6"/>
                </a:lnTo>
                <a:lnTo>
                  <a:pt x="1" y="616"/>
                </a:lnTo>
                <a:lnTo>
                  <a:pt x="1" y="74371"/>
                </a:lnTo>
                <a:lnTo>
                  <a:pt x="0" y="74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-5" y="79995"/>
            <a:ext cx="12192001" cy="5097109"/>
          </a:xfrm>
          <a:custGeom>
            <a:avLst/>
            <a:gdLst>
              <a:gd name="connsiteX0" fmla="*/ 2 w 12192001"/>
              <a:gd name="connsiteY0" fmla="*/ 4002104 h 5097109"/>
              <a:gd name="connsiteX1" fmla="*/ 119967 w 12192001"/>
              <a:gd name="connsiteY1" fmla="*/ 4044358 h 5097109"/>
              <a:gd name="connsiteX2" fmla="*/ 6096001 w 12192001"/>
              <a:gd name="connsiteY2" fmla="*/ 5023355 h 5097109"/>
              <a:gd name="connsiteX3" fmla="*/ 12072035 w 12192001"/>
              <a:gd name="connsiteY3" fmla="*/ 4044358 h 5097109"/>
              <a:gd name="connsiteX4" fmla="*/ 12192001 w 12192001"/>
              <a:gd name="connsiteY4" fmla="*/ 4002104 h 5097109"/>
              <a:gd name="connsiteX5" fmla="*/ 12192001 w 12192001"/>
              <a:gd name="connsiteY5" fmla="*/ 4075858 h 5097109"/>
              <a:gd name="connsiteX6" fmla="*/ 12072035 w 12192001"/>
              <a:gd name="connsiteY6" fmla="*/ 4118112 h 5097109"/>
              <a:gd name="connsiteX7" fmla="*/ 6096001 w 12192001"/>
              <a:gd name="connsiteY7" fmla="*/ 5097109 h 5097109"/>
              <a:gd name="connsiteX8" fmla="*/ 119967 w 12192001"/>
              <a:gd name="connsiteY8" fmla="*/ 4118112 h 5097109"/>
              <a:gd name="connsiteX9" fmla="*/ 2 w 12192001"/>
              <a:gd name="connsiteY9" fmla="*/ 4075858 h 5097109"/>
              <a:gd name="connsiteX10" fmla="*/ 0 w 12192001"/>
              <a:gd name="connsiteY10" fmla="*/ 0 h 5097109"/>
              <a:gd name="connsiteX11" fmla="*/ 12191999 w 12192001"/>
              <a:gd name="connsiteY11" fmla="*/ 0 h 5097109"/>
              <a:gd name="connsiteX12" fmla="*/ 12191999 w 12192001"/>
              <a:gd name="connsiteY12" fmla="*/ 1 h 5097109"/>
              <a:gd name="connsiteX13" fmla="*/ 2 w 12192001"/>
              <a:gd name="connsiteY13" fmla="*/ 1 h 5097109"/>
              <a:gd name="connsiteX14" fmla="*/ 2 w 12192001"/>
              <a:gd name="connsiteY14" fmla="*/ 584200 h 5097109"/>
              <a:gd name="connsiteX15" fmla="*/ 0 w 12192001"/>
              <a:gd name="connsiteY15" fmla="*/ 584200 h 509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5097109">
                <a:moveTo>
                  <a:pt x="2" y="4002104"/>
                </a:moveTo>
                <a:lnTo>
                  <a:pt x="119967" y="4044358"/>
                </a:lnTo>
                <a:cubicBezTo>
                  <a:pt x="1995864" y="4679161"/>
                  <a:pt x="4005737" y="5023355"/>
                  <a:pt x="6096001" y="5023355"/>
                </a:cubicBezTo>
                <a:cubicBezTo>
                  <a:pt x="8186265" y="5023355"/>
                  <a:pt x="10196138" y="4679161"/>
                  <a:pt x="12072035" y="4044358"/>
                </a:cubicBezTo>
                <a:lnTo>
                  <a:pt x="12192001" y="4002104"/>
                </a:lnTo>
                <a:lnTo>
                  <a:pt x="12192001" y="4075858"/>
                </a:lnTo>
                <a:lnTo>
                  <a:pt x="12072035" y="4118112"/>
                </a:lnTo>
                <a:cubicBezTo>
                  <a:pt x="10196138" y="4752915"/>
                  <a:pt x="8186265" y="5097109"/>
                  <a:pt x="6096001" y="5097109"/>
                </a:cubicBezTo>
                <a:cubicBezTo>
                  <a:pt x="4005737" y="5097109"/>
                  <a:pt x="1995864" y="4752915"/>
                  <a:pt x="119967" y="4118112"/>
                </a:cubicBezTo>
                <a:lnTo>
                  <a:pt x="2" y="4075858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1"/>
                </a:lnTo>
                <a:lnTo>
                  <a:pt x="2" y="1"/>
                </a:lnTo>
                <a:lnTo>
                  <a:pt x="2" y="584200"/>
                </a:lnTo>
                <a:lnTo>
                  <a:pt x="0" y="584200"/>
                </a:lnTo>
                <a:close/>
              </a:path>
            </a:pathLst>
          </a:custGeom>
          <a:solidFill>
            <a:srgbClr val="C9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任意多边形 28"/>
          <p:cNvSpPr/>
          <p:nvPr/>
        </p:nvSpPr>
        <p:spPr>
          <a:xfrm>
            <a:off x="1" y="-34329"/>
            <a:ext cx="12191999" cy="5146364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 flip="none" rotWithShape="1">
            <a:gsLst>
              <a:gs pos="0">
                <a:srgbClr val="003F87">
                  <a:shade val="30000"/>
                  <a:satMod val="115000"/>
                  <a:alpha val="27000"/>
                </a:srgbClr>
              </a:gs>
              <a:gs pos="100000">
                <a:srgbClr val="003F87">
                  <a:shade val="100000"/>
                  <a:satMod val="115000"/>
                  <a:alpha val="9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18280" y="1453451"/>
            <a:ext cx="8555430" cy="11068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2000"/>
                    </a:prstClr>
                  </a:outerShdw>
                </a:effectLst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感谢观看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11666008" y="6342590"/>
            <a:ext cx="198866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12874" y="6450583"/>
            <a:ext cx="25200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55904" y="6558575"/>
            <a:ext cx="108970" cy="0"/>
          </a:xfrm>
          <a:prstGeom prst="line">
            <a:avLst/>
          </a:prstGeom>
          <a:ln w="31750" cap="rnd">
            <a:solidFill>
              <a:srgbClr val="C9D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0" y="5698037"/>
            <a:ext cx="4538210" cy="1001729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686330" y="2560165"/>
            <a:ext cx="4583306" cy="2739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  <a:sym typeface="思源黑体 CN Normal" panose="020B0400000000000000" pitchFamily="34" charset="-122"/>
              </a:rPr>
              <a:t>汇报人：雷沫含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建模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雷沫含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陈思攀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赵彬序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算法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李丰克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sym typeface="思源黑体 CN Normal" panose="020B0400000000000000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比赛策略：李丰克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sym typeface="思源黑体 CN Normal" panose="020B0400000000000000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电气参数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赵彬序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PPT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制作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陈思攀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sym typeface="思源黑体 CN Normal" panose="020B0400000000000000" pitchFamily="34" charset="-122"/>
              </a:rPr>
              <a:t>雷沫含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  <a:sym typeface="思源黑体 CN Normal" panose="020B0400000000000000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zMDEwZGU3YTAxZTBiODkyNmIzZTg4ZTM3Y2U3Z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10467,&quot;width&quot;:717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77.5259842519686,&quot;width&quot;:7146.78740157480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1.12330708661415,&quot;left&quot;:437.04858267716537,&quot;top&quot;:72.86488188976378,&quot;width&quot;:357.2403937007873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44.488188976378,&quot;width&quot;:192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77.5259842519686,&quot;width&quot;:7146.78740157480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6,&quot;width&quot;:268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93,&quot;width&quot;:386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79,&quot;width&quot;:31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0*94"/>
  <p:tag name="TABLE_ENDDRAG_RECT" val="144*225*320*9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519,&quot;width&quot;:298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321,&quot;width&quot;:645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557,&quot;width&quot;:339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738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10467,&quot;width&quot;:746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40"/>
  <p:tag name="KSO_WM_SLIDE_ID" val="diagram20217040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8&quot;,&quot;maxSize&quot;:{&quot;size1&quot;:67.4},&quot;minSize&quot;:{&quot;size1&quot;:42.5},&quot;normalSize&quot;:{&quot;size1&quot;:45.056250000000006},&quot;subLayout&quot;:[{&quot;id&quot;:&quot;2021-04-01T16:15:38&quot;,&quot;margin&quot;:{&quot;bottom&quot;:0,&quot;left&quot;:0,&quot;right&quot;:1.6670000553131104,&quot;top&quot;:0},&quot;type&quot;:0},{&quot;id&quot;:&quot;2021-04-01T16:15:38&quot;,&quot;margin&quot;:{&quot;bottom&quot;:1.6929999589920044,&quot;left&quot;:0.02600000612437725,&quot;right&quot;:2.115999937057495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626998712faa657abca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&quot;cb&quot;,&quot;lm&quot;,&quot;ct&quot;],&quot;fill_id&quot;:&quot;8b44e3081e7a4041b0905ce91d997165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455cd78771d1446ca08855cac7623a64&quot;,&quot;fill_align&quot;:&quot;lb&quot;,&quot;chip_types&quot;:[&quot;text&quot;]}]]"/>
  <p:tag name="KSO_WM_CHIP_DECFILLPROP" val="[]"/>
  <p:tag name="KSO_WM_SLIDE_TYPE" val="text"/>
  <p:tag name="KSO_WM_SLIDE_SIZE" val="959*540"/>
  <p:tag name="KSO_WM_SLIDE_POSITION" val="0*0"/>
  <p:tag name="KSO_WM_CHIP_GROUPID" val="5fadf626998712faa657abc9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b"/>
  <p:tag name="KSO_WM_TEMPLATE_ASSEMBLE_GROUPID" val="6065703f4054ed1e2fb8149b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PICTURE_DOCKSIDE" val="lm,ct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1"/>
  <p:tag name="KSO_WM_UNIT_ID" val="diagram20215490_1*ζ_h_i*1_1_1"/>
  <p:tag name="KSO_WM_TEMPLATE_CATEGORY" val="diagram"/>
  <p:tag name="KSO_WM_TEMPLATE_INDEX" val="2021549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PICTURE_DOCKSIDE" val="lm,ct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2"/>
  <p:tag name="KSO_WM_UNIT_ID" val="diagram20215490_1*ζ_h_i*1_1_2"/>
  <p:tag name="KSO_WM_TEMPLATE_CATEGORY" val="diagram"/>
  <p:tag name="KSO_WM_TEMPLATE_INDEX" val="2021549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PICTURE_DOCKSIDE" val="lm,ct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90_1*ζ_h_i*1_1_3"/>
  <p:tag name="KSO_WM_TEMPLATE_CATEGORY" val="diagram"/>
  <p:tag name="KSO_WM_TEMPLATE_INDEX" val="2021549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PICTURE_DOCKSIDE" val="lm,ct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4"/>
  <p:tag name="KSO_WM_UNIT_ID" val="diagram20215490_1*ζ_h_i*1_1_4"/>
  <p:tag name="KSO_WM_TEMPLATE_CATEGORY" val="diagram"/>
  <p:tag name="KSO_WM_TEMPLATE_INDEX" val="2021549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7040_1*i*1"/>
  <p:tag name="KSO_WM_TEMPLATE_CATEGORY" val="diagram"/>
  <p:tag name="KSO_WM_TEMPLATE_INDEX" val="20217040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99662325a62548c9aacdda4022b581a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fadf626998712faa657abc9"/>
  <p:tag name="KSO_WM_CHIP_XID" val="5fadf626998712faa657abca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703f4054ed1e2fb8149b"/>
  <p:tag name="KSO_WM_TEMPLATE_ASSEMBLE_GROUPID" val="6065703f4054ed1e2fb8149b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4*300"/>
  <p:tag name="TABLE_ENDDRAG_RECT" val="144*120*304*30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3511023622047,&quot;left&quot;:2.85,&quot;top&quot;:62.30795275590551,&quot;width&quot;:919.898740157480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10467,&quot;width&quot;:746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29659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15T17:38:14&quot;,&quot;maxSize&quot;:{&quot;size1&quot;:31.1},&quot;minSize&quot;:{&quot;size1&quot;:17.8},&quot;normalSize&quot;:{&quot;size1&quot;:17.8},&quot;subLayout&quot;:[{&quot;id&quot;:&quot;2022-12-15T17:38:14&quot;,&quot;margin&quot;:{&quot;bottom&quot;:0,&quot;left&quot;:1.6929999589920044,&quot;right&quot;:1.6929999589920044,&quot;top&quot;:1.6929999589920044},&quot;type&quot;:0},{&quot;id&quot;:&quot;2022-12-15T17:38:14&quot;,&quot;margin&quot;:{&quot;bottom&quot;:0.847000002861023,&quot;left&quot;:0.847000002861023,&quot;right&quot;:0.847000002861023,&quot;top&quot;:0.847000002861023},&quot;type&quot;:0}],&quot;type&quot;:0}"/>
  <p:tag name="KSO_WM_SLIDE_BACKGROUND" val="[&quot;general&quot;]"/>
  <p:tag name="KSO_WM_SLIDE_RATIO" val="1.777778"/>
  <p:tag name="KSO_WM_SLIDE_CAN_ADD_NAVIGATION" val="1"/>
  <p:tag name="KSO_WM_SLIDE_ID" val="diagram20229659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64*396"/>
  <p:tag name="KSO_WM_SLIDE_POSITION" val="48*48"/>
  <p:tag name="KSO_WM_TAG_VERSION" val="1.0"/>
  <p:tag name="KSO_WM_SLIDE_LAYOUT" val="a_d"/>
  <p:tag name="KSO_WM_SLIDE_LAYOUT_CNT" val="1_1"/>
  <p:tag name="KSO_WM_CHIP_FILLPROP" val="[[{&quot;text_align&quot;:&quot;lt&quot;,&quot;text_direction&quot;:&quot;horizontal&quot;,&quot;support_big_font&quot;:false,&quot;picture_toward&quot;:0,&quot;picture_dockside&quot;:[],&quot;fill_id&quot;:&quot;fbc1d1c81b9c4bca8f09873cfc4ac6db&quot;,&quot;fill_align&quot;:&quot;lt&quot;,&quot;chip_types&quot;:[&quot;header&quot;]},{&quot;text_align&quot;:&quot;lt&quot;,&quot;text_direction&quot;:&quot;horizontal&quot;,&quot;support_big_font&quot;:false,&quot;picture_toward&quot;:0,&quot;picture_dockside&quot;:[],&quot;fill_id&quot;:&quot;736496b0653343f1bfd4c6dc9c47e1b4&quot;,&quot;fill_align&quot;:&quot;lt&quot;,&quot;chip_types&quot;:[&quot;text&quot;]}],[{&quot;text_align&quot;:&quot;lt&quot;,&quot;text_direction&quot;:&quot;horizontal&quot;,&quot;support_big_font&quot;:false,&quot;picture_toward&quot;:0,&quot;picture_dockside&quot;:[],&quot;fill_id&quot;:&quot;fbc1d1c81b9c4bca8f09873cfc4ac6db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736496b0653343f1bfd4c6dc9c47e1b4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false,&quot;picture_toward&quot;:0,&quot;picture_dockside&quot;:[],&quot;fill_id&quot;:&quot;fbc1d1c81b9c4bca8f09873cfc4ac6db&quot;,&quot;fill_align&quot;:&quot;cm&quot;,&quot;chip_types&quot;:[&quot;text&quot;,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736496b0653343f1bfd4c6dc9c47e1b4&quot;,&quot;fill_align&quot;:&quot;cm&quot;,&quot;chip_types&quot;:[&quot;picture&quot;]}],[{&quot;text_align&quot;:&quot;lm&quot;,&quot;text_direction&quot;:&quot;horizontal&quot;,&quot;support_big_font&quot;:false,&quot;picture_toward&quot;:0,&quot;picture_dockside&quot;:[],&quot;fill_id&quot;:&quot;fbc1d1c81b9c4bca8f09873cfc4ac6db&quot;,&quot;fill_align&quot;:&quot;lm&quot;,&quot;chip_types&quot;:[&quot;text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736496b0653343f1bfd4c6dc9c47e1b4&quot;,&quot;fill_align&quot;:&quot;cm&quot;,&quot;chip_types&quot;:[&quot;picture&quot;]}],[{&quot;text_align&quot;:&quot;lm&quot;,&quot;text_direction&quot;:&quot;horizontal&quot;,&quot;support_big_font&quot;:false,&quot;picture_toward&quot;:0,&quot;picture_dockside&quot;:[],&quot;fill_id&quot;:&quot;fbc1d1c81b9c4bca8f09873cfc4ac6db&quot;,&quot;fill_align&quot;:&quot;lm&quot;,&quot;chip_types&quot;:[&quot;text&quot;,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736496b0653343f1bfd4c6dc9c47e1b4&quot;,&quot;fill_align&quot;:&quot;cm&quot;,&quot;chip_types&quot;:[&quot;diagram&quot;,&quot;text&quot;,&quot;picture&quot;,&quot;chart&quot;,&quot;table&quot;,&quot;video&quot;]}]]"/>
  <p:tag name="KSO_WM_CHIP_GROUPID" val="5f5ee1ca4d6848d78f644aec"/>
  <p:tag name="KSO_WM_CHIP_XID" val="5f696419553136823a5e6172"/>
  <p:tag name="FIXED_XID_TMP" val="5f5ee1ca4d6848d78f644aec"/>
  <p:tag name="KSO_WM_CHIP_DECFILLPROP" val="[]"/>
  <p:tag name="KSO_WM_SLIDE_BK_DARK_LIGHT" val="2"/>
  <p:tag name="KSO_WM_SLIDE_BACKGROUND_TYPE" val="general"/>
  <p:tag name="KSO_WM_SLIDE_SUPPORT_FEATURE_TYPE" val="3"/>
  <p:tag name="KSO_WM_TEMPLATE_ASSEMBLE_XID" val="639aeb060c9383becde692eb"/>
  <p:tag name="KSO_WM_TEMPLATE_ASSEMBLE_GROUPID" val="639aeb060c9383becde692eb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9461_2*l_h_i*1_1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19461_2*l_h_i*1_1_2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19461_2*l_h_i*1_1_3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80"/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9461_2*l_h_f*1_1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UNIT_PRESET_TEXT" val="在此输入标题"/>
  <p:tag name="KSO_WM_CHIP_GROUPID" val="60bed5804737e0f4c1ebe8c0"/>
  <p:tag name="KSO_WM_CHIP_XID" val="60bed5804737e0f4c1ebe8c1"/>
  <p:tag name="KSO_WM_ASSEMBLE_CHIP_INDEX" val="abe4b074c95d40e582b2d689187edf13"/>
  <p:tag name="KSO_WM_UNIT_VALUE" val="6"/>
  <p:tag name="KSO_WM_UNIT_TEXT_FILL_FORE_SCHEMECOLOR_INDEX_BRIGHTNESS" val="-0.5"/>
  <p:tag name="KSO_WM_UNIT_TEXT_FILL_FORE_SCHEMECOLOR_INDEX" val="5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9461_2*l_h_i*1_2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9461_2*l_h_i*1_2_2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19461_2*l_h_i*1_2_3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80"/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9461_2*l_h_f*1_2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UNIT_PRESET_TEXT" val="在此输入标题"/>
  <p:tag name="KSO_WM_CHIP_GROUPID" val="60bed5804737e0f4c1ebe8c0"/>
  <p:tag name="KSO_WM_CHIP_XID" val="60bed5804737e0f4c1ebe8c1"/>
  <p:tag name="KSO_WM_ASSEMBLE_CHIP_INDEX" val="abe4b074c95d40e582b2d689187edf13"/>
  <p:tag name="KSO_WM_UNIT_VALUE" val="6"/>
  <p:tag name="KSO_WM_UNIT_TEXT_FILL_FORE_SCHEMECOLOR_INDEX_BRIGHTNESS" val="-0.5"/>
  <p:tag name="KSO_WM_UNIT_TEXT_FILL_FORE_SCHEMECOLOR_INDEX" val="7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9461_2*l_h_i*1_3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19461_2*l_h_i*1_3_2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56"/>
  <p:tag name="KSO_WM_UNIT_FILL_FORE_SCHEMECOLOR_INDEX_BRIGHTNESS" val="0.8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19461_2*l_h_i*1_3_3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CHIP_GROUPID" val="60bed5804737e0f4c1ebe8c0"/>
  <p:tag name="KSO_WM_CHIP_XID" val="60bed5804737e0f4c1ebe8c1"/>
  <p:tag name="KSO_WM_ASSEMBLE_CHIP_INDEX" val="abe4b074c95d40e582b2d689187edf13"/>
  <p:tag name="KSO_WM_UNIT_VALUE" val="80"/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9461_2*l_h_f*1_3_1"/>
  <p:tag name="KSO_WM_TEMPLATE_CATEGORY" val="diagram"/>
  <p:tag name="KSO_WM_TEMPLATE_INDEX" val="20219461"/>
  <p:tag name="KSO_WM_UNIT_LAYERLEVEL" val="1_1_1"/>
  <p:tag name="KSO_WM_TAG_VERSION" val="1.0"/>
  <p:tag name="KSO_WM_BEAUTIFY_FLAG" val="#wm#"/>
  <p:tag name="KSO_WM_UNIT_PRESET_TEXT" val="在此输入标题"/>
  <p:tag name="KSO_WM_CHIP_GROUPID" val="60bed5804737e0f4c1ebe8c0"/>
  <p:tag name="KSO_WM_CHIP_XID" val="60bed5804737e0f4c1ebe8c1"/>
  <p:tag name="KSO_WM_ASSEMBLE_CHIP_INDEX" val="abe4b074c95d40e582b2d689187edf13"/>
  <p:tag name="KSO_WM_UNIT_VALUE" val="6"/>
  <p:tag name="KSO_WM_UNIT_TEXT_FILL_FORE_SCHEMECOLOR_INDEX_BRIGHTNESS" val="-0.5"/>
  <p:tag name="KSO_WM_UNIT_TEXT_FILL_FORE_SCHEMECOLOR_INDEX" val="9"/>
  <p:tag name="KSO_WM_UNIT_TEXT_FILL_TYPE" val="1"/>
  <p:tag name="KSO_WM_UNIT_USESOURCEFORMAT_APPLY" val="1"/>
  <p:tag name="KSO_WM_DIAGRAM_VIRTUALLY_FRAME" val="{&quot;height&quot;:268.07236220472447,&quot;left&quot;:49.8551968503937,&quot;top&quot;:147.96346456692913,&quot;width&quot;:863.9888976377954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9*527"/>
  <p:tag name="TABLE_ENDDRAG_RECT" val="421*5*319*527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807086614173,&quot;left&quot;:98.2883464566929,&quot;top&quot;:223.15929133858268,&quot;width&quot;:762.9848031496063}"/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5899AB"/>
            </a:gs>
            <a:gs pos="100000">
              <a:srgbClr val="83BDC9"/>
            </a:gs>
          </a:gsLst>
          <a:lin ang="2700000" scaled="0"/>
          <a:tileRect/>
        </a:gradFill>
        <a:ln>
          <a:noFill/>
        </a:ln>
      </a:spPr>
      <a:bodyPr rtlCol="0" anchor="ctr"/>
      <a:lstStyle>
        <a:defPPr algn="ctr">
          <a:defRPr sz="2400" dirty="0">
            <a:solidFill>
              <a:schemeClr val="bg1"/>
            </a:solidFill>
            <a:latin typeface="思源黑体 Bold" panose="020B0800000000000000" pitchFamily="34" charset="-122"/>
            <a:ea typeface="思源黑体 Bold" panose="020B0800000000000000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1844</Words>
  <Application>Microsoft Macintosh PowerPoint</Application>
  <PresentationFormat>宽屏</PresentationFormat>
  <Paragraphs>243</Paragraphs>
  <Slides>34</Slides>
  <Notes>32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等线</vt:lpstr>
      <vt:lpstr>汉仪文黑</vt:lpstr>
      <vt:lpstr>KaiTi</vt:lpstr>
      <vt:lpstr>思源黑体 Bold</vt:lpstr>
      <vt:lpstr>宋体</vt:lpstr>
      <vt:lpstr>微软雅黑</vt:lpstr>
      <vt:lpstr>Arial</vt:lpstr>
      <vt:lpstr>Calibri</vt:lpstr>
      <vt:lpstr>Calibri Light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Bing-</dc:creator>
  <cp:keywords/>
  <dc:description/>
  <cp:lastModifiedBy>Mohan Lei</cp:lastModifiedBy>
  <cp:revision>94</cp:revision>
  <dcterms:created xsi:type="dcterms:W3CDTF">2025-04-07T17:31:19Z</dcterms:created>
  <dcterms:modified xsi:type="dcterms:W3CDTF">2025-04-08T00:05:29Z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06F506319D562CAE13DEF3670EBAE349_43</vt:lpwstr>
  </property>
  <property fmtid="{D5CDD505-2E9C-101B-9397-08002B2CF9AE}" pid="3" name="KSOProductBuildVer">
    <vt:lpwstr>2052-6.11.0.8885</vt:lpwstr>
  </property>
</Properties>
</file>